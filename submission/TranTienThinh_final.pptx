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15828694a74bf0" /><Relationship Type="http://schemas.openxmlformats.org/officeDocument/2006/relationships/extended-properties" Target="/docProps/app.xml" Id="Rc33343b3d2534776" /><Relationship Type="http://schemas.openxmlformats.org/officeDocument/2006/relationships/officeDocument" Target="/ppt/presentation.xml" Id="R72fb7a3746004016" /></Relationships>
</file>

<file path=ppt/presentation.xml><?xml version="1.0" encoding="utf-8"?>
<p:presentation xmlns:p="http://schemas.openxmlformats.org/presentationml/2006/main">
  <p:sldMasterIdLst>
    <p:sldMasterId xmlns:r="http://schemas.openxmlformats.org/officeDocument/2006/relationships" id="2147483648" r:id="R9995026168404779"/>
  </p:sldMasterIdLst>
  <p:notesMasterIdLst>
    <p:notesMasterId xmlns:r="http://schemas.openxmlformats.org/officeDocument/2006/relationships" r:id="R3cab22076bf04409"/>
  </p:notesMasterIdLst>
  <p:sldIdLst>
    <p:sldId xmlns:r="http://schemas.openxmlformats.org/officeDocument/2006/relationships" id="256" r:id="Rae1eb953b7d34971"/>
    <p:sldId xmlns:r="http://schemas.openxmlformats.org/officeDocument/2006/relationships" id="257" r:id="Rc67560e11bb24b17"/>
    <p:sldId xmlns:r="http://schemas.openxmlformats.org/officeDocument/2006/relationships" id="258" r:id="R5b80e393f15542a4"/>
    <p:sldId xmlns:r="http://schemas.openxmlformats.org/officeDocument/2006/relationships" id="259" r:id="Rc010486712ff4f10"/>
    <p:sldId xmlns:r="http://schemas.openxmlformats.org/officeDocument/2006/relationships" id="260" r:id="R501c28d2389a42b2"/>
    <p:sldId xmlns:r="http://schemas.openxmlformats.org/officeDocument/2006/relationships" id="261" r:id="R7b23397a65124a05"/>
    <p:sldId xmlns:r="http://schemas.openxmlformats.org/officeDocument/2006/relationships" id="262" r:id="R9b31210cc9824bb2"/>
    <p:sldId xmlns:r="http://schemas.openxmlformats.org/officeDocument/2006/relationships" id="263" r:id="R99f28245ad3e4bc1"/>
    <p:sldId xmlns:r="http://schemas.openxmlformats.org/officeDocument/2006/relationships" id="264" r:id="R3323254c909f43d5"/>
    <p:sldId xmlns:r="http://schemas.openxmlformats.org/officeDocument/2006/relationships" id="265" r:id="Rd7bf4bedcf164835"/>
    <p:sldId xmlns:r="http://schemas.openxmlformats.org/officeDocument/2006/relationships" id="266" r:id="R6dfd1142a8054d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35c9e7b5b24c88" /><Relationship Type="http://schemas.openxmlformats.org/officeDocument/2006/relationships/slideMaster" Target="/ppt/slideMasters/slideMaster1.xml" Id="R9995026168404779" /><Relationship Type="http://schemas.openxmlformats.org/officeDocument/2006/relationships/notesMaster" Target="/ppt/notesMasters/notesMaster1.xml" Id="R3cab22076bf04409" /><Relationship Type="http://schemas.openxmlformats.org/officeDocument/2006/relationships/presProps" Target="/ppt/presProps.xml" Id="R91e795108ffa4d80" /><Relationship Type="http://schemas.openxmlformats.org/officeDocument/2006/relationships/tableStyles" Target="/ppt/tableStyles.xml" Id="Re5cf63d075084d5d" /><Relationship Type="http://schemas.openxmlformats.org/officeDocument/2006/relationships/slide" Target="/ppt/slides/slide1.xml" Id="Rae1eb953b7d34971" /><Relationship Type="http://schemas.openxmlformats.org/officeDocument/2006/relationships/slide" Target="/ppt/slides/slide2.xml" Id="Rc67560e11bb24b17" /><Relationship Type="http://schemas.openxmlformats.org/officeDocument/2006/relationships/slide" Target="/ppt/slides/slide3.xml" Id="R5b80e393f15542a4" /><Relationship Type="http://schemas.openxmlformats.org/officeDocument/2006/relationships/slide" Target="/ppt/slides/slide4.xml" Id="Rc010486712ff4f10" /><Relationship Type="http://schemas.openxmlformats.org/officeDocument/2006/relationships/slide" Target="/ppt/slides/slide5.xml" Id="R501c28d2389a42b2" /><Relationship Type="http://schemas.openxmlformats.org/officeDocument/2006/relationships/slide" Target="/ppt/slides/slide6.xml" Id="R7b23397a65124a05" /><Relationship Type="http://schemas.openxmlformats.org/officeDocument/2006/relationships/slide" Target="/ppt/slides/slide7.xml" Id="R9b31210cc9824bb2" /><Relationship Type="http://schemas.openxmlformats.org/officeDocument/2006/relationships/slide" Target="/ppt/slides/slide8.xml" Id="R99f28245ad3e4bc1" /><Relationship Type="http://schemas.openxmlformats.org/officeDocument/2006/relationships/slide" Target="/ppt/slides/slide9.xml" Id="R3323254c909f43d5" /><Relationship Type="http://schemas.openxmlformats.org/officeDocument/2006/relationships/slide" Target="/ppt/slides/slide10.xml" Id="Rd7bf4bedcf164835" /><Relationship Type="http://schemas.openxmlformats.org/officeDocument/2006/relationships/slide" Target="/ppt/slides/slide11.xml" Id="R6dfd1142a8054d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b2e102f2f941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e58be2304848c0" /><Relationship Type="http://schemas.openxmlformats.org/officeDocument/2006/relationships/notesMaster" Target="/ppt/notesMasters/notesMaster1.xml" Id="Ra5fa4fcf18c648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f7c72d830f4b47" /><Relationship Type="http://schemas.openxmlformats.org/officeDocument/2006/relationships/notesMaster" Target="/ppt/notesMasters/notesMaster1.xml" Id="R56192500db4040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a3ba5dfe964a05" /><Relationship Type="http://schemas.openxmlformats.org/officeDocument/2006/relationships/notesMaster" Target="/ppt/notesMasters/notesMaster1.xml" Id="R7dc3b3af7d5d43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de0bfbe19043b1" /><Relationship Type="http://schemas.openxmlformats.org/officeDocument/2006/relationships/notesMaster" Target="/ppt/notesMasters/notesMaster1.xml" Id="Ra271f0a17bd84b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7d998e1d8846e3" /><Relationship Type="http://schemas.openxmlformats.org/officeDocument/2006/relationships/notesMaster" Target="/ppt/notesMasters/notesMaster1.xml" Id="R03639b6d5f0440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e468fcdada480c" /><Relationship Type="http://schemas.openxmlformats.org/officeDocument/2006/relationships/notesMaster" Target="/ppt/notesMasters/notesMaster1.xml" Id="R133e95e2b6b04b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eb2de253294cff" /><Relationship Type="http://schemas.openxmlformats.org/officeDocument/2006/relationships/notesMaster" Target="/ppt/notesMasters/notesMaster1.xml" Id="Rfc53a7587b274b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5af26de3a64029" /><Relationship Type="http://schemas.openxmlformats.org/officeDocument/2006/relationships/notesMaster" Target="/ppt/notesMasters/notesMaster1.xml" Id="Rfa55727ca86a48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a72fe9f6a84b4c" /><Relationship Type="http://schemas.openxmlformats.org/officeDocument/2006/relationships/notesMaster" Target="/ppt/notesMasters/notesMaster1.xml" Id="R68e407ed84d047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2c11ba624343d1" /><Relationship Type="http://schemas.openxmlformats.org/officeDocument/2006/relationships/notesMaster" Target="/ppt/notesMasters/notesMaster1.xml" Id="R1da4ed11be1a47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6f33a8901049a3" /><Relationship Type="http://schemas.openxmlformats.org/officeDocument/2006/relationships/notesMaster" Target="/ppt/notesMasters/notesMaster1.xml" Id="R5eaafefa100c4e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đề tài Đ18 ước lượng nhịp tim chỉ từ BVP cổ tay. ECG ngực chỉ tạo nhãn tham chiếu. Nêu ngay kết quả chính nhưng nhấn đây không phải chỉ số lâm sàng. Nguồn: outputs/runs/A0_summary.json; outputs/baselines/baseline_metrics.json.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ranh giới: mô hình chỉ nhận BVP. ECG, mã người và nhãn condition không vào tensor. Split được khóa theo người; validation chọn checkpoint, test chỉ đánh giá cuối. Nguồn: configs/final.yaml; data/processed/wesad_d18_v2/preprocessing_summary.json.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Tóm tắt pipeline v2. Phân biệt loại do phạm vi điều kiện với loại do chất lượng. Bộ QC trực quan có 5 cửa sổ cho mỗi người/điều kiện, tổng 225. Nguồn: data/processed/wesad_d18_v2/preprocessing_summary.json; outputs/audit/qc_audit_summary.json.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Kiến trúc đúng bảng đặc tả: Conv1/2/3, AdaptiveAvgPool1d và head 64→32→1. Với BatchNorm có 11.153 tham số. A0 là E2 chính; A1 và A3 chỉ đổi một yếu tố. Nguồn: src/model.py; configs/final.yaml; outputs/audit/smoke_test.json.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cách ngăn leakage: early stopping và checkpoint chỉ nhìn validation. Test được mở sau khi protocol khóa. Metric chính là MAE_macro theo người. Nguồn: configs/final.yaml; src/train.py.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E0 là median train, E1 là FFT. A0 đạt mục tiêu giảm tương đối nhưng không đạt 7 BPM. A3 dùng MSE cho kết quả tốt nhất trong các cấu hình đã chạy; báo cáo đúng thực nghiệm, không đổi tên mô hình chính sau test. Nguồn: outputs/tables/overall_results_v2.csv; outputs/runs/A0_summary.json; outputs/runs/A3_summary.json.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giá trị là trung bình A0 qua ba seed. S16 khó nhất; Stress chi phối lỗi. Tuy nhiên condition đồng biến với HR, vận động và subject nên không kết luận nhân quả. Nguồn: outputs/runs/A0_summary.json; outputs/figures/error_by_subject_condition.png.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Hình scatter dùng seed 42 cố định. Ca lỗi lớn nhất được chọn trên validation: S11, Stress, HR tham chiếu 132,6 nhưng CNN 65,2. ECG và R-peaks được đưa vào hình để kiểm tra nhãn, không phải đầu vào mô hình. Nguồn: outputs/audit/failure_case_selection.json; outputs/figures/scatter_identity.png; outputs/figures/failure_case_validation_fixed.png.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cho thấy bỏ z-score làm xấu kết quả. A3 bất ngờ tốt hơn A0. A2 chưa chạy vì ưu tiên sản phẩm bắt buộc; không trình bày như đã hoàn thành. Nguồn: outputs/runs/A0_summary.json; A1_summary.json; A3_summary.json; outputs/figures/learning_curves_v2.png.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Network inference dưới 1 ms trên CPU, nhưng cửa sổ phải tích lũy 8 giây và lọc hiện tại là sosfiltfilt toàn bản ghi. Vì vậy không tuyên bố end-to-end streaming dưới 1 ms hay MCU-ready. Nguồn: outputs/benchmark_cpu.json.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ngắn gọn: mục tiêu tương đối đạt, mục tiêu tuyệt đối chưa đạt. Giá trị chính là pipeline minh bạch và tái lập. Nêu hướng tiếp theo và repository public đã xác minh. Không tự nộp LMS. Nguồn: toàn bộ artifact protocol v2 trong dự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42c28a06e54f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c8610b222f4bc2" /><Relationship Type="http://schemas.openxmlformats.org/officeDocument/2006/relationships/slideLayout" Target="/ppt/slideLayouts/slideLayout1.xml" Id="R52f296b90dec4f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f296b90dec4f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be3dd16f5744fc" /><Relationship Type="http://schemas.openxmlformats.org/officeDocument/2006/relationships/image" Target="/ppt/media/image.png" Id="R5b9b69101fdd44a3" /><Relationship Type="http://schemas.openxmlformats.org/officeDocument/2006/relationships/notesSlide" Target="/ppt/notesSlides/notesSlide1.xml" Id="Re5fdbb488bfe49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bd9d9e098e47df" /><Relationship Type="http://schemas.openxmlformats.org/officeDocument/2006/relationships/notesSlide" Target="/ppt/notesSlides/notesSlide2.xml" Id="R755ba9438fdb4d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372a39f719430a" /><Relationship Type="http://schemas.openxmlformats.org/officeDocument/2006/relationships/notesSlide" Target="/ppt/notesSlides/notesSlide3.xml" Id="R0f23315470d74b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1580d993ce4dc7" /><Relationship Type="http://schemas.openxmlformats.org/officeDocument/2006/relationships/notesSlide" Target="/ppt/notesSlides/notesSlide4.xml" Id="R178c2c54909947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8125f534544d5b" /><Relationship Type="http://schemas.openxmlformats.org/officeDocument/2006/relationships/notesSlide" Target="/ppt/notesSlides/notesSlide5.xml" Id="R2702aa2cc49b47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875dff78ce458b" /><Relationship Type="http://schemas.openxmlformats.org/officeDocument/2006/relationships/chart" Target="/ppt/slides/charts/chart1.xml" Id="Rd17be0c04ab44701" /><Relationship Type="http://schemas.openxmlformats.org/officeDocument/2006/relationships/notesSlide" Target="/ppt/notesSlides/notesSlide6.xml" Id="R5326dd9e7dcd44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55e043f0504485" /><Relationship Type="http://schemas.openxmlformats.org/officeDocument/2006/relationships/chart" Target="/ppt/slides/charts/chart2.xml" Id="Rfdb760b013b848df" /><Relationship Type="http://schemas.openxmlformats.org/officeDocument/2006/relationships/chart" Target="/ppt/slides/charts/chart3.xml" Id="R4027a014feaf442f" /><Relationship Type="http://schemas.openxmlformats.org/officeDocument/2006/relationships/notesSlide" Target="/ppt/notesSlides/notesSlide7.xml" Id="Rb2931c0d2b6d41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bae5158b1d437f" /><Relationship Type="http://schemas.openxmlformats.org/officeDocument/2006/relationships/image" Target="/ppt/media/image2.png" Id="R44212a8cd8064057" /><Relationship Type="http://schemas.openxmlformats.org/officeDocument/2006/relationships/image" Target="/ppt/media/image3.png" Id="R61103316051b4b01" /><Relationship Type="http://schemas.openxmlformats.org/officeDocument/2006/relationships/notesSlide" Target="/ppt/notesSlides/notesSlide8.xml" Id="R670ba81bbb8147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fa9e65914541d7" /><Relationship Type="http://schemas.openxmlformats.org/officeDocument/2006/relationships/image" Target="/ppt/media/image4.png" Id="Rb5f217378a0c4432" /><Relationship Type="http://schemas.openxmlformats.org/officeDocument/2006/relationships/notesSlide" Target="/ppt/notesSlides/notesSlide9.xml" Id="Rba3caf6db4c240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45930214c949eb" /><Relationship Type="http://schemas.openxmlformats.org/officeDocument/2006/relationships/chart" Target="/ppt/slides/charts/chart4.xml" Id="Rf21446ec323b4ad1" /><Relationship Type="http://schemas.openxmlformats.org/officeDocument/2006/relationships/notesSlide" Target="/ppt/notesSlides/notesSlide10.xml" Id="R016de48d91184b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80165b2af0c4814" /><Relationship Type="http://schemas.openxmlformats.org/officeDocument/2006/relationships/notesSlide" Target="/ppt/notesSlides/notesSlide11.xml" Id="Rfc4b97600f7145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MAE_macro (BPM)</c:v>
          </c:tx>
          <c:spPr>
            <a:solidFill xmlns:a="http://schemas.openxmlformats.org/drawingml/2006/main">
              <a:srgbClr val="1769AA"/>
            </a:solidFill>
          </c:spPr>
          <c:cat>
            <c:strRef>
              <c:f>'Chart Data'!$A$2:$A$6</c:f>
              <c:strCache>
                <c:ptCount val="5"/>
                <c:pt idx="0">
                  <c:v>E0</c:v>
                </c:pt>
                <c:pt idx="1">
                  <c:v>E1</c:v>
                </c:pt>
                <c:pt idx="2">
                  <c:v>A0</c:v>
                </c:pt>
                <c:pt idx="3">
                  <c:v>A1</c:v>
                </c:pt>
                <c:pt idx="4">
                  <c:v>A3</c:v>
                </c:pt>
              </c:strCache>
            </c:strRef>
          </c:cat>
          <c:val>
            <c:numRef>
              <c:f>'Chart Data'!$B$2:$B$6</c:f>
              <c:numCache>
                <c:formatCode>General</c:formatCode>
                <c:ptCount val="5"/>
                <c:pt idx="0">
                  <c:v>17.768</c:v>
                </c:pt>
                <c:pt idx="1">
                  <c:v>13.637</c:v>
                </c:pt>
                <c:pt idx="2">
                  <c:v>8.867</c:v>
                </c:pt>
                <c:pt idx="3">
                  <c:v>9.139</c:v>
                </c:pt>
                <c:pt idx="4">
                  <c:v>8.28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1769AA"/>
            </a:solidFill>
          </c:spPr>
          <c:cat>
            <c:strRef>
              <c:f>'Chart Data'!$A$2:$A$5</c:f>
              <c:strCache>
                <c:ptCount val="4"/>
                <c:pt idx="0">
                  <c:v>S14</c:v>
                </c:pt>
                <c:pt idx="1">
                  <c:v>S15</c:v>
                </c:pt>
                <c:pt idx="2">
                  <c:v>S16</c:v>
                </c:pt>
                <c:pt idx="3">
                  <c:v>S17</c:v>
                </c:pt>
              </c:strCache>
            </c:strRef>
          </c:cat>
          <c:val>
            <c:numRef>
              <c:f>'Chart Data'!$B$2:$B$5</c:f>
              <c:numCache>
                <c:formatCode>General</c:formatCode>
                <c:ptCount val="4"/>
                <c:pt idx="0">
                  <c:v>9.406</c:v>
                </c:pt>
                <c:pt idx="1">
                  <c:v>3.855</c:v>
                </c:pt>
                <c:pt idx="2">
                  <c:v>12.498</c:v>
                </c:pt>
                <c:pt idx="3">
                  <c:v>9.708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MAE_macro</c:v>
          </c:tx>
          <c:spPr>
            <a:solidFill xmlns:a="http://schemas.openxmlformats.org/drawingml/2006/main">
              <a:srgbClr val="F28E2B"/>
            </a:solidFill>
          </c:spPr>
          <c:cat>
            <c:strRef>
              <c:f>'Chart Data'!$A$2:$A$4</c:f>
              <c:strCache>
                <c:ptCount val="3"/>
                <c:pt idx="0">
                  <c:v>Amusement</c:v>
                </c:pt>
                <c:pt idx="1">
                  <c:v>Baseline</c:v>
                </c:pt>
                <c:pt idx="2">
                  <c:v>Stress</c:v>
                </c:pt>
              </c:strCache>
            </c:strRef>
          </c:cat>
          <c:val>
            <c:numRef>
              <c:f>'Chart Data'!$B$2:$B$4</c:f>
              <c:numCache>
                <c:formatCode>General</c:formatCode>
                <c:ptCount val="3"/>
                <c:pt idx="0">
                  <c:v>3.461</c:v>
                </c:pt>
                <c:pt idx="1">
                  <c:v>4.167</c:v>
                </c:pt>
                <c:pt idx="2">
                  <c:v>19.869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1769AA"/>
            </a:solidFill>
          </c:spPr>
          <c:cat>
            <c:strRef>
              <c:f>'Chart Data'!$A$2:$A$4</c:f>
              <c:strCache>
                <c:ptCount val="3"/>
                <c:pt idx="0">
                  <c:v>Network median</c:v>
                </c:pt>
                <c:pt idx="1">
                  <c:v>Network P95</c:v>
                </c:pt>
                <c:pt idx="2">
                  <c:v>E2E median*</c:v>
                </c:pt>
              </c:strCache>
            </c:strRef>
          </c:cat>
          <c:val>
            <c:numRef>
              <c:f>'Chart Data'!$B$2:$B$4</c:f>
              <c:numCache>
                <c:formatCode>General</c:formatCode>
                <c:ptCount val="3"/>
                <c:pt idx="0">
                  <c:v>282.9</c:v>
                </c:pt>
                <c:pt idx="1">
                  <c:v>326</c:v>
                </c:pt>
                <c:pt idx="2">
                  <c:v>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3A5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3E5098-B359-4F0F-9671-18572492B7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32F2F"/>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b9b69101fdd44a3"/>
          <a:stretch xmlns:a="http://schemas.openxmlformats.org/drawingml/2006/main"/>
        </p:blipFill>
        <p:spPr>
          <a:xfrm xmlns:a="http://schemas.openxmlformats.org/drawingml/2006/main">
            <a:off x="895350" y="680594"/>
            <a:ext cx="1095375" cy="140106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0BAAFD-3F0B-40CD-B1D7-194CF932394D}"/>
              </a:ext>
            </a:extLst>
          </p:cNvPr>
          <p:cNvSpPr>
            <a:spLocks xmlns:a="http://schemas.openxmlformats.org/drawingml/2006/main" noGrp="1"/>
          </p:cNvSpPr>
          <p:nvPr/>
        </p:nvSpPr>
        <p:spPr>
          <a:xfrm xmlns:a="http://schemas.openxmlformats.org/drawingml/2006/main">
            <a:off x="2381250" y="723900"/>
            <a:ext cx="847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B9D8EA"/>
                </a:solidFill>
                <a:latin typeface="Arial"/>
                <a:ea typeface="Arial"/>
                <a:cs typeface="Arial"/>
              </a:defRPr>
            </a:pPr>
            <a:r>
              <a:rPr sz="1650" b="1">
                <a:solidFill>
                  <a:srgbClr val="B9D8EA"/>
                </a:solidFill>
                <a:latin typeface="Arial"/>
                <a:ea typeface="Arial"/>
                <a:cs typeface="Arial"/>
              </a:rPr>
              <a:t>BÁO CÁO CUỐI KỲ</a:t>
            </a:r>
          </a:p>
        </p:txBody>
      </p:sp>
      <p:sp>
        <p:nvSpPr>
          <p:cNvPr id="4" name="">
            <a:extLst xmlns:a="http://schemas.openxmlformats.org/drawingml/2006/main">
              <a:ext uri="{FF2B5EF4-FFF2-40B4-BE49-F238E27FC236}">
                <a16:creationId xmlns:a16="http://schemas.microsoft.com/office/drawing/2014/main" id="{99B6C2E6-E3FD-4BCA-B6C0-AD1E13C390A8}"/>
              </a:ext>
            </a:extLst>
          </p:cNvPr>
          <p:cNvSpPr>
            <a:spLocks xmlns:a="http://schemas.openxmlformats.org/drawingml/2006/main" noGrp="1"/>
          </p:cNvSpPr>
          <p:nvPr/>
        </p:nvSpPr>
        <p:spPr>
          <a:xfrm xmlns:a="http://schemas.openxmlformats.org/drawingml/2006/main">
            <a:off x="2381250" y="1257300"/>
            <a:ext cx="876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ƯỚC LƯỢNG NHỊP TIM</a:t>
            </a:r>
          </a:p>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TỪ BVP CỔ TAY</a:t>
            </a:r>
          </a:p>
        </p:txBody>
      </p:sp>
      <p:sp>
        <p:nvSpPr>
          <p:cNvPr id="5" name="">
            <a:extLst xmlns:a="http://schemas.openxmlformats.org/drawingml/2006/main">
              <a:ext uri="{FF2B5EF4-FFF2-40B4-BE49-F238E27FC236}">
                <a16:creationId xmlns:a16="http://schemas.microsoft.com/office/drawing/2014/main" id="{244A62B1-F63A-4ED3-8772-B84CAD0A8ADD}"/>
              </a:ext>
            </a:extLst>
          </p:cNvPr>
          <p:cNvSpPr>
            <a:spLocks xmlns:a="http://schemas.openxmlformats.org/drawingml/2006/main" noGrp="1"/>
          </p:cNvSpPr>
          <p:nvPr/>
        </p:nvSpPr>
        <p:spPr>
          <a:xfrm xmlns:a="http://schemas.openxmlformats.org/drawingml/2006/main">
            <a:off x="2428875" y="278130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D9EAF4"/>
                </a:solidFill>
                <a:latin typeface="Arial"/>
                <a:ea typeface="Arial"/>
                <a:cs typeface="Arial"/>
              </a:defRPr>
            </a:pPr>
            <a:r>
              <a:rPr sz="1725" b="0">
                <a:solidFill>
                  <a:srgbClr val="D9EAF4"/>
                </a:solidFill>
                <a:latin typeface="Arial"/>
                <a:ea typeface="Arial"/>
                <a:cs typeface="Arial"/>
              </a:rPr>
              <a:t>WESAD • CNN 1-D • tham chiếu ECG ngực</a:t>
            </a:r>
          </a:p>
        </p:txBody>
      </p:sp>
      <p:sp>
        <p:nvSpPr>
          <p:cNvPr id="6" name="">
            <a:extLst xmlns:a="http://schemas.openxmlformats.org/drawingml/2006/main">
              <a:ext uri="{FF2B5EF4-FFF2-40B4-BE49-F238E27FC236}">
                <a16:creationId xmlns:a16="http://schemas.microsoft.com/office/drawing/2014/main" id="{7619B7CF-F4FB-48A9-A247-4FC5A29D030A}"/>
              </a:ext>
            </a:extLst>
          </p:cNvPr>
          <p:cNvSpPr>
            <a:spLocks xmlns:a="http://schemas.openxmlformats.org/drawingml/2006/main" noGrp="1"/>
          </p:cNvSpPr>
          <p:nvPr/>
        </p:nvSpPr>
        <p:spPr>
          <a:xfrm xmlns:a="http://schemas.openxmlformats.org/drawingml/2006/main">
            <a:off x="2381250" y="3476625"/>
            <a:ext cx="7334250" cy="19050"/>
          </a:xfrm>
          <a:prstGeom xmlns:a="http://schemas.openxmlformats.org/drawingml/2006/main" prst="rect">
            <a:avLst/>
          </a:prstGeom>
          <a:solidFill xmlns:a="http://schemas.openxmlformats.org/drawingml/2006/main">
            <a:srgbClr val="7DA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DFE085-8D9B-45F5-8DD8-8BFBB15E00D4}"/>
              </a:ext>
            </a:extLst>
          </p:cNvPr>
          <p:cNvSpPr>
            <a:spLocks xmlns:a="http://schemas.openxmlformats.org/drawingml/2006/main" noGrp="1"/>
          </p:cNvSpPr>
          <p:nvPr/>
        </p:nvSpPr>
        <p:spPr>
          <a:xfrm xmlns:a="http://schemas.openxmlformats.org/drawingml/2006/main">
            <a:off x="2381250" y="3762375"/>
            <a:ext cx="152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FCE56"/>
                </a:solidFill>
                <a:latin typeface="Arial"/>
                <a:ea typeface="Arial"/>
                <a:cs typeface="Arial"/>
              </a:defRPr>
            </a:pPr>
            <a:r>
              <a:rPr sz="2850" b="1">
                <a:solidFill>
                  <a:srgbClr val="FFCE56"/>
                </a:solidFill>
                <a:latin typeface="Arial"/>
                <a:ea typeface="Arial"/>
                <a:cs typeface="Arial"/>
              </a:rPr>
              <a:t>Đ18</a:t>
            </a:r>
          </a:p>
        </p:txBody>
      </p:sp>
      <p:sp>
        <p:nvSpPr>
          <p:cNvPr id="8" name="">
            <a:extLst xmlns:a="http://schemas.openxmlformats.org/drawingml/2006/main">
              <a:ext uri="{FF2B5EF4-FFF2-40B4-BE49-F238E27FC236}">
                <a16:creationId xmlns:a16="http://schemas.microsoft.com/office/drawing/2014/main" id="{E8DC97EE-5A10-4671-9DBE-7531CB815677}"/>
              </a:ext>
            </a:extLst>
          </p:cNvPr>
          <p:cNvSpPr>
            <a:spLocks xmlns:a="http://schemas.openxmlformats.org/drawingml/2006/main" noGrp="1"/>
          </p:cNvSpPr>
          <p:nvPr/>
        </p:nvSpPr>
        <p:spPr>
          <a:xfrm xmlns:a="http://schemas.openxmlformats.org/drawingml/2006/main">
            <a:off x="4048125" y="37814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Trần Tiến Thịnh  •  MSSV 22110236</a:t>
            </a:r>
          </a:p>
        </p:txBody>
      </p:sp>
      <p:sp>
        <p:nvSpPr>
          <p:cNvPr id="9" name="">
            <a:extLst xmlns:a="http://schemas.openxmlformats.org/drawingml/2006/main">
              <a:ext uri="{FF2B5EF4-FFF2-40B4-BE49-F238E27FC236}">
                <a16:creationId xmlns:a16="http://schemas.microsoft.com/office/drawing/2014/main" id="{4F14284E-32C4-45B3-867B-F039F9B75EC5}"/>
              </a:ext>
            </a:extLst>
          </p:cNvPr>
          <p:cNvSpPr>
            <a:spLocks xmlns:a="http://schemas.openxmlformats.org/drawingml/2006/main" noGrp="1"/>
          </p:cNvSpPr>
          <p:nvPr/>
        </p:nvSpPr>
        <p:spPr>
          <a:xfrm xmlns:a="http://schemas.openxmlformats.org/drawingml/2006/main">
            <a:off x="2381250" y="4724400"/>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D9EAF4"/>
                </a:solidFill>
                <a:latin typeface="Arial"/>
                <a:ea typeface="Arial"/>
                <a:cs typeface="Arial"/>
              </a:defRPr>
            </a:pPr>
            <a:r>
              <a:rPr sz="1350" b="0">
                <a:solidFill>
                  <a:srgbClr val="D9EAF4"/>
                </a:solidFill>
                <a:latin typeface="Arial"/>
                <a:ea typeface="Arial"/>
                <a:cs typeface="Arial"/>
              </a:rPr>
              <a:t>GVHD: ThS. Hồ Nhựt Minh</a:t>
            </a:r>
          </a:p>
          <a:p xmlns:a="http://schemas.openxmlformats.org/drawingml/2006/main">
            <a:pPr algn="l">
              <a:defRPr sz="1350" b="0">
                <a:solidFill>
                  <a:srgbClr val="D9EAF4"/>
                </a:solidFill>
                <a:latin typeface="Arial"/>
                <a:ea typeface="Arial"/>
                <a:cs typeface="Arial"/>
              </a:defRPr>
            </a:pPr>
            <a:r>
              <a:rPr sz="1350" b="0">
                <a:solidFill>
                  <a:srgbClr val="D9EAF4"/>
                </a:solidFill>
                <a:latin typeface="Arial"/>
                <a:ea typeface="Arial"/>
                <a:cs typeface="Arial"/>
              </a:rPr>
              <a:t>Học phần Trí tuệ nhân tạo cho IoT • 2026–2027</a:t>
            </a:r>
          </a:p>
        </p:txBody>
      </p:sp>
      <p:sp>
        <p:nvSpPr>
          <p:cNvPr id="10" name="">
            <a:extLst xmlns:a="http://schemas.openxmlformats.org/drawingml/2006/main">
              <a:ext uri="{FF2B5EF4-FFF2-40B4-BE49-F238E27FC236}">
                <a16:creationId xmlns:a16="http://schemas.microsoft.com/office/drawing/2014/main" id="{53543C96-F89A-49E0-A481-7C14457AE52E}"/>
              </a:ext>
            </a:extLst>
          </p:cNvPr>
          <p:cNvSpPr>
            <a:spLocks xmlns:a="http://schemas.openxmlformats.org/drawingml/2006/main" noGrp="1"/>
          </p:cNvSpPr>
          <p:nvPr/>
        </p:nvSpPr>
        <p:spPr>
          <a:xfrm xmlns:a="http://schemas.openxmlformats.org/drawingml/2006/main">
            <a:off x="2381250" y="5848350"/>
            <a:ext cx="8334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CE56"/>
                </a:solidFill>
                <a:latin typeface="Arial"/>
                <a:ea typeface="Arial"/>
                <a:cs typeface="Arial"/>
              </a:defRPr>
            </a:pPr>
            <a:r>
              <a:rPr sz="1350" b="1">
                <a:solidFill>
                  <a:srgbClr val="FFCE56"/>
                </a:solidFill>
                <a:latin typeface="Arial"/>
                <a:ea typeface="Arial"/>
                <a:cs typeface="Arial"/>
              </a:rPr>
              <a:t>Kết quả chính: A0 8,867 ± 0,253 BPM • giảm 35,0% so với FFT</a:t>
            </a:r>
          </a:p>
        </p:txBody>
      </p:sp>
    </p:spTree>
    <p:extLst>
      <p:ext uri="{BB962C8B-B14F-4D97-AF65-F5344CB8AC3E}">
        <p14:creationId xmlns:p14="http://schemas.microsoft.com/office/powerpoint/2010/main" val="6494192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27DAB30-F5AB-4E64-A8A3-DBFF40133612}"/>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Bài toán và nguyên tắc đánh giá</a:t>
            </a:r>
          </a:p>
        </p:txBody>
      </p:sp>
      <p:sp>
        <p:nvSpPr>
          <p:cNvPr id="2" name="">
            <a:extLst xmlns:a="http://schemas.openxmlformats.org/drawingml/2006/main">
              <a:ext uri="{FF2B5EF4-FFF2-40B4-BE49-F238E27FC236}">
                <a16:creationId xmlns:a16="http://schemas.microsoft.com/office/drawing/2014/main" id="{394C5991-8D98-4A77-A939-9A04D09F9EA4}"/>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3FD646-A2EE-4E25-B6ED-7290C054C2CF}"/>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Không để thông tin test đi ngược vào huấn luyện</a:t>
            </a:r>
          </a:p>
        </p:txBody>
      </p:sp>
      <p:sp>
        <p:nvSpPr>
          <p:cNvPr id="4" name="">
            <a:extLst xmlns:a="http://schemas.openxmlformats.org/drawingml/2006/main">
              <a:ext uri="{FF2B5EF4-FFF2-40B4-BE49-F238E27FC236}">
                <a16:creationId xmlns:a16="http://schemas.microsoft.com/office/drawing/2014/main" id="{F2326272-161A-47D1-9CEE-609942EA8AB7}"/>
              </a:ext>
            </a:extLst>
          </p:cNvPr>
          <p:cNvSpPr>
            <a:spLocks xmlns:a="http://schemas.openxmlformats.org/drawingml/2006/main" noGrp="1"/>
          </p:cNvSpPr>
          <p:nvPr/>
        </p:nvSpPr>
        <p:spPr>
          <a:xfrm xmlns:a="http://schemas.openxmlformats.org/drawingml/2006/main">
            <a:off x="742950" y="14573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69AA"/>
                </a:solidFill>
                <a:latin typeface="Arial"/>
                <a:ea typeface="Arial"/>
                <a:cs typeface="Arial"/>
              </a:defRPr>
            </a:pPr>
            <a:r>
              <a:rPr sz="1350" b="1">
                <a:solidFill>
                  <a:srgbClr val="1769AA"/>
                </a:solidFill>
                <a:latin typeface="Arial"/>
                <a:ea typeface="Arial"/>
                <a:cs typeface="Arial"/>
              </a:rPr>
              <a:t>Đầu vào</a:t>
            </a:r>
          </a:p>
        </p:txBody>
      </p:sp>
      <p:sp>
        <p:nvSpPr>
          <p:cNvPr id="5" name="">
            <a:extLst xmlns:a="http://schemas.openxmlformats.org/drawingml/2006/main">
              <a:ext uri="{FF2B5EF4-FFF2-40B4-BE49-F238E27FC236}">
                <a16:creationId xmlns:a16="http://schemas.microsoft.com/office/drawing/2014/main" id="{2B1E5BB3-941E-4697-8210-7FD41D8FC7EF}"/>
              </a:ext>
            </a:extLst>
          </p:cNvPr>
          <p:cNvSpPr>
            <a:spLocks xmlns:a="http://schemas.openxmlformats.org/drawingml/2006/main" noGrp="1"/>
          </p:cNvSpPr>
          <p:nvPr/>
        </p:nvSpPr>
        <p:spPr>
          <a:xfrm xmlns:a="http://schemas.openxmlformats.org/drawingml/2006/main">
            <a:off x="742950" y="1809750"/>
            <a:ext cx="2286000" cy="1047750"/>
          </a:xfrm>
          <a:prstGeom xmlns:a="http://schemas.openxmlformats.org/drawingml/2006/main" prst="rect">
            <a:avLst/>
          </a:prstGeom>
          <a:solidFill xmlns:a="http://schemas.openxmlformats.org/drawingml/2006/main">
            <a:srgbClr val="1769AA"/>
          </a:solidFill>
          <a:ln xmlns:a="http://schemas.openxmlformats.org/drawingml/2006/main" w="0">
            <a:noFill/>
          </a:ln>
        </p:spPr>
        <p:txBody>
          <a:bodyPr xmlns:a="http://schemas.openxmlformats.org/drawingml/2006/main" anchor="ctr">
            <a:normAutofit fontScale="99603"/>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BVP 8 giây</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256 mẫu @ 32 Hz</a:t>
            </a:r>
          </a:p>
        </p:txBody>
      </p:sp>
      <p:sp>
        <p:nvSpPr>
          <p:cNvPr id="6" name="">
            <a:extLst xmlns:a="http://schemas.openxmlformats.org/drawingml/2006/main">
              <a:ext uri="{FF2B5EF4-FFF2-40B4-BE49-F238E27FC236}">
                <a16:creationId xmlns:a16="http://schemas.microsoft.com/office/drawing/2014/main" id="{E8DBA5AB-238C-4450-9051-77D202D607DC}"/>
              </a:ext>
            </a:extLst>
          </p:cNvPr>
          <p:cNvSpPr>
            <a:spLocks xmlns:a="http://schemas.openxmlformats.org/drawingml/2006/main" noGrp="1"/>
          </p:cNvSpPr>
          <p:nvPr/>
        </p:nvSpPr>
        <p:spPr>
          <a:xfrm xmlns:a="http://schemas.openxmlformats.org/drawingml/2006/main">
            <a:off x="3190875" y="2095500"/>
            <a:ext cx="904875" cy="457200"/>
          </a:xfrm>
          <a:prstGeom xmlns:a="http://schemas.openxmlformats.org/drawingml/2006/main" prst="rightArrow">
            <a:avLst/>
          </a:prstGeom>
          <a:solidFill xmlns:a="http://schemas.openxmlformats.org/drawingml/2006/main">
            <a:srgbClr val="B8CDD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DD30B0B-2883-4BF7-80EF-475AEDF1B276}"/>
              </a:ext>
            </a:extLst>
          </p:cNvPr>
          <p:cNvSpPr>
            <a:spLocks xmlns:a="http://schemas.openxmlformats.org/drawingml/2006/main" noGrp="1"/>
          </p:cNvSpPr>
          <p:nvPr/>
        </p:nvSpPr>
        <p:spPr>
          <a:xfrm xmlns:a="http://schemas.openxmlformats.org/drawingml/2006/main">
            <a:off x="4286250" y="1809750"/>
            <a:ext cx="2476500" cy="1047750"/>
          </a:xfrm>
          <a:prstGeom xmlns:a="http://schemas.openxmlformats.org/drawingml/2006/main" prst="rect">
            <a:avLst/>
          </a:prstGeom>
          <a:solidFill xmlns:a="http://schemas.openxmlformats.org/drawingml/2006/main">
            <a:srgbClr val="103A5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CNN 1-D</a:t>
            </a:r>
          </a:p>
        </p:txBody>
      </p:sp>
      <p:sp>
        <p:nvSpPr>
          <p:cNvPr id="8" name="">
            <a:extLst xmlns:a="http://schemas.openxmlformats.org/drawingml/2006/main">
              <a:ext uri="{FF2B5EF4-FFF2-40B4-BE49-F238E27FC236}">
                <a16:creationId xmlns:a16="http://schemas.microsoft.com/office/drawing/2014/main" id="{123A7BF9-D232-4E8F-A3C4-CFA411E013F2}"/>
              </a:ext>
            </a:extLst>
          </p:cNvPr>
          <p:cNvSpPr>
            <a:spLocks xmlns:a="http://schemas.openxmlformats.org/drawingml/2006/main" noGrp="1"/>
          </p:cNvSpPr>
          <p:nvPr/>
        </p:nvSpPr>
        <p:spPr>
          <a:xfrm xmlns:a="http://schemas.openxmlformats.org/drawingml/2006/main">
            <a:off x="6953250" y="2095500"/>
            <a:ext cx="904875" cy="457200"/>
          </a:xfrm>
          <a:prstGeom xmlns:a="http://schemas.openxmlformats.org/drawingml/2006/main" prst="rightArrow">
            <a:avLst/>
          </a:prstGeom>
          <a:solidFill xmlns:a="http://schemas.openxmlformats.org/drawingml/2006/main">
            <a:srgbClr val="B8CD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47B79A-12D4-4EAD-BA1B-161D9D4F09FE}"/>
              </a:ext>
            </a:extLst>
          </p:cNvPr>
          <p:cNvSpPr>
            <a:spLocks xmlns:a="http://schemas.openxmlformats.org/drawingml/2006/main" noGrp="1"/>
          </p:cNvSpPr>
          <p:nvPr/>
        </p:nvSpPr>
        <p:spPr>
          <a:xfrm xmlns:a="http://schemas.openxmlformats.org/drawingml/2006/main">
            <a:off x="8048625" y="1809750"/>
            <a:ext cx="3048000" cy="1047750"/>
          </a:xfrm>
          <a:prstGeom xmlns:a="http://schemas.openxmlformats.org/drawingml/2006/main" prst="rect">
            <a:avLst/>
          </a:prstGeom>
          <a:solidFill xmlns:a="http://schemas.openxmlformats.org/drawingml/2006/main">
            <a:srgbClr val="D32F2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Đầu ra</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HR trung bình (BPM)</a:t>
            </a:r>
          </a:p>
        </p:txBody>
      </p:sp>
      <p:sp>
        <p:nvSpPr>
          <p:cNvPr id="10" name="">
            <a:extLst xmlns:a="http://schemas.openxmlformats.org/drawingml/2006/main">
              <a:ext uri="{FF2B5EF4-FFF2-40B4-BE49-F238E27FC236}">
                <a16:creationId xmlns:a16="http://schemas.microsoft.com/office/drawing/2014/main" id="{DD4B503A-8135-4687-9993-7D78FF9AFB97}"/>
              </a:ext>
            </a:extLst>
          </p:cNvPr>
          <p:cNvSpPr>
            <a:spLocks xmlns:a="http://schemas.openxmlformats.org/drawingml/2006/main" noGrp="1"/>
          </p:cNvSpPr>
          <p:nvPr/>
        </p:nvSpPr>
        <p:spPr>
          <a:xfrm xmlns:a="http://schemas.openxmlformats.org/drawingml/2006/main">
            <a:off x="742950" y="331470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3A5C"/>
                </a:solidFill>
                <a:latin typeface="Arial"/>
                <a:ea typeface="Arial"/>
                <a:cs typeface="Arial"/>
              </a:defRPr>
            </a:pPr>
            <a:r>
              <a:rPr sz="1575" b="1">
                <a:solidFill>
                  <a:srgbClr val="103A5C"/>
                </a:solidFill>
                <a:latin typeface="Arial"/>
                <a:ea typeface="Arial"/>
                <a:cs typeface="Arial"/>
              </a:rPr>
              <a:t>Split theo người</a:t>
            </a:r>
          </a:p>
        </p:txBody>
      </p:sp>
      <p:sp>
        <p:nvSpPr>
          <p:cNvPr id="11" name="">
            <a:extLst xmlns:a="http://schemas.openxmlformats.org/drawingml/2006/main">
              <a:ext uri="{FF2B5EF4-FFF2-40B4-BE49-F238E27FC236}">
                <a16:creationId xmlns:a16="http://schemas.microsoft.com/office/drawing/2014/main" id="{B57019D5-1A3D-4B30-9147-98965706038D}"/>
              </a:ext>
            </a:extLst>
          </p:cNvPr>
          <p:cNvSpPr>
            <a:spLocks xmlns:a="http://schemas.openxmlformats.org/drawingml/2006/main" noGrp="1"/>
          </p:cNvSpPr>
          <p:nvPr/>
        </p:nvSpPr>
        <p:spPr>
          <a:xfrm xmlns:a="http://schemas.openxmlformats.org/drawingml/2006/main">
            <a:off x="742950" y="3857625"/>
            <a:ext cx="3095625" cy="323850"/>
          </a:xfrm>
          <a:prstGeom xmlns:a="http://schemas.openxmlformats.org/drawingml/2006/main" prst="rect">
            <a:avLst/>
          </a:prstGeom>
          <a:solidFill xmlns:a="http://schemas.openxmlformats.org/drawingml/2006/main">
            <a:srgbClr val="1769A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TRAIN</a:t>
            </a:r>
          </a:p>
        </p:txBody>
      </p:sp>
      <p:sp>
        <p:nvSpPr>
          <p:cNvPr id="12" name="">
            <a:extLst xmlns:a="http://schemas.openxmlformats.org/drawingml/2006/main">
              <a:ext uri="{FF2B5EF4-FFF2-40B4-BE49-F238E27FC236}">
                <a16:creationId xmlns:a16="http://schemas.microsoft.com/office/drawing/2014/main" id="{EA53763A-CF40-4F06-8BB8-9A447F1073B6}"/>
              </a:ext>
            </a:extLst>
          </p:cNvPr>
          <p:cNvSpPr>
            <a:spLocks xmlns:a="http://schemas.openxmlformats.org/drawingml/2006/main" noGrp="1"/>
          </p:cNvSpPr>
          <p:nvPr/>
        </p:nvSpPr>
        <p:spPr>
          <a:xfrm xmlns:a="http://schemas.openxmlformats.org/drawingml/2006/main">
            <a:off x="742950" y="4210050"/>
            <a:ext cx="3095625" cy="876300"/>
          </a:xfrm>
          <a:prstGeom xmlns:a="http://schemas.openxmlformats.org/drawingml/2006/main" prst="rect">
            <a:avLst/>
          </a:prstGeom>
          <a:solidFill xmlns:a="http://schemas.openxmlformats.org/drawingml/2006/main">
            <a:srgbClr val="F6F8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7242E"/>
                </a:solidFill>
                <a:latin typeface="Arial"/>
                <a:ea typeface="Arial"/>
                <a:cs typeface="Arial"/>
              </a:defRPr>
            </a:pPr>
            <a:r>
              <a:rPr sz="1725" b="1">
                <a:solidFill>
                  <a:srgbClr val="17242E"/>
                </a:solidFill>
                <a:latin typeface="Arial"/>
                <a:ea typeface="Arial"/>
                <a:cs typeface="Arial"/>
              </a:rPr>
              <a:t>S2–S10</a:t>
            </a:r>
          </a:p>
          <a:p xmlns:a="http://schemas.openxmlformats.org/drawingml/2006/main">
            <a:pPr algn="ctr">
              <a:defRPr sz="1725" b="1">
                <a:solidFill>
                  <a:srgbClr val="17242E"/>
                </a:solidFill>
                <a:latin typeface="Arial"/>
                <a:ea typeface="Arial"/>
                <a:cs typeface="Arial"/>
              </a:defRPr>
            </a:pPr>
            <a:r>
              <a:rPr sz="1725" b="1">
                <a:solidFill>
                  <a:srgbClr val="17242E"/>
                </a:solidFill>
                <a:latin typeface="Arial"/>
                <a:ea typeface="Arial"/>
                <a:cs typeface="Arial"/>
              </a:rPr>
              <a:t>9.770 cửa sổ</a:t>
            </a:r>
          </a:p>
        </p:txBody>
      </p:sp>
      <p:sp>
        <p:nvSpPr>
          <p:cNvPr id="13" name="">
            <a:extLst xmlns:a="http://schemas.openxmlformats.org/drawingml/2006/main">
              <a:ext uri="{FF2B5EF4-FFF2-40B4-BE49-F238E27FC236}">
                <a16:creationId xmlns:a16="http://schemas.microsoft.com/office/drawing/2014/main" id="{22F10DD6-B391-4490-AAA7-B585C563A4EB}"/>
              </a:ext>
            </a:extLst>
          </p:cNvPr>
          <p:cNvSpPr>
            <a:spLocks xmlns:a="http://schemas.openxmlformats.org/drawingml/2006/main" noGrp="1"/>
          </p:cNvSpPr>
          <p:nvPr/>
        </p:nvSpPr>
        <p:spPr>
          <a:xfrm xmlns:a="http://schemas.openxmlformats.org/drawingml/2006/main">
            <a:off x="4219575" y="3857625"/>
            <a:ext cx="3095625" cy="323850"/>
          </a:xfrm>
          <a:prstGeom xmlns:a="http://schemas.openxmlformats.org/drawingml/2006/main" prst="rect">
            <a:avLst/>
          </a:prstGeom>
          <a:solidFill xmlns:a="http://schemas.openxmlformats.org/drawingml/2006/main">
            <a:srgbClr val="F28E2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VALIDATION</a:t>
            </a:r>
          </a:p>
        </p:txBody>
      </p:sp>
      <p:sp>
        <p:nvSpPr>
          <p:cNvPr id="14" name="">
            <a:extLst xmlns:a="http://schemas.openxmlformats.org/drawingml/2006/main">
              <a:ext uri="{FF2B5EF4-FFF2-40B4-BE49-F238E27FC236}">
                <a16:creationId xmlns:a16="http://schemas.microsoft.com/office/drawing/2014/main" id="{4520ED4F-170D-4185-BDB9-62A4ED1BB8AB}"/>
              </a:ext>
            </a:extLst>
          </p:cNvPr>
          <p:cNvSpPr>
            <a:spLocks xmlns:a="http://schemas.openxmlformats.org/drawingml/2006/main" noGrp="1"/>
          </p:cNvSpPr>
          <p:nvPr/>
        </p:nvSpPr>
        <p:spPr>
          <a:xfrm xmlns:a="http://schemas.openxmlformats.org/drawingml/2006/main">
            <a:off x="4219575" y="4210050"/>
            <a:ext cx="3095625" cy="876300"/>
          </a:xfrm>
          <a:prstGeom xmlns:a="http://schemas.openxmlformats.org/drawingml/2006/main" prst="rect">
            <a:avLst/>
          </a:prstGeom>
          <a:solidFill xmlns:a="http://schemas.openxmlformats.org/drawingml/2006/main">
            <a:srgbClr val="F6F8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7242E"/>
                </a:solidFill>
                <a:latin typeface="Arial"/>
                <a:ea typeface="Arial"/>
                <a:cs typeface="Arial"/>
              </a:defRPr>
            </a:pPr>
            <a:r>
              <a:rPr sz="1725" b="1">
                <a:solidFill>
                  <a:srgbClr val="17242E"/>
                </a:solidFill>
                <a:latin typeface="Arial"/>
                <a:ea typeface="Arial"/>
                <a:cs typeface="Arial"/>
              </a:rPr>
              <a:t>S11, S13</a:t>
            </a:r>
          </a:p>
          <a:p xmlns:a="http://schemas.openxmlformats.org/drawingml/2006/main">
            <a:pPr algn="ctr">
              <a:defRPr sz="1725" b="1">
                <a:solidFill>
                  <a:srgbClr val="17242E"/>
                </a:solidFill>
                <a:latin typeface="Arial"/>
                <a:ea typeface="Arial"/>
                <a:cs typeface="Arial"/>
              </a:defRPr>
            </a:pPr>
            <a:r>
              <a:rPr sz="1725" b="1">
                <a:solidFill>
                  <a:srgbClr val="17242E"/>
                </a:solidFill>
                <a:latin typeface="Arial"/>
                <a:ea typeface="Arial"/>
                <a:cs typeface="Arial"/>
              </a:rPr>
              <a:t>2.208 cửa sổ</a:t>
            </a:r>
          </a:p>
        </p:txBody>
      </p:sp>
      <p:sp>
        <p:nvSpPr>
          <p:cNvPr id="15" name="">
            <a:extLst xmlns:a="http://schemas.openxmlformats.org/drawingml/2006/main">
              <a:ext uri="{FF2B5EF4-FFF2-40B4-BE49-F238E27FC236}">
                <a16:creationId xmlns:a16="http://schemas.microsoft.com/office/drawing/2014/main" id="{811FEF65-C6AE-4CFB-8C43-35F800E9F7B5}"/>
              </a:ext>
            </a:extLst>
          </p:cNvPr>
          <p:cNvSpPr>
            <a:spLocks xmlns:a="http://schemas.openxmlformats.org/drawingml/2006/main" noGrp="1"/>
          </p:cNvSpPr>
          <p:nvPr/>
        </p:nvSpPr>
        <p:spPr>
          <a:xfrm xmlns:a="http://schemas.openxmlformats.org/drawingml/2006/main">
            <a:off x="7696200" y="3857625"/>
            <a:ext cx="3095625" cy="323850"/>
          </a:xfrm>
          <a:prstGeom xmlns:a="http://schemas.openxmlformats.org/drawingml/2006/main" prst="rect">
            <a:avLst/>
          </a:prstGeom>
          <a:solidFill xmlns:a="http://schemas.openxmlformats.org/drawingml/2006/main">
            <a:srgbClr val="59A14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TEST</a:t>
            </a:r>
          </a:p>
        </p:txBody>
      </p:sp>
      <p:sp>
        <p:nvSpPr>
          <p:cNvPr id="16" name="">
            <a:extLst xmlns:a="http://schemas.openxmlformats.org/drawingml/2006/main">
              <a:ext uri="{FF2B5EF4-FFF2-40B4-BE49-F238E27FC236}">
                <a16:creationId xmlns:a16="http://schemas.microsoft.com/office/drawing/2014/main" id="{D6D4E236-6B41-4EBC-BC76-9DBB78E1A089}"/>
              </a:ext>
            </a:extLst>
          </p:cNvPr>
          <p:cNvSpPr>
            <a:spLocks xmlns:a="http://schemas.openxmlformats.org/drawingml/2006/main" noGrp="1"/>
          </p:cNvSpPr>
          <p:nvPr/>
        </p:nvSpPr>
        <p:spPr>
          <a:xfrm xmlns:a="http://schemas.openxmlformats.org/drawingml/2006/main">
            <a:off x="7696200" y="4210050"/>
            <a:ext cx="3095625" cy="876300"/>
          </a:xfrm>
          <a:prstGeom xmlns:a="http://schemas.openxmlformats.org/drawingml/2006/main" prst="rect">
            <a:avLst/>
          </a:prstGeom>
          <a:solidFill xmlns:a="http://schemas.openxmlformats.org/drawingml/2006/main">
            <a:srgbClr val="F6F8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7242E"/>
                </a:solidFill>
                <a:latin typeface="Arial"/>
                <a:ea typeface="Arial"/>
                <a:cs typeface="Arial"/>
              </a:defRPr>
            </a:pPr>
            <a:r>
              <a:rPr sz="1725" b="1">
                <a:solidFill>
                  <a:srgbClr val="17242E"/>
                </a:solidFill>
                <a:latin typeface="Arial"/>
                <a:ea typeface="Arial"/>
                <a:cs typeface="Arial"/>
              </a:rPr>
              <a:t>S14–S17</a:t>
            </a:r>
          </a:p>
          <a:p xmlns:a="http://schemas.openxmlformats.org/drawingml/2006/main">
            <a:pPr algn="ctr">
              <a:defRPr sz="1725" b="1">
                <a:solidFill>
                  <a:srgbClr val="17242E"/>
                </a:solidFill>
                <a:latin typeface="Arial"/>
                <a:ea typeface="Arial"/>
                <a:cs typeface="Arial"/>
              </a:defRPr>
            </a:pPr>
            <a:r>
              <a:rPr sz="1725" b="1">
                <a:solidFill>
                  <a:srgbClr val="17242E"/>
                </a:solidFill>
                <a:latin typeface="Arial"/>
                <a:ea typeface="Arial"/>
                <a:cs typeface="Arial"/>
              </a:rPr>
              <a:t>4.444 cửa sổ</a:t>
            </a:r>
          </a:p>
        </p:txBody>
      </p:sp>
      <p:sp>
        <p:nvSpPr>
          <p:cNvPr id="17" name="">
            <a:extLst xmlns:a="http://schemas.openxmlformats.org/drawingml/2006/main">
              <a:ext uri="{FF2B5EF4-FFF2-40B4-BE49-F238E27FC236}">
                <a16:creationId xmlns:a16="http://schemas.microsoft.com/office/drawing/2014/main" id="{CD873356-F30E-435C-B191-09795AB4EB45}"/>
              </a:ext>
            </a:extLst>
          </p:cNvPr>
          <p:cNvSpPr>
            <a:spLocks xmlns:a="http://schemas.openxmlformats.org/drawingml/2006/main" noGrp="1"/>
          </p:cNvSpPr>
          <p:nvPr/>
        </p:nvSpPr>
        <p:spPr>
          <a:xfrm xmlns:a="http://schemas.openxmlformats.org/drawingml/2006/main">
            <a:off x="742950" y="5486400"/>
            <a:ext cx="10287000" cy="457200"/>
          </a:xfrm>
          <a:prstGeom xmlns:a="http://schemas.openxmlformats.org/drawingml/2006/main" prst="rect">
            <a:avLst/>
          </a:prstGeom>
          <a:solidFill xmlns:a="http://schemas.openxmlformats.org/drawingml/2006/main">
            <a:srgbClr val="EAF3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03A5C"/>
                </a:solidFill>
                <a:latin typeface="Arial"/>
                <a:ea typeface="Arial"/>
                <a:cs typeface="Arial"/>
              </a:defRPr>
            </a:pPr>
            <a:r>
              <a:rPr sz="1800" b="1">
                <a:solidFill>
                  <a:srgbClr val="103A5C"/>
                </a:solidFill>
                <a:latin typeface="Arial"/>
                <a:ea typeface="Arial"/>
                <a:cs typeface="Arial"/>
              </a:rPr>
              <a:t>Metric chính: MAE từng người → trung bình đều (MAE_macro)</a:t>
            </a:r>
          </a:p>
        </p:txBody>
      </p:sp>
      <p:sp>
        <p:nvSpPr>
          <p:cNvPr id="18" name="">
            <a:extLst xmlns:a="http://schemas.openxmlformats.org/drawingml/2006/main">
              <a:ext uri="{FF2B5EF4-FFF2-40B4-BE49-F238E27FC236}">
                <a16:creationId xmlns:a16="http://schemas.microsoft.com/office/drawing/2014/main" id="{86479E42-8B7C-481C-9287-B425E6ABCBCA}"/>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19" name="">
            <a:extLst xmlns:a="http://schemas.openxmlformats.org/drawingml/2006/main">
              <a:ext uri="{FF2B5EF4-FFF2-40B4-BE49-F238E27FC236}">
                <a16:creationId xmlns:a16="http://schemas.microsoft.com/office/drawing/2014/main" id="{ADF5EDD9-75FF-4EB6-871D-E8B7355B666A}"/>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20" name="">
            <a:extLst xmlns:a="http://schemas.openxmlformats.org/drawingml/2006/main">
              <a:ext uri="{FF2B5EF4-FFF2-40B4-BE49-F238E27FC236}">
                <a16:creationId xmlns:a16="http://schemas.microsoft.com/office/drawing/2014/main" id="{63EFE8A1-04BB-48F8-9CA6-D2A46F41686B}"/>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02</a:t>
            </a:r>
          </a:p>
        </p:txBody>
      </p:sp>
    </p:spTree>
    <p:extLst>
      <p:ext uri="{BB962C8B-B14F-4D97-AF65-F5344CB8AC3E}">
        <p14:creationId xmlns:p14="http://schemas.microsoft.com/office/powerpoint/2010/main" val="10311641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9C7D39EA-7933-4F15-A97E-1C22A828A428}"/>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Pipeline dữ liệu có dấu vết</a:t>
            </a:r>
          </a:p>
        </p:txBody>
      </p:sp>
      <p:sp>
        <p:nvSpPr>
          <p:cNvPr id="2" name="">
            <a:extLst xmlns:a="http://schemas.openxmlformats.org/drawingml/2006/main">
              <a:ext uri="{FF2B5EF4-FFF2-40B4-BE49-F238E27FC236}">
                <a16:creationId xmlns:a16="http://schemas.microsoft.com/office/drawing/2014/main" id="{11E65F30-2EDE-425F-B844-75BE1517AA4C}"/>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12FB20-76FE-4E7B-A223-0D0AC623980E}"/>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Mọi cửa sổ gắn window_id, config hash và manifest hash</a:t>
            </a:r>
          </a:p>
        </p:txBody>
      </p:sp>
      <p:sp>
        <p:nvSpPr>
          <p:cNvPr id="4" name="">
            <a:extLst xmlns:a="http://schemas.openxmlformats.org/drawingml/2006/main">
              <a:ext uri="{FF2B5EF4-FFF2-40B4-BE49-F238E27FC236}">
                <a16:creationId xmlns:a16="http://schemas.microsoft.com/office/drawing/2014/main" id="{9F43FFA5-79E0-4C85-9C0F-463F1C313BDF}"/>
              </a:ext>
            </a:extLst>
          </p:cNvPr>
          <p:cNvSpPr>
            <a:spLocks xmlns:a="http://schemas.openxmlformats.org/drawingml/2006/main" noGrp="1"/>
          </p:cNvSpPr>
          <p:nvPr/>
        </p:nvSpPr>
        <p:spPr>
          <a:xfrm xmlns:a="http://schemas.openxmlformats.org/drawingml/2006/main">
            <a:off x="609600" y="1581150"/>
            <a:ext cx="1857375" cy="1562100"/>
          </a:xfrm>
          <a:prstGeom xmlns:a="http://schemas.openxmlformats.org/drawingml/2006/main" prst="roundRect">
            <a:avLst>
              <a:gd name="adj" fmla="val 7317"/>
            </a:avLst>
          </a:prstGeom>
          <a:solidFill xmlns:a="http://schemas.openxmlformats.org/drawingml/2006/main">
            <a:srgbClr val="EAF3F8"/>
          </a:solidFill>
          <a:ln xmlns:a="http://schemas.openxmlformats.org/drawingml/2006/main" w="9525">
            <a:solidFill>
              <a:srgbClr val="AAC4D3"/>
            </a:solidFill>
          </a:ln>
        </p:spPr>
      </p:sp>
      <p:sp>
        <p:nvSpPr>
          <p:cNvPr id="5" name="">
            <a:extLst xmlns:a="http://schemas.openxmlformats.org/drawingml/2006/main">
              <a:ext uri="{FF2B5EF4-FFF2-40B4-BE49-F238E27FC236}">
                <a16:creationId xmlns:a16="http://schemas.microsoft.com/office/drawing/2014/main" id="{766356D6-5851-4A02-9BAF-DCF979DB6B9B}"/>
              </a:ext>
            </a:extLst>
          </p:cNvPr>
          <p:cNvSpPr>
            <a:spLocks xmlns:a="http://schemas.openxmlformats.org/drawingml/2006/main" noGrp="1"/>
          </p:cNvSpPr>
          <p:nvPr/>
        </p:nvSpPr>
        <p:spPr>
          <a:xfrm xmlns:a="http://schemas.openxmlformats.org/drawingml/2006/main">
            <a:off x="742950" y="1695450"/>
            <a:ext cx="342900" cy="342900"/>
          </a:xfrm>
          <a:prstGeom xmlns:a="http://schemas.openxmlformats.org/drawingml/2006/main" prst="rect">
            <a:avLst/>
          </a:prstGeom>
          <a:solidFill xmlns:a="http://schemas.openxmlformats.org/drawingml/2006/main">
            <a:srgbClr val="1769A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ED821A3-533F-49C5-BA92-AE99BDE9AAAA}"/>
              </a:ext>
            </a:extLst>
          </p:cNvPr>
          <p:cNvSpPr>
            <a:spLocks xmlns:a="http://schemas.openxmlformats.org/drawingml/2006/main" noGrp="1"/>
          </p:cNvSpPr>
          <p:nvPr/>
        </p:nvSpPr>
        <p:spPr>
          <a:xfrm xmlns:a="http://schemas.openxmlformats.org/drawingml/2006/main">
            <a:off x="781050" y="20764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103A5C"/>
                </a:solidFill>
                <a:latin typeface="Arial"/>
                <a:ea typeface="Arial"/>
                <a:cs typeface="Arial"/>
              </a:defRPr>
            </a:pPr>
            <a:r>
              <a:rPr sz="1650" b="1">
                <a:solidFill>
                  <a:srgbClr val="103A5C"/>
                </a:solidFill>
                <a:latin typeface="Arial"/>
                <a:ea typeface="Arial"/>
                <a:cs typeface="Arial"/>
              </a:rPr>
              <a:t>WESAD</a:t>
            </a:r>
          </a:p>
        </p:txBody>
      </p:sp>
      <p:sp>
        <p:nvSpPr>
          <p:cNvPr id="7" name="">
            <a:extLst xmlns:a="http://schemas.openxmlformats.org/drawingml/2006/main">
              <a:ext uri="{FF2B5EF4-FFF2-40B4-BE49-F238E27FC236}">
                <a16:creationId xmlns:a16="http://schemas.microsoft.com/office/drawing/2014/main" id="{22BC3D9D-EA14-4B5D-8F83-692BEC046BCB}"/>
              </a:ext>
            </a:extLst>
          </p:cNvPr>
          <p:cNvSpPr>
            <a:spLocks xmlns:a="http://schemas.openxmlformats.org/drawingml/2006/main" noGrp="1"/>
          </p:cNvSpPr>
          <p:nvPr/>
        </p:nvSpPr>
        <p:spPr>
          <a:xfrm xmlns:a="http://schemas.openxmlformats.org/drawingml/2006/main">
            <a:off x="742950" y="2447925"/>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7242E"/>
                </a:solidFill>
                <a:latin typeface="Arial"/>
                <a:ea typeface="Arial"/>
                <a:cs typeface="Arial"/>
              </a:defRPr>
            </a:pPr>
            <a:r>
              <a:rPr sz="1200" b="0">
                <a:solidFill>
                  <a:srgbClr val="17242E"/>
                </a:solidFill>
                <a:latin typeface="Arial"/>
                <a:ea typeface="Arial"/>
                <a:cs typeface="Arial"/>
              </a:rPr>
              <a:t>BVP 64 Hz</a:t>
            </a:r>
          </a:p>
          <a:p xmlns:a="http://schemas.openxmlformats.org/drawingml/2006/main">
            <a:pPr algn="ctr">
              <a:defRPr sz="1200" b="0">
                <a:solidFill>
                  <a:srgbClr val="17242E"/>
                </a:solidFill>
                <a:latin typeface="Arial"/>
                <a:ea typeface="Arial"/>
                <a:cs typeface="Arial"/>
              </a:defRPr>
            </a:pPr>
            <a:r>
              <a:rPr sz="1200" b="0">
                <a:solidFill>
                  <a:srgbClr val="17242E"/>
                </a:solidFill>
                <a:latin typeface="Arial"/>
                <a:ea typeface="Arial"/>
                <a:cs typeface="Arial"/>
              </a:rPr>
              <a:t>ECG 700 Hz</a:t>
            </a:r>
          </a:p>
        </p:txBody>
      </p:sp>
      <p:sp>
        <p:nvSpPr>
          <p:cNvPr id="8" name="">
            <a:extLst xmlns:a="http://schemas.openxmlformats.org/drawingml/2006/main">
              <a:ext uri="{FF2B5EF4-FFF2-40B4-BE49-F238E27FC236}">
                <a16:creationId xmlns:a16="http://schemas.microsoft.com/office/drawing/2014/main" id="{B908372F-9520-476E-84E0-DC0F78683F02}"/>
              </a:ext>
            </a:extLst>
          </p:cNvPr>
          <p:cNvSpPr>
            <a:spLocks xmlns:a="http://schemas.openxmlformats.org/drawingml/2006/main" noGrp="1"/>
          </p:cNvSpPr>
          <p:nvPr/>
        </p:nvSpPr>
        <p:spPr>
          <a:xfrm xmlns:a="http://schemas.openxmlformats.org/drawingml/2006/main">
            <a:off x="2495550" y="2143125"/>
            <a:ext cx="314325" cy="333375"/>
          </a:xfrm>
          <a:prstGeom xmlns:a="http://schemas.openxmlformats.org/drawingml/2006/main" prst="rightArrow">
            <a:avLst/>
          </a:prstGeom>
          <a:solidFill xmlns:a="http://schemas.openxmlformats.org/drawingml/2006/main">
            <a:srgbClr val="A9BAC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0324F9-81E6-4B5C-954B-5196A31A0D4E}"/>
              </a:ext>
            </a:extLst>
          </p:cNvPr>
          <p:cNvSpPr>
            <a:spLocks xmlns:a="http://schemas.openxmlformats.org/drawingml/2006/main" noGrp="1"/>
          </p:cNvSpPr>
          <p:nvPr/>
        </p:nvSpPr>
        <p:spPr>
          <a:xfrm xmlns:a="http://schemas.openxmlformats.org/drawingml/2006/main">
            <a:off x="2905125" y="1581150"/>
            <a:ext cx="1857375" cy="1562100"/>
          </a:xfrm>
          <a:prstGeom xmlns:a="http://schemas.openxmlformats.org/drawingml/2006/main" prst="roundRect">
            <a:avLst>
              <a:gd name="adj" fmla="val 7317"/>
            </a:avLst>
          </a:prstGeom>
          <a:solidFill xmlns:a="http://schemas.openxmlformats.org/drawingml/2006/main">
            <a:srgbClr val="EAF3F8"/>
          </a:solidFill>
          <a:ln xmlns:a="http://schemas.openxmlformats.org/drawingml/2006/main" w="9525">
            <a:solidFill>
              <a:srgbClr val="AAC4D3"/>
            </a:solidFill>
          </a:ln>
        </p:spPr>
      </p:sp>
      <p:sp>
        <p:nvSpPr>
          <p:cNvPr id="10" name="">
            <a:extLst xmlns:a="http://schemas.openxmlformats.org/drawingml/2006/main">
              <a:ext uri="{FF2B5EF4-FFF2-40B4-BE49-F238E27FC236}">
                <a16:creationId xmlns:a16="http://schemas.microsoft.com/office/drawing/2014/main" id="{244D219B-F7A0-467C-B925-A9B74E1DE619}"/>
              </a:ext>
            </a:extLst>
          </p:cNvPr>
          <p:cNvSpPr>
            <a:spLocks xmlns:a="http://schemas.openxmlformats.org/drawingml/2006/main" noGrp="1"/>
          </p:cNvSpPr>
          <p:nvPr/>
        </p:nvSpPr>
        <p:spPr>
          <a:xfrm xmlns:a="http://schemas.openxmlformats.org/drawingml/2006/main">
            <a:off x="3038475" y="1695450"/>
            <a:ext cx="342900" cy="342900"/>
          </a:xfrm>
          <a:prstGeom xmlns:a="http://schemas.openxmlformats.org/drawingml/2006/main" prst="rect">
            <a:avLst/>
          </a:prstGeom>
          <a:solidFill xmlns:a="http://schemas.openxmlformats.org/drawingml/2006/main">
            <a:srgbClr val="1769A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B42BB1B9-556E-4FD5-9EF3-C31231B3F166}"/>
              </a:ext>
            </a:extLst>
          </p:cNvPr>
          <p:cNvSpPr>
            <a:spLocks xmlns:a="http://schemas.openxmlformats.org/drawingml/2006/main" noGrp="1"/>
          </p:cNvSpPr>
          <p:nvPr/>
        </p:nvSpPr>
        <p:spPr>
          <a:xfrm xmlns:a="http://schemas.openxmlformats.org/drawingml/2006/main">
            <a:off x="3076575" y="20764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103A5C"/>
                </a:solidFill>
                <a:latin typeface="Arial"/>
                <a:ea typeface="Arial"/>
                <a:cs typeface="Arial"/>
              </a:defRPr>
            </a:pPr>
            <a:r>
              <a:rPr sz="1650" b="1">
                <a:solidFill>
                  <a:srgbClr val="103A5C"/>
                </a:solidFill>
                <a:latin typeface="Arial"/>
                <a:ea typeface="Arial"/>
                <a:cs typeface="Arial"/>
              </a:rPr>
              <a:t>BVP</a:t>
            </a:r>
          </a:p>
        </p:txBody>
      </p:sp>
      <p:sp>
        <p:nvSpPr>
          <p:cNvPr id="12" name="">
            <a:extLst xmlns:a="http://schemas.openxmlformats.org/drawingml/2006/main">
              <a:ext uri="{FF2B5EF4-FFF2-40B4-BE49-F238E27FC236}">
                <a16:creationId xmlns:a16="http://schemas.microsoft.com/office/drawing/2014/main" id="{1A44FA11-BFBC-455D-A185-27BBCC4F0E58}"/>
              </a:ext>
            </a:extLst>
          </p:cNvPr>
          <p:cNvSpPr>
            <a:spLocks xmlns:a="http://schemas.openxmlformats.org/drawingml/2006/main" noGrp="1"/>
          </p:cNvSpPr>
          <p:nvPr/>
        </p:nvSpPr>
        <p:spPr>
          <a:xfrm xmlns:a="http://schemas.openxmlformats.org/drawingml/2006/main">
            <a:off x="3038475" y="2447925"/>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7242E"/>
                </a:solidFill>
                <a:latin typeface="Arial"/>
                <a:ea typeface="Arial"/>
                <a:cs typeface="Arial"/>
              </a:defRPr>
            </a:pPr>
            <a:r>
              <a:rPr sz="1200" b="0">
                <a:solidFill>
                  <a:srgbClr val="17242E"/>
                </a:solidFill>
                <a:latin typeface="Arial"/>
                <a:ea typeface="Arial"/>
                <a:cs typeface="Arial"/>
              </a:rPr>
              <a:t>64→32 Hz</a:t>
            </a:r>
          </a:p>
          <a:p xmlns:a="http://schemas.openxmlformats.org/drawingml/2006/main">
            <a:pPr algn="ctr">
              <a:defRPr sz="1200" b="0">
                <a:solidFill>
                  <a:srgbClr val="17242E"/>
                </a:solidFill>
                <a:latin typeface="Arial"/>
                <a:ea typeface="Arial"/>
                <a:cs typeface="Arial"/>
              </a:defRPr>
            </a:pPr>
            <a:r>
              <a:rPr sz="1200" b="0">
                <a:solidFill>
                  <a:srgbClr val="17242E"/>
                </a:solidFill>
                <a:latin typeface="Arial"/>
                <a:ea typeface="Arial"/>
                <a:cs typeface="Arial"/>
              </a:rPr>
              <a:t>0,5–8 Hz</a:t>
            </a:r>
          </a:p>
        </p:txBody>
      </p:sp>
      <p:sp>
        <p:nvSpPr>
          <p:cNvPr id="13" name="">
            <a:extLst xmlns:a="http://schemas.openxmlformats.org/drawingml/2006/main">
              <a:ext uri="{FF2B5EF4-FFF2-40B4-BE49-F238E27FC236}">
                <a16:creationId xmlns:a16="http://schemas.microsoft.com/office/drawing/2014/main" id="{300B12F1-9E2C-40A9-B6B5-2FBF11FC2BE7}"/>
              </a:ext>
            </a:extLst>
          </p:cNvPr>
          <p:cNvSpPr>
            <a:spLocks xmlns:a="http://schemas.openxmlformats.org/drawingml/2006/main" noGrp="1"/>
          </p:cNvSpPr>
          <p:nvPr/>
        </p:nvSpPr>
        <p:spPr>
          <a:xfrm xmlns:a="http://schemas.openxmlformats.org/drawingml/2006/main">
            <a:off x="4791075" y="2143125"/>
            <a:ext cx="314325" cy="333375"/>
          </a:xfrm>
          <a:prstGeom xmlns:a="http://schemas.openxmlformats.org/drawingml/2006/main" prst="rightArrow">
            <a:avLst/>
          </a:prstGeom>
          <a:solidFill xmlns:a="http://schemas.openxmlformats.org/drawingml/2006/main">
            <a:srgbClr val="A9BAC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BC232BD-EA55-4AA2-909D-49F845EB1EA8}"/>
              </a:ext>
            </a:extLst>
          </p:cNvPr>
          <p:cNvSpPr>
            <a:spLocks xmlns:a="http://schemas.openxmlformats.org/drawingml/2006/main" noGrp="1"/>
          </p:cNvSpPr>
          <p:nvPr/>
        </p:nvSpPr>
        <p:spPr>
          <a:xfrm xmlns:a="http://schemas.openxmlformats.org/drawingml/2006/main">
            <a:off x="5200650" y="1581150"/>
            <a:ext cx="1857375" cy="1562100"/>
          </a:xfrm>
          <a:prstGeom xmlns:a="http://schemas.openxmlformats.org/drawingml/2006/main" prst="roundRect">
            <a:avLst>
              <a:gd name="adj" fmla="val 7317"/>
            </a:avLst>
          </a:prstGeom>
          <a:solidFill xmlns:a="http://schemas.openxmlformats.org/drawingml/2006/main">
            <a:srgbClr val="EAF3F8"/>
          </a:solidFill>
          <a:ln xmlns:a="http://schemas.openxmlformats.org/drawingml/2006/main" w="9525">
            <a:solidFill>
              <a:srgbClr val="AAC4D3"/>
            </a:solidFill>
          </a:ln>
        </p:spPr>
      </p:sp>
      <p:sp>
        <p:nvSpPr>
          <p:cNvPr id="15" name="">
            <a:extLst xmlns:a="http://schemas.openxmlformats.org/drawingml/2006/main">
              <a:ext uri="{FF2B5EF4-FFF2-40B4-BE49-F238E27FC236}">
                <a16:creationId xmlns:a16="http://schemas.microsoft.com/office/drawing/2014/main" id="{4E124787-17FD-432A-8C20-DD28CF16F224}"/>
              </a:ext>
            </a:extLst>
          </p:cNvPr>
          <p:cNvSpPr>
            <a:spLocks xmlns:a="http://schemas.openxmlformats.org/drawingml/2006/main" noGrp="1"/>
          </p:cNvSpPr>
          <p:nvPr/>
        </p:nvSpPr>
        <p:spPr>
          <a:xfrm xmlns:a="http://schemas.openxmlformats.org/drawingml/2006/main">
            <a:off x="5334000" y="1695450"/>
            <a:ext cx="342900" cy="342900"/>
          </a:xfrm>
          <a:prstGeom xmlns:a="http://schemas.openxmlformats.org/drawingml/2006/main" prst="rect">
            <a:avLst/>
          </a:prstGeom>
          <a:solidFill xmlns:a="http://schemas.openxmlformats.org/drawingml/2006/main">
            <a:srgbClr val="1769A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648EE6AB-48CC-4EEB-82C0-1B15F65FEC7F}"/>
              </a:ext>
            </a:extLst>
          </p:cNvPr>
          <p:cNvSpPr>
            <a:spLocks xmlns:a="http://schemas.openxmlformats.org/drawingml/2006/main" noGrp="1"/>
          </p:cNvSpPr>
          <p:nvPr/>
        </p:nvSpPr>
        <p:spPr>
          <a:xfrm xmlns:a="http://schemas.openxmlformats.org/drawingml/2006/main">
            <a:off x="5372100" y="20764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103A5C"/>
                </a:solidFill>
                <a:latin typeface="Arial"/>
                <a:ea typeface="Arial"/>
                <a:cs typeface="Arial"/>
              </a:defRPr>
            </a:pPr>
            <a:r>
              <a:rPr sz="1650" b="1">
                <a:solidFill>
                  <a:srgbClr val="103A5C"/>
                </a:solidFill>
                <a:latin typeface="Arial"/>
                <a:ea typeface="Arial"/>
                <a:cs typeface="Arial"/>
              </a:rPr>
              <a:t>ECG</a:t>
            </a:r>
          </a:p>
        </p:txBody>
      </p:sp>
      <p:sp>
        <p:nvSpPr>
          <p:cNvPr id="17" name="">
            <a:extLst xmlns:a="http://schemas.openxmlformats.org/drawingml/2006/main">
              <a:ext uri="{FF2B5EF4-FFF2-40B4-BE49-F238E27FC236}">
                <a16:creationId xmlns:a16="http://schemas.microsoft.com/office/drawing/2014/main" id="{3963A356-EC73-4AE0-B627-386ADF3F391A}"/>
              </a:ext>
            </a:extLst>
          </p:cNvPr>
          <p:cNvSpPr>
            <a:spLocks xmlns:a="http://schemas.openxmlformats.org/drawingml/2006/main" noGrp="1"/>
          </p:cNvSpPr>
          <p:nvPr/>
        </p:nvSpPr>
        <p:spPr>
          <a:xfrm xmlns:a="http://schemas.openxmlformats.org/drawingml/2006/main">
            <a:off x="5334000" y="2447925"/>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7242E"/>
                </a:solidFill>
                <a:latin typeface="Arial"/>
                <a:ea typeface="Arial"/>
                <a:cs typeface="Arial"/>
              </a:defRPr>
            </a:pPr>
            <a:r>
              <a:rPr sz="1200" b="0">
                <a:solidFill>
                  <a:srgbClr val="17242E"/>
                </a:solidFill>
                <a:latin typeface="Arial"/>
                <a:ea typeface="Arial"/>
                <a:cs typeface="Arial"/>
              </a:rPr>
              <a:t>5–25 Hz</a:t>
            </a:r>
          </a:p>
          <a:p xmlns:a="http://schemas.openxmlformats.org/drawingml/2006/main">
            <a:pPr algn="ctr">
              <a:defRPr sz="1200" b="0">
                <a:solidFill>
                  <a:srgbClr val="17242E"/>
                </a:solidFill>
                <a:latin typeface="Arial"/>
                <a:ea typeface="Arial"/>
                <a:cs typeface="Arial"/>
              </a:defRPr>
            </a:pPr>
            <a:r>
              <a:rPr sz="1200" b="0">
                <a:solidFill>
                  <a:srgbClr val="17242E"/>
                </a:solidFill>
                <a:latin typeface="Arial"/>
                <a:ea typeface="Arial"/>
                <a:cs typeface="Arial"/>
              </a:rPr>
              <a:t>đỉnh R thích nghi</a:t>
            </a:r>
          </a:p>
        </p:txBody>
      </p:sp>
      <p:sp>
        <p:nvSpPr>
          <p:cNvPr id="18" name="">
            <a:extLst xmlns:a="http://schemas.openxmlformats.org/drawingml/2006/main">
              <a:ext uri="{FF2B5EF4-FFF2-40B4-BE49-F238E27FC236}">
                <a16:creationId xmlns:a16="http://schemas.microsoft.com/office/drawing/2014/main" id="{64A7D8AD-DE40-423E-9F56-55495AF9D2E7}"/>
              </a:ext>
            </a:extLst>
          </p:cNvPr>
          <p:cNvSpPr>
            <a:spLocks xmlns:a="http://schemas.openxmlformats.org/drawingml/2006/main" noGrp="1"/>
          </p:cNvSpPr>
          <p:nvPr/>
        </p:nvSpPr>
        <p:spPr>
          <a:xfrm xmlns:a="http://schemas.openxmlformats.org/drawingml/2006/main">
            <a:off x="7086600" y="2143125"/>
            <a:ext cx="314325" cy="333375"/>
          </a:xfrm>
          <a:prstGeom xmlns:a="http://schemas.openxmlformats.org/drawingml/2006/main" prst="rightArrow">
            <a:avLst/>
          </a:prstGeom>
          <a:solidFill xmlns:a="http://schemas.openxmlformats.org/drawingml/2006/main">
            <a:srgbClr val="A9BAC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9A498CB-648E-47D9-B0DF-1F532F475EA3}"/>
              </a:ext>
            </a:extLst>
          </p:cNvPr>
          <p:cNvSpPr>
            <a:spLocks xmlns:a="http://schemas.openxmlformats.org/drawingml/2006/main" noGrp="1"/>
          </p:cNvSpPr>
          <p:nvPr/>
        </p:nvSpPr>
        <p:spPr>
          <a:xfrm xmlns:a="http://schemas.openxmlformats.org/drawingml/2006/main">
            <a:off x="7496175" y="1581150"/>
            <a:ext cx="1857375" cy="1562100"/>
          </a:xfrm>
          <a:prstGeom xmlns:a="http://schemas.openxmlformats.org/drawingml/2006/main" prst="roundRect">
            <a:avLst>
              <a:gd name="adj" fmla="val 7317"/>
            </a:avLst>
          </a:prstGeom>
          <a:solidFill xmlns:a="http://schemas.openxmlformats.org/drawingml/2006/main">
            <a:srgbClr val="EAF3F8"/>
          </a:solidFill>
          <a:ln xmlns:a="http://schemas.openxmlformats.org/drawingml/2006/main" w="9525">
            <a:solidFill>
              <a:srgbClr val="AAC4D3"/>
            </a:solidFill>
          </a:ln>
        </p:spPr>
      </p:sp>
      <p:sp>
        <p:nvSpPr>
          <p:cNvPr id="20" name="">
            <a:extLst xmlns:a="http://schemas.openxmlformats.org/drawingml/2006/main">
              <a:ext uri="{FF2B5EF4-FFF2-40B4-BE49-F238E27FC236}">
                <a16:creationId xmlns:a16="http://schemas.microsoft.com/office/drawing/2014/main" id="{C01953E0-FD84-46D3-B081-8E004082C299}"/>
              </a:ext>
            </a:extLst>
          </p:cNvPr>
          <p:cNvSpPr>
            <a:spLocks xmlns:a="http://schemas.openxmlformats.org/drawingml/2006/main" noGrp="1"/>
          </p:cNvSpPr>
          <p:nvPr/>
        </p:nvSpPr>
        <p:spPr>
          <a:xfrm xmlns:a="http://schemas.openxmlformats.org/drawingml/2006/main">
            <a:off x="7629525" y="1695450"/>
            <a:ext cx="342900" cy="342900"/>
          </a:xfrm>
          <a:prstGeom xmlns:a="http://schemas.openxmlformats.org/drawingml/2006/main" prst="rect">
            <a:avLst/>
          </a:prstGeom>
          <a:solidFill xmlns:a="http://schemas.openxmlformats.org/drawingml/2006/main">
            <a:srgbClr val="1769A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F72929DF-557E-49AF-BBBF-1A0F2E98BEC6}"/>
              </a:ext>
            </a:extLst>
          </p:cNvPr>
          <p:cNvSpPr>
            <a:spLocks xmlns:a="http://schemas.openxmlformats.org/drawingml/2006/main" noGrp="1"/>
          </p:cNvSpPr>
          <p:nvPr/>
        </p:nvSpPr>
        <p:spPr>
          <a:xfrm xmlns:a="http://schemas.openxmlformats.org/drawingml/2006/main">
            <a:off x="7667625" y="20764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103A5C"/>
                </a:solidFill>
                <a:latin typeface="Arial"/>
                <a:ea typeface="Arial"/>
                <a:cs typeface="Arial"/>
              </a:defRPr>
            </a:pPr>
            <a:r>
              <a:rPr sz="1650" b="1">
                <a:solidFill>
                  <a:srgbClr val="103A5C"/>
                </a:solidFill>
                <a:latin typeface="Arial"/>
                <a:ea typeface="Arial"/>
                <a:cs typeface="Arial"/>
              </a:rPr>
              <a:t>Cửa sổ</a:t>
            </a:r>
          </a:p>
        </p:txBody>
      </p:sp>
      <p:sp>
        <p:nvSpPr>
          <p:cNvPr id="22" name="">
            <a:extLst xmlns:a="http://schemas.openxmlformats.org/drawingml/2006/main">
              <a:ext uri="{FF2B5EF4-FFF2-40B4-BE49-F238E27FC236}">
                <a16:creationId xmlns:a16="http://schemas.microsoft.com/office/drawing/2014/main" id="{7366E7A9-8075-4B96-9808-AD09B847B6A1}"/>
              </a:ext>
            </a:extLst>
          </p:cNvPr>
          <p:cNvSpPr>
            <a:spLocks xmlns:a="http://schemas.openxmlformats.org/drawingml/2006/main" noGrp="1"/>
          </p:cNvSpPr>
          <p:nvPr/>
        </p:nvSpPr>
        <p:spPr>
          <a:xfrm xmlns:a="http://schemas.openxmlformats.org/drawingml/2006/main">
            <a:off x="7629525" y="2447925"/>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7242E"/>
                </a:solidFill>
                <a:latin typeface="Arial"/>
                <a:ea typeface="Arial"/>
                <a:cs typeface="Arial"/>
              </a:defRPr>
            </a:pPr>
            <a:r>
              <a:rPr sz="1200" b="0">
                <a:solidFill>
                  <a:srgbClr val="17242E"/>
                </a:solidFill>
                <a:latin typeface="Arial"/>
                <a:ea typeface="Arial"/>
                <a:cs typeface="Arial"/>
              </a:rPr>
              <a:t>8 s • bước 2 s</a:t>
            </a:r>
          </a:p>
          <a:p xmlns:a="http://schemas.openxmlformats.org/drawingml/2006/main">
            <a:pPr algn="ctr">
              <a:defRPr sz="1200" b="0">
                <a:solidFill>
                  <a:srgbClr val="17242E"/>
                </a:solidFill>
                <a:latin typeface="Arial"/>
                <a:ea typeface="Arial"/>
                <a:cs typeface="Arial"/>
              </a:defRPr>
            </a:pPr>
            <a:r>
              <a:rPr sz="1200" b="0">
                <a:solidFill>
                  <a:srgbClr val="17242E"/>
                </a:solidFill>
                <a:latin typeface="Arial"/>
                <a:ea typeface="Arial"/>
                <a:cs typeface="Arial"/>
              </a:rPr>
              <a:t>purity ≥90%</a:t>
            </a:r>
          </a:p>
        </p:txBody>
      </p:sp>
      <p:sp>
        <p:nvSpPr>
          <p:cNvPr id="23" name="">
            <a:extLst xmlns:a="http://schemas.openxmlformats.org/drawingml/2006/main">
              <a:ext uri="{FF2B5EF4-FFF2-40B4-BE49-F238E27FC236}">
                <a16:creationId xmlns:a16="http://schemas.microsoft.com/office/drawing/2014/main" id="{41F2C719-0F46-42F5-8C12-6E112FF8BD20}"/>
              </a:ext>
            </a:extLst>
          </p:cNvPr>
          <p:cNvSpPr>
            <a:spLocks xmlns:a="http://schemas.openxmlformats.org/drawingml/2006/main" noGrp="1"/>
          </p:cNvSpPr>
          <p:nvPr/>
        </p:nvSpPr>
        <p:spPr>
          <a:xfrm xmlns:a="http://schemas.openxmlformats.org/drawingml/2006/main">
            <a:off x="9382125" y="2143125"/>
            <a:ext cx="314325" cy="333375"/>
          </a:xfrm>
          <a:prstGeom xmlns:a="http://schemas.openxmlformats.org/drawingml/2006/main" prst="rightArrow">
            <a:avLst/>
          </a:prstGeom>
          <a:solidFill xmlns:a="http://schemas.openxmlformats.org/drawingml/2006/main">
            <a:srgbClr val="A9BAC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39BCED3-DD3D-4346-8616-026DC9F79059}"/>
              </a:ext>
            </a:extLst>
          </p:cNvPr>
          <p:cNvSpPr>
            <a:spLocks xmlns:a="http://schemas.openxmlformats.org/drawingml/2006/main" noGrp="1"/>
          </p:cNvSpPr>
          <p:nvPr/>
        </p:nvSpPr>
        <p:spPr>
          <a:xfrm xmlns:a="http://schemas.openxmlformats.org/drawingml/2006/main">
            <a:off x="9791700" y="1581150"/>
            <a:ext cx="1857375" cy="1562100"/>
          </a:xfrm>
          <a:prstGeom xmlns:a="http://schemas.openxmlformats.org/drawingml/2006/main" prst="roundRect">
            <a:avLst>
              <a:gd name="adj" fmla="val 7317"/>
            </a:avLst>
          </a:prstGeom>
          <a:solidFill xmlns:a="http://schemas.openxmlformats.org/drawingml/2006/main">
            <a:srgbClr val="103A5C"/>
          </a:solidFill>
          <a:ln xmlns:a="http://schemas.openxmlformats.org/drawingml/2006/main" w="9525">
            <a:solidFill>
              <a:srgbClr val="103A5C"/>
            </a:solidFill>
          </a:ln>
        </p:spPr>
      </p:sp>
      <p:sp>
        <p:nvSpPr>
          <p:cNvPr id="25" name="">
            <a:extLst xmlns:a="http://schemas.openxmlformats.org/drawingml/2006/main">
              <a:ext uri="{FF2B5EF4-FFF2-40B4-BE49-F238E27FC236}">
                <a16:creationId xmlns:a16="http://schemas.microsoft.com/office/drawing/2014/main" id="{5912F677-CC23-4F59-ABA7-24F614CAA9CF}"/>
              </a:ext>
            </a:extLst>
          </p:cNvPr>
          <p:cNvSpPr>
            <a:spLocks xmlns:a="http://schemas.openxmlformats.org/drawingml/2006/main" noGrp="1"/>
          </p:cNvSpPr>
          <p:nvPr/>
        </p:nvSpPr>
        <p:spPr>
          <a:xfrm xmlns:a="http://schemas.openxmlformats.org/drawingml/2006/main">
            <a:off x="9925050" y="1695450"/>
            <a:ext cx="342900" cy="342900"/>
          </a:xfrm>
          <a:prstGeom xmlns:a="http://schemas.openxmlformats.org/drawingml/2006/main" prst="rect">
            <a:avLst/>
          </a:prstGeom>
          <a:solidFill xmlns:a="http://schemas.openxmlformats.org/drawingml/2006/main">
            <a:srgbClr val="D32F2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747CC54E-BD0D-42FD-A8C8-93A5E754B97F}"/>
              </a:ext>
            </a:extLst>
          </p:cNvPr>
          <p:cNvSpPr>
            <a:spLocks xmlns:a="http://schemas.openxmlformats.org/drawingml/2006/main" noGrp="1"/>
          </p:cNvSpPr>
          <p:nvPr/>
        </p:nvSpPr>
        <p:spPr>
          <a:xfrm xmlns:a="http://schemas.openxmlformats.org/drawingml/2006/main">
            <a:off x="9963150" y="20764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Artifact</a:t>
            </a:r>
          </a:p>
        </p:txBody>
      </p:sp>
      <p:sp>
        <p:nvSpPr>
          <p:cNvPr id="27" name="">
            <a:extLst xmlns:a="http://schemas.openxmlformats.org/drawingml/2006/main">
              <a:ext uri="{FF2B5EF4-FFF2-40B4-BE49-F238E27FC236}">
                <a16:creationId xmlns:a16="http://schemas.microsoft.com/office/drawing/2014/main" id="{39549402-B6AE-4F26-BEE9-90E9AAC32D5E}"/>
              </a:ext>
            </a:extLst>
          </p:cNvPr>
          <p:cNvSpPr>
            <a:spLocks xmlns:a="http://schemas.openxmlformats.org/drawingml/2006/main" noGrp="1"/>
          </p:cNvSpPr>
          <p:nvPr/>
        </p:nvSpPr>
        <p:spPr>
          <a:xfrm xmlns:a="http://schemas.openxmlformats.org/drawingml/2006/main">
            <a:off x="9925050" y="2447925"/>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DDEBF2"/>
                </a:solidFill>
                <a:latin typeface="Arial"/>
                <a:ea typeface="Arial"/>
                <a:cs typeface="Arial"/>
              </a:defRPr>
            </a:pPr>
            <a:r>
              <a:rPr sz="1200" b="0">
                <a:solidFill>
                  <a:srgbClr val="DDEBF2"/>
                </a:solidFill>
                <a:latin typeface="Arial"/>
                <a:ea typeface="Arial"/>
                <a:cs typeface="Arial"/>
              </a:rPr>
              <a:t>NPZ + CSV</a:t>
            </a:r>
          </a:p>
          <a:p xmlns:a="http://schemas.openxmlformats.org/drawingml/2006/main">
            <a:pPr algn="ctr">
              <a:defRPr sz="1200" b="0">
                <a:solidFill>
                  <a:srgbClr val="DDEBF2"/>
                </a:solidFill>
                <a:latin typeface="Arial"/>
                <a:ea typeface="Arial"/>
                <a:cs typeface="Arial"/>
              </a:defRPr>
            </a:pPr>
            <a:r>
              <a:rPr sz="1200" b="0">
                <a:solidFill>
                  <a:srgbClr val="DDEBF2"/>
                </a:solidFill>
                <a:latin typeface="Arial"/>
                <a:ea typeface="Arial"/>
                <a:cs typeface="Arial"/>
              </a:rPr>
              <a:t>manifest + audit</a:t>
            </a:r>
          </a:p>
        </p:txBody>
      </p:sp>
      <p:sp>
        <p:nvSpPr>
          <p:cNvPr id="28" name="">
            <a:extLst xmlns:a="http://schemas.openxmlformats.org/drawingml/2006/main">
              <a:ext uri="{FF2B5EF4-FFF2-40B4-BE49-F238E27FC236}">
                <a16:creationId xmlns:a16="http://schemas.microsoft.com/office/drawing/2014/main" id="{BF8E8DFB-758A-47E9-A72A-3F82C8343455}"/>
              </a:ext>
            </a:extLst>
          </p:cNvPr>
          <p:cNvSpPr>
            <a:spLocks xmlns:a="http://schemas.openxmlformats.org/drawingml/2006/main" noGrp="1"/>
          </p:cNvSpPr>
          <p:nvPr/>
        </p:nvSpPr>
        <p:spPr>
          <a:xfrm xmlns:a="http://schemas.openxmlformats.org/drawingml/2006/main">
            <a:off x="742950" y="37147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625" b="1">
                <a:solidFill>
                  <a:srgbClr val="103A5C"/>
                </a:solidFill>
                <a:latin typeface="Arial"/>
                <a:ea typeface="Arial"/>
                <a:cs typeface="Arial"/>
              </a:defRPr>
            </a:pPr>
            <a:r>
              <a:rPr sz="2625" b="1">
                <a:solidFill>
                  <a:srgbClr val="103A5C"/>
                </a:solidFill>
                <a:latin typeface="Arial"/>
                <a:ea typeface="Arial"/>
                <a:cs typeface="Arial"/>
              </a:rPr>
              <a:t>43.385</a:t>
            </a:r>
          </a:p>
        </p:txBody>
      </p:sp>
      <p:sp>
        <p:nvSpPr>
          <p:cNvPr id="29" name="">
            <a:extLst xmlns:a="http://schemas.openxmlformats.org/drawingml/2006/main">
              <a:ext uri="{FF2B5EF4-FFF2-40B4-BE49-F238E27FC236}">
                <a16:creationId xmlns:a16="http://schemas.microsoft.com/office/drawing/2014/main" id="{DF08CE84-6CB7-4EF3-8624-54AEE3CA15AE}"/>
              </a:ext>
            </a:extLst>
          </p:cNvPr>
          <p:cNvSpPr>
            <a:spLocks xmlns:a="http://schemas.openxmlformats.org/drawingml/2006/main" noGrp="1"/>
          </p:cNvSpPr>
          <p:nvPr/>
        </p:nvSpPr>
        <p:spPr>
          <a:xfrm xmlns:a="http://schemas.openxmlformats.org/drawingml/2006/main">
            <a:off x="742950" y="42862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5F6B73"/>
                </a:solidFill>
                <a:latin typeface="Arial"/>
                <a:ea typeface="Arial"/>
                <a:cs typeface="Arial"/>
              </a:defRPr>
            </a:pPr>
            <a:r>
              <a:rPr sz="1125" b="0">
                <a:solidFill>
                  <a:srgbClr val="5F6B73"/>
                </a:solidFill>
                <a:latin typeface="Arial"/>
                <a:ea typeface="Arial"/>
                <a:cs typeface="Arial"/>
              </a:rPr>
              <a:t>cửa sổ trước QC</a:t>
            </a:r>
          </a:p>
        </p:txBody>
      </p:sp>
      <p:sp>
        <p:nvSpPr>
          <p:cNvPr id="30" name="">
            <a:extLst xmlns:a="http://schemas.openxmlformats.org/drawingml/2006/main">
              <a:ext uri="{FF2B5EF4-FFF2-40B4-BE49-F238E27FC236}">
                <a16:creationId xmlns:a16="http://schemas.microsoft.com/office/drawing/2014/main" id="{87ED2AE9-3936-4A93-AC02-C55575FD7996}"/>
              </a:ext>
            </a:extLst>
          </p:cNvPr>
          <p:cNvSpPr>
            <a:spLocks xmlns:a="http://schemas.openxmlformats.org/drawingml/2006/main" noGrp="1"/>
          </p:cNvSpPr>
          <p:nvPr/>
        </p:nvSpPr>
        <p:spPr>
          <a:xfrm xmlns:a="http://schemas.openxmlformats.org/drawingml/2006/main">
            <a:off x="3457575" y="37147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625" b="1">
                <a:solidFill>
                  <a:srgbClr val="59A14F"/>
                </a:solidFill>
                <a:latin typeface="Arial"/>
                <a:ea typeface="Arial"/>
                <a:cs typeface="Arial"/>
              </a:defRPr>
            </a:pPr>
            <a:r>
              <a:rPr sz="2625" b="1">
                <a:solidFill>
                  <a:srgbClr val="59A14F"/>
                </a:solidFill>
                <a:latin typeface="Arial"/>
                <a:ea typeface="Arial"/>
                <a:cs typeface="Arial"/>
              </a:rPr>
              <a:t>16.422</a:t>
            </a:r>
          </a:p>
        </p:txBody>
      </p:sp>
      <p:sp>
        <p:nvSpPr>
          <p:cNvPr id="31" name="">
            <a:extLst xmlns:a="http://schemas.openxmlformats.org/drawingml/2006/main">
              <a:ext uri="{FF2B5EF4-FFF2-40B4-BE49-F238E27FC236}">
                <a16:creationId xmlns:a16="http://schemas.microsoft.com/office/drawing/2014/main" id="{9E78895E-02C0-4FEA-9656-32FB5E85ED12}"/>
              </a:ext>
            </a:extLst>
          </p:cNvPr>
          <p:cNvSpPr>
            <a:spLocks xmlns:a="http://schemas.openxmlformats.org/drawingml/2006/main" noGrp="1"/>
          </p:cNvSpPr>
          <p:nvPr/>
        </p:nvSpPr>
        <p:spPr>
          <a:xfrm xmlns:a="http://schemas.openxmlformats.org/drawingml/2006/main">
            <a:off x="3457575" y="42862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5F6B73"/>
                </a:solidFill>
                <a:latin typeface="Arial"/>
                <a:ea typeface="Arial"/>
                <a:cs typeface="Arial"/>
              </a:defRPr>
            </a:pPr>
            <a:r>
              <a:rPr sz="1125" b="0">
                <a:solidFill>
                  <a:srgbClr val="5F6B73"/>
                </a:solidFill>
                <a:latin typeface="Arial"/>
                <a:ea typeface="Arial"/>
                <a:cs typeface="Arial"/>
              </a:rPr>
              <a:t>cửa sổ giữ lại</a:t>
            </a:r>
          </a:p>
        </p:txBody>
      </p:sp>
      <p:sp>
        <p:nvSpPr>
          <p:cNvPr id="32" name="">
            <a:extLst xmlns:a="http://schemas.openxmlformats.org/drawingml/2006/main">
              <a:ext uri="{FF2B5EF4-FFF2-40B4-BE49-F238E27FC236}">
                <a16:creationId xmlns:a16="http://schemas.microsoft.com/office/drawing/2014/main" id="{DE434193-8C21-40FF-AB23-1D1DBB68CF0C}"/>
              </a:ext>
            </a:extLst>
          </p:cNvPr>
          <p:cNvSpPr>
            <a:spLocks xmlns:a="http://schemas.openxmlformats.org/drawingml/2006/main" noGrp="1"/>
          </p:cNvSpPr>
          <p:nvPr/>
        </p:nvSpPr>
        <p:spPr>
          <a:xfrm xmlns:a="http://schemas.openxmlformats.org/drawingml/2006/main">
            <a:off x="6172200" y="37147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625" b="1">
                <a:solidFill>
                  <a:srgbClr val="103A5C"/>
                </a:solidFill>
                <a:latin typeface="Arial"/>
                <a:ea typeface="Arial"/>
                <a:cs typeface="Arial"/>
              </a:defRPr>
            </a:pPr>
            <a:r>
              <a:rPr sz="2625" b="1">
                <a:solidFill>
                  <a:srgbClr val="103A5C"/>
                </a:solidFill>
                <a:latin typeface="Arial"/>
                <a:ea typeface="Arial"/>
                <a:cs typeface="Arial"/>
              </a:rPr>
              <a:t>225</a:t>
            </a:r>
          </a:p>
        </p:txBody>
      </p:sp>
      <p:sp>
        <p:nvSpPr>
          <p:cNvPr id="33" name="">
            <a:extLst xmlns:a="http://schemas.openxmlformats.org/drawingml/2006/main">
              <a:ext uri="{FF2B5EF4-FFF2-40B4-BE49-F238E27FC236}">
                <a16:creationId xmlns:a16="http://schemas.microsoft.com/office/drawing/2014/main" id="{630C4598-DF99-4913-BB10-ADD980182E3C}"/>
              </a:ext>
            </a:extLst>
          </p:cNvPr>
          <p:cNvSpPr>
            <a:spLocks xmlns:a="http://schemas.openxmlformats.org/drawingml/2006/main" noGrp="1"/>
          </p:cNvSpPr>
          <p:nvPr/>
        </p:nvSpPr>
        <p:spPr>
          <a:xfrm xmlns:a="http://schemas.openxmlformats.org/drawingml/2006/main">
            <a:off x="6172200" y="42862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5F6B73"/>
                </a:solidFill>
                <a:latin typeface="Arial"/>
                <a:ea typeface="Arial"/>
                <a:cs typeface="Arial"/>
              </a:defRPr>
            </a:pPr>
            <a:r>
              <a:rPr sz="1125" b="0">
                <a:solidFill>
                  <a:srgbClr val="5F6B73"/>
                </a:solidFill>
                <a:latin typeface="Arial"/>
                <a:ea typeface="Arial"/>
                <a:cs typeface="Arial"/>
              </a:rPr>
              <a:t>cửa sổ xem QC</a:t>
            </a:r>
          </a:p>
        </p:txBody>
      </p:sp>
      <p:sp>
        <p:nvSpPr>
          <p:cNvPr id="34" name="">
            <a:extLst xmlns:a="http://schemas.openxmlformats.org/drawingml/2006/main">
              <a:ext uri="{FF2B5EF4-FFF2-40B4-BE49-F238E27FC236}">
                <a16:creationId xmlns:a16="http://schemas.microsoft.com/office/drawing/2014/main" id="{CB9CF893-E0F3-41B7-885F-927BF66645D2}"/>
              </a:ext>
            </a:extLst>
          </p:cNvPr>
          <p:cNvSpPr>
            <a:spLocks xmlns:a="http://schemas.openxmlformats.org/drawingml/2006/main" noGrp="1"/>
          </p:cNvSpPr>
          <p:nvPr/>
        </p:nvSpPr>
        <p:spPr>
          <a:xfrm xmlns:a="http://schemas.openxmlformats.org/drawingml/2006/main">
            <a:off x="8886825" y="37147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625" b="1">
                <a:solidFill>
                  <a:srgbClr val="103A5C"/>
                </a:solidFill>
                <a:latin typeface="Arial"/>
                <a:ea typeface="Arial"/>
                <a:cs typeface="Arial"/>
              </a:defRPr>
            </a:pPr>
            <a:r>
              <a:rPr sz="2625" b="1">
                <a:solidFill>
                  <a:srgbClr val="103A5C"/>
                </a:solidFill>
                <a:latin typeface="Arial"/>
                <a:ea typeface="Arial"/>
                <a:cs typeface="Arial"/>
              </a:rPr>
              <a:t>17</a:t>
            </a:r>
          </a:p>
        </p:txBody>
      </p:sp>
      <p:sp>
        <p:nvSpPr>
          <p:cNvPr id="35" name="">
            <a:extLst xmlns:a="http://schemas.openxmlformats.org/drawingml/2006/main">
              <a:ext uri="{FF2B5EF4-FFF2-40B4-BE49-F238E27FC236}">
                <a16:creationId xmlns:a16="http://schemas.microsoft.com/office/drawing/2014/main" id="{8AB68579-B53F-41C9-83FE-03B702842064}"/>
              </a:ext>
            </a:extLst>
          </p:cNvPr>
          <p:cNvSpPr>
            <a:spLocks xmlns:a="http://schemas.openxmlformats.org/drawingml/2006/main" noGrp="1"/>
          </p:cNvSpPr>
          <p:nvPr/>
        </p:nvSpPr>
        <p:spPr>
          <a:xfrm xmlns:a="http://schemas.openxmlformats.org/drawingml/2006/main">
            <a:off x="8886825" y="42862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5F6B73"/>
                </a:solidFill>
                <a:latin typeface="Arial"/>
                <a:ea typeface="Arial"/>
                <a:cs typeface="Arial"/>
              </a:defRPr>
            </a:pPr>
            <a:r>
              <a:rPr sz="1125" b="0">
                <a:solidFill>
                  <a:srgbClr val="5F6B73"/>
                </a:solidFill>
                <a:latin typeface="Arial"/>
                <a:ea typeface="Arial"/>
                <a:cs typeface="Arial"/>
              </a:rPr>
              <a:t>cửa sổ gắn cờ đã vẽ</a:t>
            </a:r>
          </a:p>
        </p:txBody>
      </p:sp>
      <p:sp>
        <p:nvSpPr>
          <p:cNvPr id="36" name="">
            <a:extLst xmlns:a="http://schemas.openxmlformats.org/drawingml/2006/main">
              <a:ext uri="{FF2B5EF4-FFF2-40B4-BE49-F238E27FC236}">
                <a16:creationId xmlns:a16="http://schemas.microsoft.com/office/drawing/2014/main" id="{74A8CFF6-27A4-45FB-A7F0-EC655A2EF019}"/>
              </a:ext>
            </a:extLst>
          </p:cNvPr>
          <p:cNvSpPr>
            <a:spLocks xmlns:a="http://schemas.openxmlformats.org/drawingml/2006/main" noGrp="1"/>
          </p:cNvSpPr>
          <p:nvPr/>
        </p:nvSpPr>
        <p:spPr>
          <a:xfrm xmlns:a="http://schemas.openxmlformats.org/drawingml/2006/main">
            <a:off x="876300" y="50482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D32F2F"/>
                </a:solidFill>
                <a:latin typeface="Arial"/>
                <a:ea typeface="Arial"/>
                <a:cs typeface="Arial"/>
              </a:defRPr>
            </a:pPr>
            <a:r>
              <a:rPr sz="1575" b="1">
                <a:solidFill>
                  <a:srgbClr val="D32F2F"/>
                </a:solidFill>
                <a:latin typeface="Arial"/>
                <a:ea typeface="Arial"/>
                <a:cs typeface="Arial"/>
              </a:rPr>
              <a:t>QC scope ≠ nhiễu: 26.812 cửa sổ ngoài điều kiện nghiên cứu được tách riêng.</a:t>
            </a:r>
          </a:p>
        </p:txBody>
      </p:sp>
      <p:sp>
        <p:nvSpPr>
          <p:cNvPr id="37" name="">
            <a:extLst xmlns:a="http://schemas.openxmlformats.org/drawingml/2006/main">
              <a:ext uri="{FF2B5EF4-FFF2-40B4-BE49-F238E27FC236}">
                <a16:creationId xmlns:a16="http://schemas.microsoft.com/office/drawing/2014/main" id="{1B524BD5-8B14-4625-8DC9-345BA6BDF439}"/>
              </a:ext>
            </a:extLst>
          </p:cNvPr>
          <p:cNvSpPr>
            <a:spLocks xmlns:a="http://schemas.openxmlformats.org/drawingml/2006/main" noGrp="1"/>
          </p:cNvSpPr>
          <p:nvPr/>
        </p:nvSpPr>
        <p:spPr>
          <a:xfrm xmlns:a="http://schemas.openxmlformats.org/drawingml/2006/main">
            <a:off x="876300" y="5505450"/>
            <a:ext cx="9906000" cy="342900"/>
          </a:xfrm>
          <a:prstGeom xmlns:a="http://schemas.openxmlformats.org/drawingml/2006/main" prst="rect">
            <a:avLst/>
          </a:prstGeom>
          <a:solidFill xmlns:a="http://schemas.openxmlformats.org/drawingml/2006/main">
            <a:srgbClr val="F6F8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7242E"/>
                </a:solidFill>
                <a:latin typeface="Arial"/>
                <a:ea typeface="Arial"/>
                <a:cs typeface="Arial"/>
              </a:defRPr>
            </a:pPr>
            <a:r>
              <a:rPr sz="1350" b="0">
                <a:solidFill>
                  <a:srgbClr val="17242E"/>
                </a:solidFill>
                <a:latin typeface="Arial"/>
                <a:ea typeface="Arial"/>
                <a:cs typeface="Arial"/>
              </a:rPr>
              <a:t>Detector ECG là thuật toán thích nghi theo cực tính; không gọi là Pan–Tompkins.</a:t>
            </a:r>
          </a:p>
        </p:txBody>
      </p:sp>
      <p:sp>
        <p:nvSpPr>
          <p:cNvPr id="38" name="">
            <a:extLst xmlns:a="http://schemas.openxmlformats.org/drawingml/2006/main">
              <a:ext uri="{FF2B5EF4-FFF2-40B4-BE49-F238E27FC236}">
                <a16:creationId xmlns:a16="http://schemas.microsoft.com/office/drawing/2014/main" id="{2FF958AE-4636-4A5E-B8FA-9B035F38BC4F}"/>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39" name="">
            <a:extLst xmlns:a="http://schemas.openxmlformats.org/drawingml/2006/main">
              <a:ext uri="{FF2B5EF4-FFF2-40B4-BE49-F238E27FC236}">
                <a16:creationId xmlns:a16="http://schemas.microsoft.com/office/drawing/2014/main" id="{A72C23B3-4C4E-4FB1-99BA-B621A282405D}"/>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40" name="">
            <a:extLst xmlns:a="http://schemas.openxmlformats.org/drawingml/2006/main">
              <a:ext uri="{FF2B5EF4-FFF2-40B4-BE49-F238E27FC236}">
                <a16:creationId xmlns:a16="http://schemas.microsoft.com/office/drawing/2014/main" id="{2509545E-9073-44F4-8238-FBF33B294DB0}"/>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03</a:t>
            </a:r>
          </a:p>
        </p:txBody>
      </p:sp>
    </p:spTree>
    <p:extLst>
      <p:ext uri="{BB962C8B-B14F-4D97-AF65-F5344CB8AC3E}">
        <p14:creationId xmlns:p14="http://schemas.microsoft.com/office/powerpoint/2010/main" val="15376843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D2ADA27-FB29-4C16-84AD-9E77D6C5C4F8}"/>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CNN 1-D gọn nhẹ</a:t>
            </a:r>
          </a:p>
        </p:txBody>
      </p:sp>
      <p:sp>
        <p:nvSpPr>
          <p:cNvPr id="2" name="">
            <a:extLst xmlns:a="http://schemas.openxmlformats.org/drawingml/2006/main">
              <a:ext uri="{FF2B5EF4-FFF2-40B4-BE49-F238E27FC236}">
                <a16:creationId xmlns:a16="http://schemas.microsoft.com/office/drawing/2014/main" id="{A7EC5DFD-69ED-46DB-9E43-1A37452AA1B2}"/>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EF02E1-94B1-4289-A838-C62C9329C0D6}"/>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Ba khối tích chập + global pooling + head hồi quy</a:t>
            </a:r>
          </a:p>
        </p:txBody>
      </p:sp>
      <p:sp>
        <p:nvSpPr>
          <p:cNvPr id="4" name="">
            <a:extLst xmlns:a="http://schemas.openxmlformats.org/drawingml/2006/main">
              <a:ext uri="{FF2B5EF4-FFF2-40B4-BE49-F238E27FC236}">
                <a16:creationId xmlns:a16="http://schemas.microsoft.com/office/drawing/2014/main" id="{273B61BB-9673-4A2A-A991-BAC2664B0810}"/>
              </a:ext>
            </a:extLst>
          </p:cNvPr>
          <p:cNvSpPr>
            <a:spLocks xmlns:a="http://schemas.openxmlformats.org/drawingml/2006/main" noGrp="1"/>
          </p:cNvSpPr>
          <p:nvPr/>
        </p:nvSpPr>
        <p:spPr>
          <a:xfrm xmlns:a="http://schemas.openxmlformats.org/drawingml/2006/main">
            <a:off x="571500" y="2133600"/>
            <a:ext cx="1238250" cy="1295400"/>
          </a:xfrm>
          <a:prstGeom xmlns:a="http://schemas.openxmlformats.org/drawingml/2006/main" prst="roundRect">
            <a:avLst>
              <a:gd name="adj" fmla="val 9231"/>
            </a:avLst>
          </a:prstGeom>
          <a:solidFill xmlns:a="http://schemas.openxmlformats.org/drawingml/2006/main">
            <a:srgbClr val="EAF3F8"/>
          </a:solidFill>
          <a:ln xmlns:a="http://schemas.openxmlformats.org/drawingml/2006/main" w="9525">
            <a:solidFill>
              <a:srgbClr val="7A9CB0"/>
            </a:solidFill>
          </a:ln>
        </p:spPr>
      </p:sp>
      <p:sp>
        <p:nvSpPr>
          <p:cNvPr id="5" name="">
            <a:extLst xmlns:a="http://schemas.openxmlformats.org/drawingml/2006/main">
              <a:ext uri="{FF2B5EF4-FFF2-40B4-BE49-F238E27FC236}">
                <a16:creationId xmlns:a16="http://schemas.microsoft.com/office/drawing/2014/main" id="{DF0DE74F-2B35-4A13-85DA-5BEEB127DDBE}"/>
              </a:ext>
            </a:extLst>
          </p:cNvPr>
          <p:cNvSpPr>
            <a:spLocks xmlns:a="http://schemas.openxmlformats.org/drawingml/2006/main" noGrp="1"/>
          </p:cNvSpPr>
          <p:nvPr/>
        </p:nvSpPr>
        <p:spPr>
          <a:xfrm xmlns:a="http://schemas.openxmlformats.org/drawingml/2006/main">
            <a:off x="666750" y="2305050"/>
            <a:ext cx="104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7242E"/>
                </a:solidFill>
                <a:latin typeface="Arial"/>
                <a:ea typeface="Arial"/>
                <a:cs typeface="Arial"/>
              </a:defRPr>
            </a:pPr>
            <a:r>
              <a:rPr sz="1800" b="1">
                <a:solidFill>
                  <a:srgbClr val="17242E"/>
                </a:solidFill>
                <a:latin typeface="Arial"/>
                <a:ea typeface="Arial"/>
                <a:cs typeface="Arial"/>
              </a:rPr>
              <a:t>BVP</a:t>
            </a:r>
          </a:p>
        </p:txBody>
      </p:sp>
      <p:sp>
        <p:nvSpPr>
          <p:cNvPr id="6" name="">
            <a:extLst xmlns:a="http://schemas.openxmlformats.org/drawingml/2006/main">
              <a:ext uri="{FF2B5EF4-FFF2-40B4-BE49-F238E27FC236}">
                <a16:creationId xmlns:a16="http://schemas.microsoft.com/office/drawing/2014/main" id="{852831B5-CCC8-4A35-8601-EE861D2D844E}"/>
              </a:ext>
            </a:extLst>
          </p:cNvPr>
          <p:cNvSpPr>
            <a:spLocks xmlns:a="http://schemas.openxmlformats.org/drawingml/2006/main" noGrp="1"/>
          </p:cNvSpPr>
          <p:nvPr/>
        </p:nvSpPr>
        <p:spPr>
          <a:xfrm xmlns:a="http://schemas.openxmlformats.org/drawingml/2006/main">
            <a:off x="666750" y="2762250"/>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7242E"/>
                </a:solidFill>
                <a:latin typeface="Arial"/>
                <a:ea typeface="Arial"/>
                <a:cs typeface="Arial"/>
              </a:defRPr>
            </a:pPr>
            <a:r>
              <a:rPr sz="1275" b="0">
                <a:solidFill>
                  <a:srgbClr val="17242E"/>
                </a:solidFill>
                <a:latin typeface="Arial"/>
                <a:ea typeface="Arial"/>
                <a:cs typeface="Arial"/>
              </a:rPr>
              <a:t>1×256</a:t>
            </a:r>
          </a:p>
        </p:txBody>
      </p:sp>
      <p:sp>
        <p:nvSpPr>
          <p:cNvPr id="7" name="">
            <a:extLst xmlns:a="http://schemas.openxmlformats.org/drawingml/2006/main">
              <a:ext uri="{FF2B5EF4-FFF2-40B4-BE49-F238E27FC236}">
                <a16:creationId xmlns:a16="http://schemas.microsoft.com/office/drawing/2014/main" id="{95D3C83F-77B1-4237-9DFD-737922AD1352}"/>
              </a:ext>
            </a:extLst>
          </p:cNvPr>
          <p:cNvSpPr>
            <a:spLocks xmlns:a="http://schemas.openxmlformats.org/drawingml/2006/main" noGrp="1"/>
          </p:cNvSpPr>
          <p:nvPr/>
        </p:nvSpPr>
        <p:spPr>
          <a:xfrm xmlns:a="http://schemas.openxmlformats.org/drawingml/2006/main">
            <a:off x="1876425" y="2571750"/>
            <a:ext cx="285750" cy="323850"/>
          </a:xfrm>
          <a:prstGeom xmlns:a="http://schemas.openxmlformats.org/drawingml/2006/main" prst="rightArrow">
            <a:avLst/>
          </a:prstGeom>
          <a:solidFill xmlns:a="http://schemas.openxmlformats.org/drawingml/2006/main">
            <a:srgbClr val="AAB9C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E8C6AD-F0FA-48D8-ADB1-058AC52D4C39}"/>
              </a:ext>
            </a:extLst>
          </p:cNvPr>
          <p:cNvSpPr>
            <a:spLocks xmlns:a="http://schemas.openxmlformats.org/drawingml/2006/main" noGrp="1"/>
          </p:cNvSpPr>
          <p:nvPr/>
        </p:nvSpPr>
        <p:spPr>
          <a:xfrm xmlns:a="http://schemas.openxmlformats.org/drawingml/2006/main">
            <a:off x="2152650" y="2133600"/>
            <a:ext cx="1524000" cy="1295400"/>
          </a:xfrm>
          <a:prstGeom xmlns:a="http://schemas.openxmlformats.org/drawingml/2006/main" prst="roundRect">
            <a:avLst>
              <a:gd name="adj" fmla="val 8824"/>
            </a:avLst>
          </a:prstGeom>
          <a:solidFill xmlns:a="http://schemas.openxmlformats.org/drawingml/2006/main">
            <a:srgbClr val="CFE5F2"/>
          </a:solidFill>
          <a:ln xmlns:a="http://schemas.openxmlformats.org/drawingml/2006/main" w="9525">
            <a:solidFill>
              <a:srgbClr val="7A9CB0"/>
            </a:solidFill>
          </a:ln>
        </p:spPr>
      </p:sp>
      <p:sp>
        <p:nvSpPr>
          <p:cNvPr id="9" name="">
            <a:extLst xmlns:a="http://schemas.openxmlformats.org/drawingml/2006/main">
              <a:ext uri="{FF2B5EF4-FFF2-40B4-BE49-F238E27FC236}">
                <a16:creationId xmlns:a16="http://schemas.microsoft.com/office/drawing/2014/main" id="{1F760D00-6420-46ED-A028-68D8CAE78C52}"/>
              </a:ext>
            </a:extLst>
          </p:cNvPr>
          <p:cNvSpPr>
            <a:spLocks xmlns:a="http://schemas.openxmlformats.org/drawingml/2006/main" noGrp="1"/>
          </p:cNvSpPr>
          <p:nvPr/>
        </p:nvSpPr>
        <p:spPr>
          <a:xfrm xmlns:a="http://schemas.openxmlformats.org/drawingml/2006/main">
            <a:off x="2247900" y="230505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03A5C"/>
                </a:solidFill>
                <a:latin typeface="Arial"/>
                <a:ea typeface="Arial"/>
                <a:cs typeface="Arial"/>
              </a:defRPr>
            </a:pPr>
            <a:r>
              <a:rPr sz="1800" b="1">
                <a:solidFill>
                  <a:srgbClr val="103A5C"/>
                </a:solidFill>
                <a:latin typeface="Arial"/>
                <a:ea typeface="Arial"/>
                <a:cs typeface="Arial"/>
              </a:rPr>
              <a:t>Conv1</a:t>
            </a:r>
          </a:p>
        </p:txBody>
      </p:sp>
      <p:sp>
        <p:nvSpPr>
          <p:cNvPr id="10" name="">
            <a:extLst xmlns:a="http://schemas.openxmlformats.org/drawingml/2006/main">
              <a:ext uri="{FF2B5EF4-FFF2-40B4-BE49-F238E27FC236}">
                <a16:creationId xmlns:a16="http://schemas.microsoft.com/office/drawing/2014/main" id="{5E4C2363-A260-4472-892C-DC5C61295E8A}"/>
              </a:ext>
            </a:extLst>
          </p:cNvPr>
          <p:cNvSpPr>
            <a:spLocks xmlns:a="http://schemas.openxmlformats.org/drawingml/2006/main" noGrp="1"/>
          </p:cNvSpPr>
          <p:nvPr/>
        </p:nvSpPr>
        <p:spPr>
          <a:xfrm xmlns:a="http://schemas.openxmlformats.org/drawingml/2006/main">
            <a:off x="2247900" y="27622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03A5C"/>
                </a:solidFill>
                <a:latin typeface="Arial"/>
                <a:ea typeface="Arial"/>
                <a:cs typeface="Arial"/>
              </a:defRPr>
            </a:pPr>
            <a:r>
              <a:rPr sz="1275" b="0">
                <a:solidFill>
                  <a:srgbClr val="103A5C"/>
                </a:solidFill>
                <a:latin typeface="Arial"/>
                <a:ea typeface="Arial"/>
                <a:cs typeface="Arial"/>
              </a:rPr>
              <a:t>16×128</a:t>
            </a:r>
          </a:p>
        </p:txBody>
      </p:sp>
      <p:sp>
        <p:nvSpPr>
          <p:cNvPr id="11" name="">
            <a:extLst xmlns:a="http://schemas.openxmlformats.org/drawingml/2006/main">
              <a:ext uri="{FF2B5EF4-FFF2-40B4-BE49-F238E27FC236}">
                <a16:creationId xmlns:a16="http://schemas.microsoft.com/office/drawing/2014/main" id="{B6E02500-914F-4C78-8DC3-EFFEA60F80DA}"/>
              </a:ext>
            </a:extLst>
          </p:cNvPr>
          <p:cNvSpPr>
            <a:spLocks xmlns:a="http://schemas.openxmlformats.org/drawingml/2006/main" noGrp="1"/>
          </p:cNvSpPr>
          <p:nvPr/>
        </p:nvSpPr>
        <p:spPr>
          <a:xfrm xmlns:a="http://schemas.openxmlformats.org/drawingml/2006/main">
            <a:off x="3743325" y="2571750"/>
            <a:ext cx="285750" cy="323850"/>
          </a:xfrm>
          <a:prstGeom xmlns:a="http://schemas.openxmlformats.org/drawingml/2006/main" prst="rightArrow">
            <a:avLst/>
          </a:prstGeom>
          <a:solidFill xmlns:a="http://schemas.openxmlformats.org/drawingml/2006/main">
            <a:srgbClr val="AAB9C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59DE0E-8313-4C26-9E35-4D63D26A0B7F}"/>
              </a:ext>
            </a:extLst>
          </p:cNvPr>
          <p:cNvSpPr>
            <a:spLocks xmlns:a="http://schemas.openxmlformats.org/drawingml/2006/main" noGrp="1"/>
          </p:cNvSpPr>
          <p:nvPr/>
        </p:nvSpPr>
        <p:spPr>
          <a:xfrm xmlns:a="http://schemas.openxmlformats.org/drawingml/2006/main">
            <a:off x="4019550" y="2133600"/>
            <a:ext cx="1619250" cy="1295400"/>
          </a:xfrm>
          <a:prstGeom xmlns:a="http://schemas.openxmlformats.org/drawingml/2006/main" prst="roundRect">
            <a:avLst>
              <a:gd name="adj" fmla="val 8824"/>
            </a:avLst>
          </a:prstGeom>
          <a:solidFill xmlns:a="http://schemas.openxmlformats.org/drawingml/2006/main">
            <a:srgbClr val="A9D1E7"/>
          </a:solidFill>
          <a:ln xmlns:a="http://schemas.openxmlformats.org/drawingml/2006/main" w="9525">
            <a:solidFill>
              <a:srgbClr val="7A9CB0"/>
            </a:solidFill>
          </a:ln>
        </p:spPr>
      </p:sp>
      <p:sp>
        <p:nvSpPr>
          <p:cNvPr id="13" name="">
            <a:extLst xmlns:a="http://schemas.openxmlformats.org/drawingml/2006/main">
              <a:ext uri="{FF2B5EF4-FFF2-40B4-BE49-F238E27FC236}">
                <a16:creationId xmlns:a16="http://schemas.microsoft.com/office/drawing/2014/main" id="{2E680FD8-A8A5-4F96-A9A8-1AF773E9891B}"/>
              </a:ext>
            </a:extLst>
          </p:cNvPr>
          <p:cNvSpPr>
            <a:spLocks xmlns:a="http://schemas.openxmlformats.org/drawingml/2006/main" noGrp="1"/>
          </p:cNvSpPr>
          <p:nvPr/>
        </p:nvSpPr>
        <p:spPr>
          <a:xfrm xmlns:a="http://schemas.openxmlformats.org/drawingml/2006/main">
            <a:off x="4114800"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03A5C"/>
                </a:solidFill>
                <a:latin typeface="Arial"/>
                <a:ea typeface="Arial"/>
                <a:cs typeface="Arial"/>
              </a:defRPr>
            </a:pPr>
            <a:r>
              <a:rPr sz="1800" b="1">
                <a:solidFill>
                  <a:srgbClr val="103A5C"/>
                </a:solidFill>
                <a:latin typeface="Arial"/>
                <a:ea typeface="Arial"/>
                <a:cs typeface="Arial"/>
              </a:rPr>
              <a:t>Conv2</a:t>
            </a:r>
          </a:p>
        </p:txBody>
      </p:sp>
      <p:sp>
        <p:nvSpPr>
          <p:cNvPr id="14" name="">
            <a:extLst xmlns:a="http://schemas.openxmlformats.org/drawingml/2006/main">
              <a:ext uri="{FF2B5EF4-FFF2-40B4-BE49-F238E27FC236}">
                <a16:creationId xmlns:a16="http://schemas.microsoft.com/office/drawing/2014/main" id="{C310E80D-AAA3-46EA-90B9-294E3C3E5C92}"/>
              </a:ext>
            </a:extLst>
          </p:cNvPr>
          <p:cNvSpPr>
            <a:spLocks xmlns:a="http://schemas.openxmlformats.org/drawingml/2006/main" noGrp="1"/>
          </p:cNvSpPr>
          <p:nvPr/>
        </p:nvSpPr>
        <p:spPr>
          <a:xfrm xmlns:a="http://schemas.openxmlformats.org/drawingml/2006/main">
            <a:off x="4114800" y="27622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03A5C"/>
                </a:solidFill>
                <a:latin typeface="Arial"/>
                <a:ea typeface="Arial"/>
                <a:cs typeface="Arial"/>
              </a:defRPr>
            </a:pPr>
            <a:r>
              <a:rPr sz="1275" b="0">
                <a:solidFill>
                  <a:srgbClr val="103A5C"/>
                </a:solidFill>
                <a:latin typeface="Arial"/>
                <a:ea typeface="Arial"/>
                <a:cs typeface="Arial"/>
              </a:rPr>
              <a:t>32×64</a:t>
            </a:r>
          </a:p>
        </p:txBody>
      </p:sp>
      <p:sp>
        <p:nvSpPr>
          <p:cNvPr id="15" name="">
            <a:extLst xmlns:a="http://schemas.openxmlformats.org/drawingml/2006/main">
              <a:ext uri="{FF2B5EF4-FFF2-40B4-BE49-F238E27FC236}">
                <a16:creationId xmlns:a16="http://schemas.microsoft.com/office/drawing/2014/main" id="{319365C7-CF14-488F-A4DC-F348099B88BA}"/>
              </a:ext>
            </a:extLst>
          </p:cNvPr>
          <p:cNvSpPr>
            <a:spLocks xmlns:a="http://schemas.openxmlformats.org/drawingml/2006/main" noGrp="1"/>
          </p:cNvSpPr>
          <p:nvPr/>
        </p:nvSpPr>
        <p:spPr>
          <a:xfrm xmlns:a="http://schemas.openxmlformats.org/drawingml/2006/main">
            <a:off x="5705475" y="2571750"/>
            <a:ext cx="285750" cy="323850"/>
          </a:xfrm>
          <a:prstGeom xmlns:a="http://schemas.openxmlformats.org/drawingml/2006/main" prst="rightArrow">
            <a:avLst/>
          </a:prstGeom>
          <a:solidFill xmlns:a="http://schemas.openxmlformats.org/drawingml/2006/main">
            <a:srgbClr val="AAB9C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C28704E-053B-4D4A-AF21-7F3F35D82B00}"/>
              </a:ext>
            </a:extLst>
          </p:cNvPr>
          <p:cNvSpPr>
            <a:spLocks xmlns:a="http://schemas.openxmlformats.org/drawingml/2006/main" noGrp="1"/>
          </p:cNvSpPr>
          <p:nvPr/>
        </p:nvSpPr>
        <p:spPr>
          <a:xfrm xmlns:a="http://schemas.openxmlformats.org/drawingml/2006/main">
            <a:off x="5981700" y="2133600"/>
            <a:ext cx="1762125" cy="1295400"/>
          </a:xfrm>
          <a:prstGeom xmlns:a="http://schemas.openxmlformats.org/drawingml/2006/main" prst="roundRect">
            <a:avLst>
              <a:gd name="adj" fmla="val 8824"/>
            </a:avLst>
          </a:prstGeom>
          <a:solidFill xmlns:a="http://schemas.openxmlformats.org/drawingml/2006/main">
            <a:srgbClr val="74B1D1"/>
          </a:solidFill>
          <a:ln xmlns:a="http://schemas.openxmlformats.org/drawingml/2006/main" w="9525">
            <a:solidFill>
              <a:srgbClr val="7A9CB0"/>
            </a:solidFill>
          </a:ln>
        </p:spPr>
      </p:sp>
      <p:sp>
        <p:nvSpPr>
          <p:cNvPr id="17" name="">
            <a:extLst xmlns:a="http://schemas.openxmlformats.org/drawingml/2006/main">
              <a:ext uri="{FF2B5EF4-FFF2-40B4-BE49-F238E27FC236}">
                <a16:creationId xmlns:a16="http://schemas.microsoft.com/office/drawing/2014/main" id="{46A57AF3-0F82-4DAB-83BB-365402DFBFF3}"/>
              </a:ext>
            </a:extLst>
          </p:cNvPr>
          <p:cNvSpPr>
            <a:spLocks xmlns:a="http://schemas.openxmlformats.org/drawingml/2006/main" noGrp="1"/>
          </p:cNvSpPr>
          <p:nvPr/>
        </p:nvSpPr>
        <p:spPr>
          <a:xfrm xmlns:a="http://schemas.openxmlformats.org/drawingml/2006/main">
            <a:off x="6076950" y="2305050"/>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Conv3</a:t>
            </a:r>
          </a:p>
        </p:txBody>
      </p:sp>
      <p:sp>
        <p:nvSpPr>
          <p:cNvPr id="18" name="">
            <a:extLst xmlns:a="http://schemas.openxmlformats.org/drawingml/2006/main">
              <a:ext uri="{FF2B5EF4-FFF2-40B4-BE49-F238E27FC236}">
                <a16:creationId xmlns:a16="http://schemas.microsoft.com/office/drawing/2014/main" id="{8F6540BB-6A48-492E-9D3A-7118056B54A6}"/>
              </a:ext>
            </a:extLst>
          </p:cNvPr>
          <p:cNvSpPr>
            <a:spLocks xmlns:a="http://schemas.openxmlformats.org/drawingml/2006/main" noGrp="1"/>
          </p:cNvSpPr>
          <p:nvPr/>
        </p:nvSpPr>
        <p:spPr>
          <a:xfrm xmlns:a="http://schemas.openxmlformats.org/drawingml/2006/main">
            <a:off x="6076950" y="2762250"/>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FFFFF"/>
                </a:solidFill>
                <a:latin typeface="Arial"/>
                <a:ea typeface="Arial"/>
                <a:cs typeface="Arial"/>
              </a:defRPr>
            </a:pPr>
            <a:r>
              <a:rPr sz="1275" b="0">
                <a:solidFill>
                  <a:srgbClr val="FFFFFF"/>
                </a:solidFill>
                <a:latin typeface="Arial"/>
                <a:ea typeface="Arial"/>
                <a:cs typeface="Arial"/>
              </a:rPr>
              <a:t>64×32</a:t>
            </a:r>
          </a:p>
        </p:txBody>
      </p:sp>
      <p:sp>
        <p:nvSpPr>
          <p:cNvPr id="19" name="">
            <a:extLst xmlns:a="http://schemas.openxmlformats.org/drawingml/2006/main">
              <a:ext uri="{FF2B5EF4-FFF2-40B4-BE49-F238E27FC236}">
                <a16:creationId xmlns:a16="http://schemas.microsoft.com/office/drawing/2014/main" id="{6ED04E8F-9BEC-42AE-83B7-FD0A7FD8AA04}"/>
              </a:ext>
            </a:extLst>
          </p:cNvPr>
          <p:cNvSpPr>
            <a:spLocks xmlns:a="http://schemas.openxmlformats.org/drawingml/2006/main" noGrp="1"/>
          </p:cNvSpPr>
          <p:nvPr/>
        </p:nvSpPr>
        <p:spPr>
          <a:xfrm xmlns:a="http://schemas.openxmlformats.org/drawingml/2006/main">
            <a:off x="7810500" y="2571750"/>
            <a:ext cx="285750" cy="323850"/>
          </a:xfrm>
          <a:prstGeom xmlns:a="http://schemas.openxmlformats.org/drawingml/2006/main" prst="rightArrow">
            <a:avLst/>
          </a:prstGeom>
          <a:solidFill xmlns:a="http://schemas.openxmlformats.org/drawingml/2006/main">
            <a:srgbClr val="AAB9C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C4D0AD7-DBCA-46D2-A31C-F1FE6C2D02E0}"/>
              </a:ext>
            </a:extLst>
          </p:cNvPr>
          <p:cNvSpPr>
            <a:spLocks xmlns:a="http://schemas.openxmlformats.org/drawingml/2006/main" noGrp="1"/>
          </p:cNvSpPr>
          <p:nvPr/>
        </p:nvSpPr>
        <p:spPr>
          <a:xfrm xmlns:a="http://schemas.openxmlformats.org/drawingml/2006/main">
            <a:off x="8086725" y="2133600"/>
            <a:ext cx="1333500" cy="1295400"/>
          </a:xfrm>
          <a:prstGeom xmlns:a="http://schemas.openxmlformats.org/drawingml/2006/main" prst="roundRect">
            <a:avLst>
              <a:gd name="adj" fmla="val 8824"/>
            </a:avLst>
          </a:prstGeom>
          <a:solidFill xmlns:a="http://schemas.openxmlformats.org/drawingml/2006/main">
            <a:srgbClr val="1769AA"/>
          </a:solidFill>
          <a:ln xmlns:a="http://schemas.openxmlformats.org/drawingml/2006/main" w="9525">
            <a:solidFill>
              <a:srgbClr val="7A9CB0"/>
            </a:solidFill>
          </a:ln>
        </p:spPr>
      </p:sp>
      <p:sp>
        <p:nvSpPr>
          <p:cNvPr id="21" name="">
            <a:extLst xmlns:a="http://schemas.openxmlformats.org/drawingml/2006/main">
              <a:ext uri="{FF2B5EF4-FFF2-40B4-BE49-F238E27FC236}">
                <a16:creationId xmlns:a16="http://schemas.microsoft.com/office/drawing/2014/main" id="{8371CEA6-72DA-41DD-8119-637DF62E8A9B}"/>
              </a:ext>
            </a:extLst>
          </p:cNvPr>
          <p:cNvSpPr>
            <a:spLocks xmlns:a="http://schemas.openxmlformats.org/drawingml/2006/main" noGrp="1"/>
          </p:cNvSpPr>
          <p:nvPr/>
        </p:nvSpPr>
        <p:spPr>
          <a:xfrm xmlns:a="http://schemas.openxmlformats.org/drawingml/2006/main">
            <a:off x="8181975" y="23050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GAP</a:t>
            </a:r>
          </a:p>
        </p:txBody>
      </p:sp>
      <p:sp>
        <p:nvSpPr>
          <p:cNvPr id="22" name="">
            <a:extLst xmlns:a="http://schemas.openxmlformats.org/drawingml/2006/main">
              <a:ext uri="{FF2B5EF4-FFF2-40B4-BE49-F238E27FC236}">
                <a16:creationId xmlns:a16="http://schemas.microsoft.com/office/drawing/2014/main" id="{170154D9-4529-4BA7-84FF-269DAF719F92}"/>
              </a:ext>
            </a:extLst>
          </p:cNvPr>
          <p:cNvSpPr>
            <a:spLocks xmlns:a="http://schemas.openxmlformats.org/drawingml/2006/main" noGrp="1"/>
          </p:cNvSpPr>
          <p:nvPr/>
        </p:nvSpPr>
        <p:spPr>
          <a:xfrm xmlns:a="http://schemas.openxmlformats.org/drawingml/2006/main">
            <a:off x="8181975" y="27622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FFFFF"/>
                </a:solidFill>
                <a:latin typeface="Arial"/>
                <a:ea typeface="Arial"/>
                <a:cs typeface="Arial"/>
              </a:defRPr>
            </a:pPr>
            <a:r>
              <a:rPr sz="1275" b="0">
                <a:solidFill>
                  <a:srgbClr val="FFFFFF"/>
                </a:solidFill>
                <a:latin typeface="Arial"/>
                <a:ea typeface="Arial"/>
                <a:cs typeface="Arial"/>
              </a:rPr>
              <a:t>64×1</a:t>
            </a:r>
          </a:p>
        </p:txBody>
      </p:sp>
      <p:sp>
        <p:nvSpPr>
          <p:cNvPr id="23" name="">
            <a:extLst xmlns:a="http://schemas.openxmlformats.org/drawingml/2006/main">
              <a:ext uri="{FF2B5EF4-FFF2-40B4-BE49-F238E27FC236}">
                <a16:creationId xmlns:a16="http://schemas.microsoft.com/office/drawing/2014/main" id="{9A34A71B-0B1F-4833-8A81-8C122140781F}"/>
              </a:ext>
            </a:extLst>
          </p:cNvPr>
          <p:cNvSpPr>
            <a:spLocks xmlns:a="http://schemas.openxmlformats.org/drawingml/2006/main" noGrp="1"/>
          </p:cNvSpPr>
          <p:nvPr/>
        </p:nvSpPr>
        <p:spPr>
          <a:xfrm xmlns:a="http://schemas.openxmlformats.org/drawingml/2006/main">
            <a:off x="9486900" y="2571750"/>
            <a:ext cx="285750" cy="323850"/>
          </a:xfrm>
          <a:prstGeom xmlns:a="http://schemas.openxmlformats.org/drawingml/2006/main" prst="rightArrow">
            <a:avLst/>
          </a:prstGeom>
          <a:solidFill xmlns:a="http://schemas.openxmlformats.org/drawingml/2006/main">
            <a:srgbClr val="AAB9C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E06E048-70BE-419B-91B3-96B699F57A50}"/>
              </a:ext>
            </a:extLst>
          </p:cNvPr>
          <p:cNvSpPr>
            <a:spLocks xmlns:a="http://schemas.openxmlformats.org/drawingml/2006/main" noGrp="1"/>
          </p:cNvSpPr>
          <p:nvPr/>
        </p:nvSpPr>
        <p:spPr>
          <a:xfrm xmlns:a="http://schemas.openxmlformats.org/drawingml/2006/main">
            <a:off x="9763125" y="2133600"/>
            <a:ext cx="1619250" cy="1295400"/>
          </a:xfrm>
          <a:prstGeom xmlns:a="http://schemas.openxmlformats.org/drawingml/2006/main" prst="roundRect">
            <a:avLst>
              <a:gd name="adj" fmla="val 8824"/>
            </a:avLst>
          </a:prstGeom>
          <a:solidFill xmlns:a="http://schemas.openxmlformats.org/drawingml/2006/main">
            <a:srgbClr val="103A5C"/>
          </a:solidFill>
          <a:ln xmlns:a="http://schemas.openxmlformats.org/drawingml/2006/main" w="9525">
            <a:solidFill>
              <a:srgbClr val="7A9CB0"/>
            </a:solidFill>
          </a:ln>
        </p:spPr>
      </p:sp>
      <p:sp>
        <p:nvSpPr>
          <p:cNvPr id="25" name="">
            <a:extLst xmlns:a="http://schemas.openxmlformats.org/drawingml/2006/main">
              <a:ext uri="{FF2B5EF4-FFF2-40B4-BE49-F238E27FC236}">
                <a16:creationId xmlns:a16="http://schemas.microsoft.com/office/drawing/2014/main" id="{2F74D85C-2A36-4B17-AE98-319B8815FE05}"/>
              </a:ext>
            </a:extLst>
          </p:cNvPr>
          <p:cNvSpPr>
            <a:spLocks xmlns:a="http://schemas.openxmlformats.org/drawingml/2006/main" noGrp="1"/>
          </p:cNvSpPr>
          <p:nvPr/>
        </p:nvSpPr>
        <p:spPr>
          <a:xfrm xmlns:a="http://schemas.openxmlformats.org/drawingml/2006/main">
            <a:off x="9858375" y="23050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MLP</a:t>
            </a:r>
          </a:p>
        </p:txBody>
      </p:sp>
      <p:sp>
        <p:nvSpPr>
          <p:cNvPr id="26" name="">
            <a:extLst xmlns:a="http://schemas.openxmlformats.org/drawingml/2006/main">
              <a:ext uri="{FF2B5EF4-FFF2-40B4-BE49-F238E27FC236}">
                <a16:creationId xmlns:a16="http://schemas.microsoft.com/office/drawing/2014/main" id="{925BFC85-CCEF-4524-B32A-61C752CC7DB2}"/>
              </a:ext>
            </a:extLst>
          </p:cNvPr>
          <p:cNvSpPr>
            <a:spLocks xmlns:a="http://schemas.openxmlformats.org/drawingml/2006/main" noGrp="1"/>
          </p:cNvSpPr>
          <p:nvPr/>
        </p:nvSpPr>
        <p:spPr>
          <a:xfrm xmlns:a="http://schemas.openxmlformats.org/drawingml/2006/main">
            <a:off x="9858375" y="27622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FFFFF"/>
                </a:solidFill>
                <a:latin typeface="Arial"/>
                <a:ea typeface="Arial"/>
                <a:cs typeface="Arial"/>
              </a:defRPr>
            </a:pPr>
            <a:r>
              <a:rPr sz="1275" b="0">
                <a:solidFill>
                  <a:srgbClr val="FFFFFF"/>
                </a:solidFill>
                <a:latin typeface="Arial"/>
                <a:ea typeface="Arial"/>
                <a:cs typeface="Arial"/>
              </a:rPr>
              <a:t>64→32→1</a:t>
            </a:r>
          </a:p>
        </p:txBody>
      </p:sp>
      <p:sp>
        <p:nvSpPr>
          <p:cNvPr id="27" name="">
            <a:extLst xmlns:a="http://schemas.openxmlformats.org/drawingml/2006/main">
              <a:ext uri="{FF2B5EF4-FFF2-40B4-BE49-F238E27FC236}">
                <a16:creationId xmlns:a16="http://schemas.microsoft.com/office/drawing/2014/main" id="{B140680D-5AF4-4187-B6D9-6067B5E7C41A}"/>
              </a:ext>
            </a:extLst>
          </p:cNvPr>
          <p:cNvSpPr>
            <a:spLocks xmlns:a="http://schemas.openxmlformats.org/drawingml/2006/main" noGrp="1"/>
          </p:cNvSpPr>
          <p:nvPr/>
        </p:nvSpPr>
        <p:spPr>
          <a:xfrm xmlns:a="http://schemas.openxmlformats.org/drawingml/2006/main">
            <a:off x="1200150" y="405765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D32F2F"/>
                </a:solidFill>
                <a:latin typeface="Arial"/>
                <a:ea typeface="Arial"/>
                <a:cs typeface="Arial"/>
              </a:defRPr>
            </a:pPr>
            <a:r>
              <a:rPr sz="3150" b="1">
                <a:solidFill>
                  <a:srgbClr val="D32F2F"/>
                </a:solidFill>
                <a:latin typeface="Arial"/>
                <a:ea typeface="Arial"/>
                <a:cs typeface="Arial"/>
              </a:rPr>
              <a:t>11.153</a:t>
            </a:r>
          </a:p>
        </p:txBody>
      </p:sp>
      <p:sp>
        <p:nvSpPr>
          <p:cNvPr id="28" name="">
            <a:extLst xmlns:a="http://schemas.openxmlformats.org/drawingml/2006/main">
              <a:ext uri="{FF2B5EF4-FFF2-40B4-BE49-F238E27FC236}">
                <a16:creationId xmlns:a16="http://schemas.microsoft.com/office/drawing/2014/main" id="{A2491073-1741-417F-9C21-6158EB53326E}"/>
              </a:ext>
            </a:extLst>
          </p:cNvPr>
          <p:cNvSpPr>
            <a:spLocks xmlns:a="http://schemas.openxmlformats.org/drawingml/2006/main" noGrp="1"/>
          </p:cNvSpPr>
          <p:nvPr/>
        </p:nvSpPr>
        <p:spPr>
          <a:xfrm xmlns:a="http://schemas.openxmlformats.org/drawingml/2006/main">
            <a:off x="1200150" y="466725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F6B73"/>
                </a:solidFill>
                <a:latin typeface="Arial"/>
                <a:ea typeface="Arial"/>
                <a:cs typeface="Arial"/>
              </a:defRPr>
            </a:pPr>
            <a:r>
              <a:rPr sz="1275" b="0">
                <a:solidFill>
                  <a:srgbClr val="5F6B73"/>
                </a:solidFill>
                <a:latin typeface="Arial"/>
                <a:ea typeface="Arial"/>
                <a:cs typeface="Arial"/>
              </a:rPr>
              <a:t>tham số học được</a:t>
            </a:r>
          </a:p>
        </p:txBody>
      </p:sp>
      <p:sp>
        <p:nvSpPr>
          <p:cNvPr id="29" name="">
            <a:extLst xmlns:a="http://schemas.openxmlformats.org/drawingml/2006/main">
              <a:ext uri="{FF2B5EF4-FFF2-40B4-BE49-F238E27FC236}">
                <a16:creationId xmlns:a16="http://schemas.microsoft.com/office/drawing/2014/main" id="{286F5305-9A56-4E88-B0EB-61EDF562DFAC}"/>
              </a:ext>
            </a:extLst>
          </p:cNvPr>
          <p:cNvSpPr>
            <a:spLocks xmlns:a="http://schemas.openxmlformats.org/drawingml/2006/main" noGrp="1"/>
          </p:cNvSpPr>
          <p:nvPr/>
        </p:nvSpPr>
        <p:spPr>
          <a:xfrm xmlns:a="http://schemas.openxmlformats.org/drawingml/2006/main">
            <a:off x="4095750" y="4095750"/>
            <a:ext cx="6572250" cy="876300"/>
          </a:xfrm>
          <a:prstGeom xmlns:a="http://schemas.openxmlformats.org/drawingml/2006/main" prst="rect">
            <a:avLst/>
          </a:prstGeom>
          <a:solidFill xmlns:a="http://schemas.openxmlformats.org/drawingml/2006/main">
            <a:srgbClr val="EAF3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03A5C"/>
                </a:solidFill>
                <a:latin typeface="Arial"/>
                <a:ea typeface="Arial"/>
                <a:cs typeface="Arial"/>
              </a:defRPr>
            </a:pPr>
            <a:r>
              <a:rPr sz="1650" b="1">
                <a:solidFill>
                  <a:srgbClr val="103A5C"/>
                </a:solidFill>
                <a:latin typeface="Arial"/>
                <a:ea typeface="Arial"/>
                <a:cs typeface="Arial"/>
              </a:rPr>
              <a:t>A0: z-score + Huber δ=5 + BatchNorm</a:t>
            </a:r>
          </a:p>
          <a:p xmlns:a="http://schemas.openxmlformats.org/drawingml/2006/main">
            <a:pPr algn="ctr">
              <a:defRPr sz="1650" b="1">
                <a:solidFill>
                  <a:srgbClr val="103A5C"/>
                </a:solidFill>
                <a:latin typeface="Arial"/>
                <a:ea typeface="Arial"/>
                <a:cs typeface="Arial"/>
              </a:defRPr>
            </a:pPr>
            <a:r>
              <a:rPr sz="1650" b="1">
                <a:solidFill>
                  <a:srgbClr val="103A5C"/>
                </a:solidFill>
                <a:latin typeface="Arial"/>
                <a:ea typeface="Arial"/>
                <a:cs typeface="Arial"/>
              </a:rPr>
              <a:t>A1: bỏ z-score  •  A3: MSE thay Huber</a:t>
            </a:r>
          </a:p>
        </p:txBody>
      </p:sp>
      <p:sp>
        <p:nvSpPr>
          <p:cNvPr id="30" name="">
            <a:extLst xmlns:a="http://schemas.openxmlformats.org/drawingml/2006/main">
              <a:ext uri="{FF2B5EF4-FFF2-40B4-BE49-F238E27FC236}">
                <a16:creationId xmlns:a16="http://schemas.microsoft.com/office/drawing/2014/main" id="{1AE87A4F-A122-42F9-854F-55E649E937C6}"/>
              </a:ext>
            </a:extLst>
          </p:cNvPr>
          <p:cNvSpPr>
            <a:spLocks xmlns:a="http://schemas.openxmlformats.org/drawingml/2006/main" noGrp="1"/>
          </p:cNvSpPr>
          <p:nvPr/>
        </p:nvSpPr>
        <p:spPr>
          <a:xfrm xmlns:a="http://schemas.openxmlformats.org/drawingml/2006/main">
            <a:off x="2952750" y="5334000"/>
            <a:ext cx="6286500" cy="419100"/>
          </a:xfrm>
          <a:prstGeom xmlns:a="http://schemas.openxmlformats.org/drawingml/2006/main" prst="rect">
            <a:avLst/>
          </a:prstGeom>
          <a:solidFill xmlns:a="http://schemas.openxmlformats.org/drawingml/2006/main">
            <a:srgbClr val="D32F2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ECG không xuất hiện trong nhánh suy luận</a:t>
            </a:r>
          </a:p>
        </p:txBody>
      </p:sp>
      <p:sp>
        <p:nvSpPr>
          <p:cNvPr id="31" name="">
            <a:extLst xmlns:a="http://schemas.openxmlformats.org/drawingml/2006/main">
              <a:ext uri="{FF2B5EF4-FFF2-40B4-BE49-F238E27FC236}">
                <a16:creationId xmlns:a16="http://schemas.microsoft.com/office/drawing/2014/main" id="{11A2AC3A-EF6A-4BE3-A1AD-37F5CE293579}"/>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32" name="">
            <a:extLst xmlns:a="http://schemas.openxmlformats.org/drawingml/2006/main">
              <a:ext uri="{FF2B5EF4-FFF2-40B4-BE49-F238E27FC236}">
                <a16:creationId xmlns:a16="http://schemas.microsoft.com/office/drawing/2014/main" id="{05F8BAD7-9D78-4B82-ADC4-AC561EEBB71B}"/>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33" name="">
            <a:extLst xmlns:a="http://schemas.openxmlformats.org/drawingml/2006/main">
              <a:ext uri="{FF2B5EF4-FFF2-40B4-BE49-F238E27FC236}">
                <a16:creationId xmlns:a16="http://schemas.microsoft.com/office/drawing/2014/main" id="{ECD32050-6EC6-4665-98CB-72D871387560}"/>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04</a:t>
            </a:r>
          </a:p>
        </p:txBody>
      </p:sp>
    </p:spTree>
    <p:extLst>
      <p:ext uri="{BB962C8B-B14F-4D97-AF65-F5344CB8AC3E}">
        <p14:creationId xmlns:p14="http://schemas.microsoft.com/office/powerpoint/2010/main" val="1332576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309EFE-7C74-4EFF-89D2-458C7AC3AAB7}"/>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Thiết kế thực nghiệm khóa trước test</a:t>
            </a:r>
          </a:p>
        </p:txBody>
      </p:sp>
      <p:sp>
        <p:nvSpPr>
          <p:cNvPr id="2" name="">
            <a:extLst xmlns:a="http://schemas.openxmlformats.org/drawingml/2006/main">
              <a:ext uri="{FF2B5EF4-FFF2-40B4-BE49-F238E27FC236}">
                <a16:creationId xmlns:a16="http://schemas.microsoft.com/office/drawing/2014/main" id="{D008638C-A517-4312-871B-C1D9ACF721A3}"/>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6DB107-408D-41D3-967E-96EB4881BA78}"/>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Checkpoint chọn theo validation MAE_macro</a:t>
            </a:r>
          </a:p>
        </p:txBody>
      </p:sp>
      <p:graphicFrame>
        <p:nvGraphicFramePr>
          <p:cNvPr id="13" name=""/>
          <p:cNvGraphicFramePr/>
          <p:nvPr/>
        </p:nvGraphicFramePr>
        <p:xfrm>
          <a:off xmlns:a="http://schemas.openxmlformats.org/drawingml/2006/main" x="857250" y="1428750"/>
          <a:ext xmlns:a="http://schemas.openxmlformats.org/drawingml/2006/main" cx="10477500" cy="3619500"/>
        </p:xfrm>
        <a:graphic xmlns:a="http://schemas.openxmlformats.org/drawingml/2006/main">
          <a:graphicData uri="http://schemas.openxmlformats.org/drawingml/2006/table">
            <a:tbl>
              <a:tblPr/>
              <a:tblGrid>
                <a:gridCol w="3143250"/>
                <a:gridCol w="7334250"/>
              </a:tblGrid>
              <a:tr h="517071">
                <a:tc>
                  <a:txBody>
                    <a:bodyPr/>
                    <a:lstStyle/>
                    <a:p>
                      <a:r>
                        <a:rPr sz="1125" b="1">
                          <a:solidFill>
                            <a:srgbClr val="FFFFFF"/>
                          </a:solidFill>
                          <a:latin typeface="Arial"/>
                          <a:ea typeface="Arial"/>
                          <a:cs typeface="Arial"/>
                        </a:rPr>
                        <a:t>Hạng mục</a:t>
                      </a:r>
                    </a:p>
                  </a:txBody>
                  <a:tcPr marL="95250" marR="95250" marT="66675" marB="66675" anchor="ctr">
                    <a:solidFill>
                      <a:srgbClr val="103A5C"/>
                    </a:solidFill>
                  </a:tcPr>
                </a:tc>
                <a:tc>
                  <a:txBody>
                    <a:bodyPr/>
                    <a:lstStyle/>
                    <a:p>
                      <a:r>
                        <a:rPr sz="1125" b="1">
                          <a:solidFill>
                            <a:srgbClr val="FFFFFF"/>
                          </a:solidFill>
                          <a:latin typeface="Arial"/>
                          <a:ea typeface="Arial"/>
                          <a:cs typeface="Arial"/>
                        </a:rPr>
                        <a:t>Cấu hình</a:t>
                      </a:r>
                    </a:p>
                  </a:txBody>
                  <a:tcPr marL="95250" marR="95250" marT="66675" marB="66675" anchor="ctr">
                    <a:solidFill>
                      <a:srgbClr val="103A5C"/>
                    </a:solidFill>
                  </a:tcPr>
                </a:tc>
              </a:tr>
              <a:tr h="517071">
                <a:tc>
                  <a:txBody>
                    <a:bodyPr/>
                    <a:lstStyle/>
                    <a:p>
                      <a:r>
                        <a:rPr sz="1050">
                          <a:solidFill>
                            <a:srgbClr val="17242E"/>
                          </a:solidFill>
                          <a:latin typeface="Arial"/>
                          <a:ea typeface="Arial"/>
                          <a:cs typeface="Arial"/>
                        </a:rPr>
                        <a:t>Optimizer</a:t>
                      </a:r>
                    </a:p>
                  </a:txBody>
                  <a:tcPr marL="95250" marR="95250" marT="57150" marB="57150" anchor="ctr"/>
                </a:tc>
                <a:tc>
                  <a:txBody>
                    <a:bodyPr/>
                    <a:lstStyle/>
                    <a:p>
                      <a:r>
                        <a:rPr sz="1050">
                          <a:solidFill>
                            <a:srgbClr val="17242E"/>
                          </a:solidFill>
                          <a:latin typeface="Arial"/>
                          <a:ea typeface="Arial"/>
                          <a:cs typeface="Arial"/>
                        </a:rPr>
                        <a:t>AdamW • lr 10⁻³ • weight decay 10⁻⁴</a:t>
                      </a:r>
                    </a:p>
                  </a:txBody>
                  <a:tcPr marL="95250" marR="95250" marT="57150" marB="57150" anchor="ctr"/>
                </a:tc>
              </a:tr>
              <a:tr h="517071">
                <a:tc>
                  <a:txBody>
                    <a:bodyPr/>
                    <a:lstStyle/>
                    <a:p>
                      <a:r>
                        <a:rPr sz="1050">
                          <a:solidFill>
                            <a:srgbClr val="17242E"/>
                          </a:solidFill>
                          <a:latin typeface="Arial"/>
                          <a:ea typeface="Arial"/>
                          <a:cs typeface="Arial"/>
                        </a:rPr>
                        <a:t>Huấn luyện</a:t>
                      </a:r>
                    </a:p>
                  </a:txBody>
                  <a:tcPr marL="95250" marR="95250" marT="57150" marB="57150" anchor="ctr"/>
                </a:tc>
                <a:tc>
                  <a:txBody>
                    <a:bodyPr/>
                    <a:lstStyle/>
                    <a:p>
                      <a:r>
                        <a:rPr sz="1050">
                          <a:solidFill>
                            <a:srgbClr val="17242E"/>
                          </a:solidFill>
                          <a:latin typeface="Arial"/>
                          <a:ea typeface="Arial"/>
                          <a:cs typeface="Arial"/>
                        </a:rPr>
                        <a:t>batch 64 • tối đa 100 epoch • patience 15</a:t>
                      </a:r>
                    </a:p>
                  </a:txBody>
                  <a:tcPr marL="95250" marR="95250" marT="57150" marB="57150" anchor="ctr"/>
                </a:tc>
              </a:tr>
              <a:tr h="517071">
                <a:tc>
                  <a:txBody>
                    <a:bodyPr/>
                    <a:lstStyle/>
                    <a:p>
                      <a:r>
                        <a:rPr sz="1050">
                          <a:solidFill>
                            <a:srgbClr val="17242E"/>
                          </a:solidFill>
                          <a:latin typeface="Arial"/>
                          <a:ea typeface="Arial"/>
                          <a:cs typeface="Arial"/>
                        </a:rPr>
                        <a:t>Seed</a:t>
                      </a:r>
                    </a:p>
                  </a:txBody>
                  <a:tcPr marL="95250" marR="95250" marT="57150" marB="57150" anchor="ctr"/>
                </a:tc>
                <a:tc>
                  <a:txBody>
                    <a:bodyPr/>
                    <a:lstStyle/>
                    <a:p>
                      <a:r>
                        <a:rPr sz="1050">
                          <a:solidFill>
                            <a:srgbClr val="17242E"/>
                          </a:solidFill>
                          <a:latin typeface="Arial"/>
                          <a:ea typeface="Arial"/>
                          <a:cs typeface="Arial"/>
                        </a:rPr>
                        <a:t>42 • 123 • 999</a:t>
                      </a:r>
                    </a:p>
                  </a:txBody>
                  <a:tcPr marL="95250" marR="95250" marT="57150" marB="57150" anchor="ctr"/>
                </a:tc>
              </a:tr>
              <a:tr h="517071">
                <a:tc>
                  <a:txBody>
                    <a:bodyPr/>
                    <a:lstStyle/>
                    <a:p>
                      <a:r>
                        <a:rPr sz="1050">
                          <a:solidFill>
                            <a:srgbClr val="17242E"/>
                          </a:solidFill>
                          <a:latin typeface="Arial"/>
                          <a:ea typeface="Arial"/>
                          <a:cs typeface="Arial"/>
                        </a:rPr>
                        <a:t>Checkpoint</a:t>
                      </a:r>
                    </a:p>
                  </a:txBody>
                  <a:tcPr marL="95250" marR="95250" marT="57150" marB="57150" anchor="ctr"/>
                </a:tc>
                <a:tc>
                  <a:txBody>
                    <a:bodyPr/>
                    <a:lstStyle/>
                    <a:p>
                      <a:r>
                        <a:rPr sz="1050">
                          <a:solidFill>
                            <a:srgbClr val="17242E"/>
                          </a:solidFill>
                          <a:latin typeface="Arial"/>
                          <a:ea typeface="Arial"/>
                          <a:cs typeface="Arial"/>
                        </a:rPr>
                        <a:t>epoch có validation MAE_macro thấp nhất</a:t>
                      </a:r>
                    </a:p>
                  </a:txBody>
                  <a:tcPr marL="95250" marR="95250" marT="57150" marB="57150" anchor="ctr"/>
                </a:tc>
              </a:tr>
              <a:tr h="517071">
                <a:tc>
                  <a:txBody>
                    <a:bodyPr/>
                    <a:lstStyle/>
                    <a:p>
                      <a:r>
                        <a:rPr sz="1050">
                          <a:solidFill>
                            <a:srgbClr val="17242E"/>
                          </a:solidFill>
                          <a:latin typeface="Arial"/>
                          <a:ea typeface="Arial"/>
                          <a:cs typeface="Arial"/>
                        </a:rPr>
                        <a:t>Đánh giá</a:t>
                      </a:r>
                    </a:p>
                  </a:txBody>
                  <a:tcPr marL="95250" marR="95250" marT="57150" marB="57150" anchor="ctr"/>
                </a:tc>
                <a:tc>
                  <a:txBody>
                    <a:bodyPr/>
                    <a:lstStyle/>
                    <a:p>
                      <a:r>
                        <a:rPr sz="1050">
                          <a:solidFill>
                            <a:srgbClr val="17242E"/>
                          </a:solidFill>
                          <a:latin typeface="Arial"/>
                          <a:ea typeface="Arial"/>
                          <a:cs typeface="Arial"/>
                        </a:rPr>
                        <a:t>model.eval() • test không tuning</a:t>
                      </a:r>
                    </a:p>
                  </a:txBody>
                  <a:tcPr marL="95250" marR="95250" marT="57150" marB="57150" anchor="ctr"/>
                </a:tc>
              </a:tr>
              <a:tr h="517071">
                <a:tc>
                  <a:txBody>
                    <a:bodyPr/>
                    <a:lstStyle/>
                    <a:p>
                      <a:r>
                        <a:rPr sz="1050">
                          <a:solidFill>
                            <a:srgbClr val="17242E"/>
                          </a:solidFill>
                          <a:latin typeface="Arial"/>
                          <a:ea typeface="Arial"/>
                          <a:cs typeface="Arial"/>
                        </a:rPr>
                        <a:t>CPU benchmark</a:t>
                      </a:r>
                    </a:p>
                  </a:txBody>
                  <a:tcPr marL="95250" marR="95250" marT="57150" marB="57150" anchor="ctr"/>
                </a:tc>
                <a:tc>
                  <a:txBody>
                    <a:bodyPr/>
                    <a:lstStyle/>
                    <a:p>
                      <a:r>
                        <a:rPr sz="1050">
                          <a:solidFill>
                            <a:srgbClr val="17242E"/>
                          </a:solidFill>
                          <a:latin typeface="Arial"/>
                          <a:ea typeface="Arial"/>
                          <a:cs typeface="Arial"/>
                        </a:rPr>
                        <a:t>batch=1 • 1 thread • 100 warm-up • 1.000 lượt</a:t>
                      </a:r>
                    </a:p>
                  </a:txBody>
                  <a:tcPr marL="95250" marR="95250" marT="57150" marB="57150" anchor="ctr"/>
                </a:tc>
              </a:tr>
            </a:tbl>
          </a:graphicData>
        </a:graphic>
      </p:graphicFrame>
      <p:sp>
        <p:nvSpPr>
          <p:cNvPr id="5" name="">
            <a:extLst xmlns:a="http://schemas.openxmlformats.org/drawingml/2006/main">
              <a:ext uri="{FF2B5EF4-FFF2-40B4-BE49-F238E27FC236}">
                <a16:creationId xmlns:a16="http://schemas.microsoft.com/office/drawing/2014/main" id="{47878723-F60F-4BC1-879F-5DD1396C13A2}"/>
              </a:ext>
            </a:extLst>
          </p:cNvPr>
          <p:cNvSpPr>
            <a:spLocks xmlns:a="http://schemas.openxmlformats.org/drawingml/2006/main" noGrp="1"/>
          </p:cNvSpPr>
          <p:nvPr/>
        </p:nvSpPr>
        <p:spPr>
          <a:xfrm xmlns:a="http://schemas.openxmlformats.org/drawingml/2006/main">
            <a:off x="1143000" y="5314950"/>
            <a:ext cx="9906000" cy="457200"/>
          </a:xfrm>
          <a:prstGeom xmlns:a="http://schemas.openxmlformats.org/drawingml/2006/main" prst="rect">
            <a:avLst/>
          </a:prstGeom>
          <a:solidFill xmlns:a="http://schemas.openxmlformats.org/drawingml/2006/main">
            <a:srgbClr val="EAF3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03A5C"/>
                </a:solidFill>
                <a:latin typeface="Arial"/>
                <a:ea typeface="Arial"/>
                <a:cs typeface="Arial"/>
              </a:defRPr>
            </a:pPr>
            <a:r>
              <a:rPr sz="1800" b="1">
                <a:solidFill>
                  <a:srgbClr val="103A5C"/>
                </a:solidFill>
                <a:latin typeface="Arial"/>
                <a:ea typeface="Arial"/>
                <a:cs typeface="Arial"/>
              </a:rPr>
              <a:t>MAE_macro = trung bình đều MAE của S14, S15, S16, S17</a:t>
            </a:r>
          </a:p>
        </p:txBody>
      </p:sp>
      <p:sp>
        <p:nvSpPr>
          <p:cNvPr id="6" name="">
            <a:extLst xmlns:a="http://schemas.openxmlformats.org/drawingml/2006/main">
              <a:ext uri="{FF2B5EF4-FFF2-40B4-BE49-F238E27FC236}">
                <a16:creationId xmlns:a16="http://schemas.microsoft.com/office/drawing/2014/main" id="{B0C4B32B-56B4-4EBB-AFC4-81671FAFDCA3}"/>
              </a:ext>
            </a:extLst>
          </p:cNvPr>
          <p:cNvSpPr>
            <a:spLocks xmlns:a="http://schemas.openxmlformats.org/drawingml/2006/main" noGrp="1"/>
          </p:cNvSpPr>
          <p:nvPr/>
        </p:nvSpPr>
        <p:spPr>
          <a:xfrm xmlns:a="http://schemas.openxmlformats.org/drawingml/2006/main">
            <a:off x="1143000" y="5857875"/>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F6B73"/>
                </a:solidFill>
                <a:latin typeface="Arial"/>
                <a:ea typeface="Arial"/>
                <a:cs typeface="Arial"/>
              </a:defRPr>
            </a:pPr>
            <a:r>
              <a:rPr sz="1350" b="0">
                <a:solidFill>
                  <a:srgbClr val="5F6B73"/>
                </a:solidFill>
                <a:latin typeface="Arial"/>
                <a:ea typeface="Arial"/>
                <a:cs typeface="Arial"/>
              </a:rPr>
              <a:t>Ba seed mô tả biến thiên huấn luyện — không phải ba tập test độc lập.</a:t>
            </a:r>
          </a:p>
        </p:txBody>
      </p:sp>
      <p:sp>
        <p:nvSpPr>
          <p:cNvPr id="7" name="">
            <a:extLst xmlns:a="http://schemas.openxmlformats.org/drawingml/2006/main">
              <a:ext uri="{FF2B5EF4-FFF2-40B4-BE49-F238E27FC236}">
                <a16:creationId xmlns:a16="http://schemas.microsoft.com/office/drawing/2014/main" id="{4ADB081E-3705-4768-9FD8-DBD4B8B0380D}"/>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8" name="">
            <a:extLst xmlns:a="http://schemas.openxmlformats.org/drawingml/2006/main">
              <a:ext uri="{FF2B5EF4-FFF2-40B4-BE49-F238E27FC236}">
                <a16:creationId xmlns:a16="http://schemas.microsoft.com/office/drawing/2014/main" id="{581DB60F-2278-413A-9205-58DB26E479DE}"/>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9" name="">
            <a:extLst xmlns:a="http://schemas.openxmlformats.org/drawingml/2006/main">
              <a:ext uri="{FF2B5EF4-FFF2-40B4-BE49-F238E27FC236}">
                <a16:creationId xmlns:a16="http://schemas.microsoft.com/office/drawing/2014/main" id="{D6B5C358-DCEA-4D6A-804C-AB694C48ADF3}"/>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05</a:t>
            </a:r>
          </a:p>
        </p:txBody>
      </p:sp>
    </p:spTree>
    <p:extLst>
      <p:ext uri="{BB962C8B-B14F-4D97-AF65-F5344CB8AC3E}">
        <p14:creationId xmlns:p14="http://schemas.microsoft.com/office/powerpoint/2010/main" val="13767741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744B092-76AD-45F8-9E57-7442ACD38AF2}"/>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Kết quả tổng thể trên cùng manifest v2</a:t>
            </a:r>
          </a:p>
        </p:txBody>
      </p:sp>
      <p:sp>
        <p:nvSpPr>
          <p:cNvPr id="2" name="">
            <a:extLst xmlns:a="http://schemas.openxmlformats.org/drawingml/2006/main">
              <a:ext uri="{FF2B5EF4-FFF2-40B4-BE49-F238E27FC236}">
                <a16:creationId xmlns:a16="http://schemas.microsoft.com/office/drawing/2014/main" id="{20FD7780-FA2D-4674-A8DF-490C2AC1FA1A}"/>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9CC97B-3C93-4A95-B92D-130E3726C4AB}"/>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MAE_macro test — thấp hơn là tốt hơn</a:t>
            </a:r>
          </a:p>
        </p:txBody>
      </p:sp>
      <p:graphicFrame>
        <p:nvGraphicFramePr>
          <p:cNvPr id="18" name="Chart"/>
          <p:cNvGraphicFramePr/>
          <p:nvPr/>
        </p:nvGraphicFramePr>
        <p:xfrm>
          <a:off xmlns:a="http://schemas.openxmlformats.org/drawingml/2006/main" x="666750" y="1381125"/>
          <a:ext xmlns:a="http://schemas.openxmlformats.org/drawingml/2006/main" cx="7143750" cy="4286250"/>
        </p:xfrm>
        <a:graphic xmlns:a="http://schemas.openxmlformats.org/drawingml/2006/main">
          <a:graphicData uri="http://schemas.openxmlformats.org/drawingml/2006/chart">
            <c:chart xmlns:r="http://schemas.openxmlformats.org/officeDocument/2006/relationships" xmlns:c="http://schemas.openxmlformats.org/drawingml/2006/chart" r:id="Rd17be0c04ab44701"/>
          </a:graphicData>
        </a:graphic>
      </p:graphicFrame>
      <p:sp>
        <p:nvSpPr>
          <p:cNvPr id="5" name="">
            <a:extLst xmlns:a="http://schemas.openxmlformats.org/drawingml/2006/main">
              <a:ext uri="{FF2B5EF4-FFF2-40B4-BE49-F238E27FC236}">
                <a16:creationId xmlns:a16="http://schemas.microsoft.com/office/drawing/2014/main" id="{6E9E7E06-BFA1-4F1D-AAC6-287DF2507A48}"/>
              </a:ext>
            </a:extLst>
          </p:cNvPr>
          <p:cNvSpPr>
            <a:spLocks xmlns:a="http://schemas.openxmlformats.org/drawingml/2006/main" noGrp="1"/>
          </p:cNvSpPr>
          <p:nvPr/>
        </p:nvSpPr>
        <p:spPr>
          <a:xfrm xmlns:a="http://schemas.openxmlformats.org/drawingml/2006/main">
            <a:off x="828675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769AA"/>
                </a:solidFill>
                <a:latin typeface="Arial"/>
                <a:ea typeface="Arial"/>
                <a:cs typeface="Arial"/>
              </a:defRPr>
            </a:pPr>
            <a:r>
              <a:rPr sz="1575" b="1">
                <a:solidFill>
                  <a:srgbClr val="1769AA"/>
                </a:solidFill>
                <a:latin typeface="Arial"/>
                <a:ea typeface="Arial"/>
                <a:cs typeface="Arial"/>
              </a:rPr>
              <a:t>A0</a:t>
            </a:r>
          </a:p>
        </p:txBody>
      </p:sp>
      <p:sp>
        <p:nvSpPr>
          <p:cNvPr id="6" name="">
            <a:extLst xmlns:a="http://schemas.openxmlformats.org/drawingml/2006/main">
              <a:ext uri="{FF2B5EF4-FFF2-40B4-BE49-F238E27FC236}">
                <a16:creationId xmlns:a16="http://schemas.microsoft.com/office/drawing/2014/main" id="{D6A9F143-EBD1-4BCB-AAC3-AE3DC24099DC}"/>
              </a:ext>
            </a:extLst>
          </p:cNvPr>
          <p:cNvSpPr>
            <a:spLocks xmlns:a="http://schemas.openxmlformats.org/drawingml/2006/main" noGrp="1"/>
          </p:cNvSpPr>
          <p:nvPr/>
        </p:nvSpPr>
        <p:spPr>
          <a:xfrm xmlns:a="http://schemas.openxmlformats.org/drawingml/2006/main">
            <a:off x="8286750" y="1905000"/>
            <a:ext cx="2905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3A5C"/>
                </a:solidFill>
                <a:latin typeface="Arial"/>
                <a:ea typeface="Arial"/>
                <a:cs typeface="Arial"/>
              </a:defRPr>
            </a:pPr>
            <a:r>
              <a:rPr sz="2325" b="1">
                <a:solidFill>
                  <a:srgbClr val="103A5C"/>
                </a:solidFill>
                <a:latin typeface="Arial"/>
                <a:ea typeface="Arial"/>
                <a:cs typeface="Arial"/>
              </a:rPr>
              <a:t>8,867 ± 0,253 BPM</a:t>
            </a:r>
          </a:p>
        </p:txBody>
      </p:sp>
      <p:sp>
        <p:nvSpPr>
          <p:cNvPr id="7" name="">
            <a:extLst xmlns:a="http://schemas.openxmlformats.org/drawingml/2006/main">
              <a:ext uri="{FF2B5EF4-FFF2-40B4-BE49-F238E27FC236}">
                <a16:creationId xmlns:a16="http://schemas.microsoft.com/office/drawing/2014/main" id="{9E23CC42-8575-4463-AA1F-3F5BF3D2BBB0}"/>
              </a:ext>
            </a:extLst>
          </p:cNvPr>
          <p:cNvSpPr>
            <a:spLocks xmlns:a="http://schemas.openxmlformats.org/drawingml/2006/main" noGrp="1"/>
          </p:cNvSpPr>
          <p:nvPr/>
        </p:nvSpPr>
        <p:spPr>
          <a:xfrm xmlns:a="http://schemas.openxmlformats.org/drawingml/2006/main">
            <a:off x="8286750" y="2457450"/>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59A14F"/>
                </a:solidFill>
                <a:latin typeface="Arial"/>
                <a:ea typeface="Arial"/>
                <a:cs typeface="Arial"/>
              </a:defRPr>
            </a:pPr>
            <a:r>
              <a:rPr sz="1650" b="1">
                <a:solidFill>
                  <a:srgbClr val="59A14F"/>
                </a:solidFill>
                <a:latin typeface="Arial"/>
                <a:ea typeface="Arial"/>
                <a:cs typeface="Arial"/>
              </a:rPr>
              <a:t>↓ 35,0% so với FFT</a:t>
            </a:r>
          </a:p>
        </p:txBody>
      </p:sp>
      <p:sp>
        <p:nvSpPr>
          <p:cNvPr id="8" name="">
            <a:extLst xmlns:a="http://schemas.openxmlformats.org/drawingml/2006/main">
              <a:ext uri="{FF2B5EF4-FFF2-40B4-BE49-F238E27FC236}">
                <a16:creationId xmlns:a16="http://schemas.microsoft.com/office/drawing/2014/main" id="{9BD45FDF-E9EB-4BC6-AFF1-D452BD46D3B4}"/>
              </a:ext>
            </a:extLst>
          </p:cNvPr>
          <p:cNvSpPr>
            <a:spLocks xmlns:a="http://schemas.openxmlformats.org/drawingml/2006/main" noGrp="1"/>
          </p:cNvSpPr>
          <p:nvPr/>
        </p:nvSpPr>
        <p:spPr>
          <a:xfrm xmlns:a="http://schemas.openxmlformats.org/drawingml/2006/main">
            <a:off x="8286750" y="3286125"/>
            <a:ext cx="290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D32F2F"/>
                </a:solidFill>
                <a:latin typeface="Arial"/>
                <a:ea typeface="Arial"/>
                <a:cs typeface="Arial"/>
              </a:defRPr>
            </a:pPr>
            <a:r>
              <a:rPr sz="1500" b="1">
                <a:solidFill>
                  <a:srgbClr val="D32F2F"/>
                </a:solidFill>
                <a:latin typeface="Arial"/>
                <a:ea typeface="Arial"/>
                <a:cs typeface="Arial"/>
              </a:rPr>
              <a:t>A3 thấp nhất</a:t>
            </a:r>
          </a:p>
        </p:txBody>
      </p:sp>
      <p:sp>
        <p:nvSpPr>
          <p:cNvPr id="9" name="">
            <a:extLst xmlns:a="http://schemas.openxmlformats.org/drawingml/2006/main">
              <a:ext uri="{FF2B5EF4-FFF2-40B4-BE49-F238E27FC236}">
                <a16:creationId xmlns:a16="http://schemas.microsoft.com/office/drawing/2014/main" id="{5D4AC398-E8CC-47DC-A716-7386AB970565}"/>
              </a:ext>
            </a:extLst>
          </p:cNvPr>
          <p:cNvSpPr>
            <a:spLocks xmlns:a="http://schemas.openxmlformats.org/drawingml/2006/main" noGrp="1"/>
          </p:cNvSpPr>
          <p:nvPr/>
        </p:nvSpPr>
        <p:spPr>
          <a:xfrm xmlns:a="http://schemas.openxmlformats.org/drawingml/2006/main">
            <a:off x="8286750" y="3667125"/>
            <a:ext cx="2905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103A5C"/>
                </a:solidFill>
                <a:latin typeface="Arial"/>
                <a:ea typeface="Arial"/>
                <a:cs typeface="Arial"/>
              </a:defRPr>
            </a:pPr>
            <a:r>
              <a:rPr sz="2175" b="1">
                <a:solidFill>
                  <a:srgbClr val="103A5C"/>
                </a:solidFill>
                <a:latin typeface="Arial"/>
                <a:ea typeface="Arial"/>
                <a:cs typeface="Arial"/>
              </a:rPr>
              <a:t>8,280 ± 0,328 BPM</a:t>
            </a:r>
          </a:p>
        </p:txBody>
      </p:sp>
      <p:sp>
        <p:nvSpPr>
          <p:cNvPr id="10" name="">
            <a:extLst xmlns:a="http://schemas.openxmlformats.org/drawingml/2006/main">
              <a:ext uri="{FF2B5EF4-FFF2-40B4-BE49-F238E27FC236}">
                <a16:creationId xmlns:a16="http://schemas.microsoft.com/office/drawing/2014/main" id="{E1B74901-199B-45FE-B281-E7FD00778B7B}"/>
              </a:ext>
            </a:extLst>
          </p:cNvPr>
          <p:cNvSpPr>
            <a:spLocks xmlns:a="http://schemas.openxmlformats.org/drawingml/2006/main" noGrp="1"/>
          </p:cNvSpPr>
          <p:nvPr/>
        </p:nvSpPr>
        <p:spPr>
          <a:xfrm xmlns:a="http://schemas.openxmlformats.org/drawingml/2006/main">
            <a:off x="8096250" y="4619625"/>
            <a:ext cx="3286125" cy="590550"/>
          </a:xfrm>
          <a:prstGeom xmlns:a="http://schemas.openxmlformats.org/drawingml/2006/main" prst="rect">
            <a:avLst/>
          </a:prstGeom>
          <a:solidFill xmlns:a="http://schemas.openxmlformats.org/drawingml/2006/main">
            <a:srgbClr val="D32F2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Mục tiêu ≤7 BPM: chưa đạt</a:t>
            </a:r>
          </a:p>
        </p:txBody>
      </p:sp>
      <p:sp>
        <p:nvSpPr>
          <p:cNvPr id="11" name="">
            <a:extLst xmlns:a="http://schemas.openxmlformats.org/drawingml/2006/main">
              <a:ext uri="{FF2B5EF4-FFF2-40B4-BE49-F238E27FC236}">
                <a16:creationId xmlns:a16="http://schemas.microsoft.com/office/drawing/2014/main" id="{7E2C074C-CF09-470B-8A45-BAE736B15E8A}"/>
              </a:ext>
            </a:extLst>
          </p:cNvPr>
          <p:cNvSpPr>
            <a:spLocks xmlns:a="http://schemas.openxmlformats.org/drawingml/2006/main" noGrp="1"/>
          </p:cNvSpPr>
          <p:nvPr/>
        </p:nvSpPr>
        <p:spPr>
          <a:xfrm xmlns:a="http://schemas.openxmlformats.org/drawingml/2006/main">
            <a:off x="8096250" y="5314950"/>
            <a:ext cx="3286125" cy="457200"/>
          </a:xfrm>
          <a:prstGeom xmlns:a="http://schemas.openxmlformats.org/drawingml/2006/main" prst="rect">
            <a:avLst/>
          </a:prstGeom>
          <a:solidFill xmlns:a="http://schemas.openxmlformats.org/drawingml/2006/main">
            <a:srgbClr val="59A14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Mục tiêu giảm ≥20%: đạt</a:t>
            </a:r>
          </a:p>
        </p:txBody>
      </p:sp>
      <p:sp>
        <p:nvSpPr>
          <p:cNvPr id="12" name="">
            <a:extLst xmlns:a="http://schemas.openxmlformats.org/drawingml/2006/main">
              <a:ext uri="{FF2B5EF4-FFF2-40B4-BE49-F238E27FC236}">
                <a16:creationId xmlns:a16="http://schemas.microsoft.com/office/drawing/2014/main" id="{5873C232-E21E-432D-A2ED-22BD76E2BA4E}"/>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13" name="">
            <a:extLst xmlns:a="http://schemas.openxmlformats.org/drawingml/2006/main">
              <a:ext uri="{FF2B5EF4-FFF2-40B4-BE49-F238E27FC236}">
                <a16:creationId xmlns:a16="http://schemas.microsoft.com/office/drawing/2014/main" id="{EEBF14C4-0C7A-4A49-87C5-D18B2BEC4478}"/>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14" name="">
            <a:extLst xmlns:a="http://schemas.openxmlformats.org/drawingml/2006/main">
              <a:ext uri="{FF2B5EF4-FFF2-40B4-BE49-F238E27FC236}">
                <a16:creationId xmlns:a16="http://schemas.microsoft.com/office/drawing/2014/main" id="{50183E7C-8D57-4DC3-8EE3-C096A905B152}"/>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06</a:t>
            </a:r>
          </a:p>
        </p:txBody>
      </p:sp>
    </p:spTree>
    <p:extLst>
      <p:ext uri="{BB962C8B-B14F-4D97-AF65-F5344CB8AC3E}">
        <p14:creationId xmlns:p14="http://schemas.microsoft.com/office/powerpoint/2010/main" val="9965278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610237-06BC-4BD0-B7B7-1E5E94F715F7}"/>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Sai số không đồng đều</a:t>
            </a:r>
          </a:p>
        </p:txBody>
      </p:sp>
      <p:sp>
        <p:nvSpPr>
          <p:cNvPr id="2" name="">
            <a:extLst xmlns:a="http://schemas.openxmlformats.org/drawingml/2006/main">
              <a:ext uri="{FF2B5EF4-FFF2-40B4-BE49-F238E27FC236}">
                <a16:creationId xmlns:a16="http://schemas.microsoft.com/office/drawing/2014/main" id="{872DFCAD-845E-4264-9589-8DFCFA126E38}"/>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9E0A34-11F2-4E6F-97A4-BD4F93BA1038}"/>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Stress và khác biệt giữa người là hai điểm nghẽn chính</a:t>
            </a:r>
          </a:p>
        </p:txBody>
      </p:sp>
      <p:graphicFrame>
        <p:nvGraphicFramePr>
          <p:cNvPr id="16" name="Chart"/>
          <p:cNvGraphicFramePr/>
          <p:nvPr/>
        </p:nvGraphicFramePr>
        <p:xfrm>
          <a:off xmlns:a="http://schemas.openxmlformats.org/drawingml/2006/main" x="552450" y="14287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fdb760b013b848df"/>
          </a:graphicData>
        </a:graphic>
      </p:graphicFrame>
      <p:sp>
        <p:nvSpPr>
          <p:cNvPr id="5" name="">
            <a:extLst xmlns:a="http://schemas.openxmlformats.org/drawingml/2006/main">
              <a:ext uri="{FF2B5EF4-FFF2-40B4-BE49-F238E27FC236}">
                <a16:creationId xmlns:a16="http://schemas.microsoft.com/office/drawing/2014/main" id="{9EA3924B-611E-4B7E-84FB-6E26D740417F}"/>
              </a:ext>
            </a:extLst>
          </p:cNvPr>
          <p:cNvSpPr>
            <a:spLocks xmlns:a="http://schemas.openxmlformats.org/drawingml/2006/main" noGrp="1"/>
          </p:cNvSpPr>
          <p:nvPr/>
        </p:nvSpPr>
        <p:spPr>
          <a:xfrm xmlns:a="http://schemas.openxmlformats.org/drawingml/2006/main">
            <a:off x="1714500" y="12573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3A5C"/>
                </a:solidFill>
                <a:latin typeface="Arial"/>
                <a:ea typeface="Arial"/>
                <a:cs typeface="Arial"/>
              </a:defRPr>
            </a:pPr>
            <a:r>
              <a:rPr sz="1350" b="1">
                <a:solidFill>
                  <a:srgbClr val="103A5C"/>
                </a:solidFill>
                <a:latin typeface="Arial"/>
                <a:ea typeface="Arial"/>
                <a:cs typeface="Arial"/>
              </a:rPr>
              <a:t>A0 theo người</a:t>
            </a:r>
          </a:p>
        </p:txBody>
      </p:sp>
      <p:graphicFrame>
        <p:nvGraphicFramePr>
          <p:cNvPr id="18" name="Chart"/>
          <p:cNvGraphicFramePr/>
          <p:nvPr/>
        </p:nvGraphicFramePr>
        <p:xfrm>
          <a:off xmlns:a="http://schemas.openxmlformats.org/drawingml/2006/main" x="6286500" y="14287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4027a014feaf442f"/>
          </a:graphicData>
        </a:graphic>
      </p:graphicFrame>
      <p:sp>
        <p:nvSpPr>
          <p:cNvPr id="7" name="">
            <a:extLst xmlns:a="http://schemas.openxmlformats.org/drawingml/2006/main">
              <a:ext uri="{FF2B5EF4-FFF2-40B4-BE49-F238E27FC236}">
                <a16:creationId xmlns:a16="http://schemas.microsoft.com/office/drawing/2014/main" id="{7ED81D5D-9FBC-4089-BACD-F220B5D34EEB}"/>
              </a:ext>
            </a:extLst>
          </p:cNvPr>
          <p:cNvSpPr>
            <a:spLocks xmlns:a="http://schemas.openxmlformats.org/drawingml/2006/main" noGrp="1"/>
          </p:cNvSpPr>
          <p:nvPr/>
        </p:nvSpPr>
        <p:spPr>
          <a:xfrm xmlns:a="http://schemas.openxmlformats.org/drawingml/2006/main">
            <a:off x="7429500" y="12573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3A5C"/>
                </a:solidFill>
                <a:latin typeface="Arial"/>
                <a:ea typeface="Arial"/>
                <a:cs typeface="Arial"/>
              </a:defRPr>
            </a:pPr>
            <a:r>
              <a:rPr sz="1350" b="1">
                <a:solidFill>
                  <a:srgbClr val="103A5C"/>
                </a:solidFill>
                <a:latin typeface="Arial"/>
                <a:ea typeface="Arial"/>
                <a:cs typeface="Arial"/>
              </a:rPr>
              <a:t>A0 theo điều kiện</a:t>
            </a:r>
          </a:p>
        </p:txBody>
      </p:sp>
      <p:sp>
        <p:nvSpPr>
          <p:cNvPr id="8" name="">
            <a:extLst xmlns:a="http://schemas.openxmlformats.org/drawingml/2006/main">
              <a:ext uri="{FF2B5EF4-FFF2-40B4-BE49-F238E27FC236}">
                <a16:creationId xmlns:a16="http://schemas.microsoft.com/office/drawing/2014/main" id="{FC32E9E2-458E-46CB-B9EB-C56ED150A6EC}"/>
              </a:ext>
            </a:extLst>
          </p:cNvPr>
          <p:cNvSpPr>
            <a:spLocks xmlns:a="http://schemas.openxmlformats.org/drawingml/2006/main" noGrp="1"/>
          </p:cNvSpPr>
          <p:nvPr/>
        </p:nvSpPr>
        <p:spPr>
          <a:xfrm xmlns:a="http://schemas.openxmlformats.org/drawingml/2006/main">
            <a:off x="1047750" y="5381625"/>
            <a:ext cx="10096500" cy="457200"/>
          </a:xfrm>
          <a:prstGeom xmlns:a="http://schemas.openxmlformats.org/drawingml/2006/main" prst="rect">
            <a:avLst/>
          </a:prstGeom>
          <a:solidFill xmlns:a="http://schemas.openxmlformats.org/drawingml/2006/main">
            <a:srgbClr val="103A5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S16 cao nhất • Stress ≈ 4,8× Baseline</a:t>
            </a:r>
          </a:p>
        </p:txBody>
      </p:sp>
      <p:sp>
        <p:nvSpPr>
          <p:cNvPr id="9" name="">
            <a:extLst xmlns:a="http://schemas.openxmlformats.org/drawingml/2006/main">
              <a:ext uri="{FF2B5EF4-FFF2-40B4-BE49-F238E27FC236}">
                <a16:creationId xmlns:a16="http://schemas.microsoft.com/office/drawing/2014/main" id="{51C19C16-8350-4E75-A118-609B456A5B89}"/>
              </a:ext>
            </a:extLst>
          </p:cNvPr>
          <p:cNvSpPr>
            <a:spLocks xmlns:a="http://schemas.openxmlformats.org/drawingml/2006/main" noGrp="1"/>
          </p:cNvSpPr>
          <p:nvPr/>
        </p:nvSpPr>
        <p:spPr>
          <a:xfrm xmlns:a="http://schemas.openxmlformats.org/drawingml/2006/main">
            <a:off x="1047750" y="59055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5F6B73"/>
                </a:solidFill>
                <a:latin typeface="Arial"/>
                <a:ea typeface="Arial"/>
                <a:cs typeface="Arial"/>
              </a:defRPr>
            </a:pPr>
            <a:r>
              <a:rPr sz="1275" b="0">
                <a:solidFill>
                  <a:srgbClr val="5F6B73"/>
                </a:solidFill>
                <a:latin typeface="Arial"/>
                <a:ea typeface="Arial"/>
                <a:cs typeface="Arial"/>
              </a:rPr>
              <a:t>Mô tả trên split hiện tại; không suy diễn Stress gây ra sai số.</a:t>
            </a:r>
          </a:p>
        </p:txBody>
      </p:sp>
      <p:sp>
        <p:nvSpPr>
          <p:cNvPr id="10" name="">
            <a:extLst xmlns:a="http://schemas.openxmlformats.org/drawingml/2006/main">
              <a:ext uri="{FF2B5EF4-FFF2-40B4-BE49-F238E27FC236}">
                <a16:creationId xmlns:a16="http://schemas.microsoft.com/office/drawing/2014/main" id="{50F73025-3D33-4F26-9D46-F149DF145028}"/>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11" name="">
            <a:extLst xmlns:a="http://schemas.openxmlformats.org/drawingml/2006/main">
              <a:ext uri="{FF2B5EF4-FFF2-40B4-BE49-F238E27FC236}">
                <a16:creationId xmlns:a16="http://schemas.microsoft.com/office/drawing/2014/main" id="{E6770D5C-AB1A-4440-98DC-A0E752367E12}"/>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12" name="">
            <a:extLst xmlns:a="http://schemas.openxmlformats.org/drawingml/2006/main">
              <a:ext uri="{FF2B5EF4-FFF2-40B4-BE49-F238E27FC236}">
                <a16:creationId xmlns:a16="http://schemas.microsoft.com/office/drawing/2014/main" id="{532A48A6-6BDF-4DBF-9701-7707BFC85E0A}"/>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07</a:t>
            </a:r>
          </a:p>
        </p:txBody>
      </p:sp>
    </p:spTree>
    <p:extLst>
      <p:ext uri="{BB962C8B-B14F-4D97-AF65-F5344CB8AC3E}">
        <p14:creationId xmlns:p14="http://schemas.microsoft.com/office/powerpoint/2010/main" val="10288774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BD82A0-03FE-4B49-81B1-9EF20863A4EA}"/>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Bằng chứng lỗi: mô hình co về vùng HR trung bình</a:t>
            </a:r>
          </a:p>
        </p:txBody>
      </p:sp>
      <p:sp>
        <p:nvSpPr>
          <p:cNvPr id="2" name="">
            <a:extLst xmlns:a="http://schemas.openxmlformats.org/drawingml/2006/main">
              <a:ext uri="{FF2B5EF4-FFF2-40B4-BE49-F238E27FC236}">
                <a16:creationId xmlns:a16="http://schemas.microsoft.com/office/drawing/2014/main" id="{615D2A14-F191-46CE-8813-9BB2CE780985}"/>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C89F03-AA8B-43CE-B288-DA3CA67B8E55}"/>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Ca lỗi được chọn trên validation, không chọn từ test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4212a8cd8064057"/>
          <a:stretch xmlns:a="http://schemas.openxmlformats.org/drawingml/2006/main"/>
        </p:blipFill>
        <p:spPr>
          <a:xfrm xmlns:a="http://schemas.openxmlformats.org/drawingml/2006/main">
            <a:off x="1018479" y="1381125"/>
            <a:ext cx="3735192" cy="36195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1103316051b4b01"/>
          <a:stretch xmlns:a="http://schemas.openxmlformats.org/drawingml/2006/main"/>
        </p:blipFill>
        <p:spPr>
          <a:xfrm xmlns:a="http://schemas.openxmlformats.org/drawingml/2006/main">
            <a:off x="6167102" y="1352550"/>
            <a:ext cx="4715545"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F391505-006F-41B9-BEFB-9EE72DCFD636}"/>
              </a:ext>
            </a:extLst>
          </p:cNvPr>
          <p:cNvSpPr>
            <a:spLocks xmlns:a="http://schemas.openxmlformats.org/drawingml/2006/main" noGrp="1"/>
          </p:cNvSpPr>
          <p:nvPr/>
        </p:nvSpPr>
        <p:spPr>
          <a:xfrm xmlns:a="http://schemas.openxmlformats.org/drawingml/2006/main">
            <a:off x="8572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32F2F"/>
                </a:solidFill>
                <a:latin typeface="Arial"/>
                <a:ea typeface="Arial"/>
                <a:cs typeface="Arial"/>
              </a:defRPr>
            </a:pPr>
            <a:r>
              <a:rPr sz="1350" b="1">
                <a:solidFill>
                  <a:srgbClr val="D32F2F"/>
                </a:solidFill>
                <a:latin typeface="Arial"/>
                <a:ea typeface="Arial"/>
                <a:cs typeface="Arial"/>
              </a:rPr>
              <a:t>S11 • Stress</a:t>
            </a:r>
          </a:p>
        </p:txBody>
      </p:sp>
      <p:sp>
        <p:nvSpPr>
          <p:cNvPr id="7" name="">
            <a:extLst xmlns:a="http://schemas.openxmlformats.org/drawingml/2006/main">
              <a:ext uri="{FF2B5EF4-FFF2-40B4-BE49-F238E27FC236}">
                <a16:creationId xmlns:a16="http://schemas.microsoft.com/office/drawing/2014/main" id="{D068C71F-97D7-4970-8922-1CFE0112F624}"/>
              </a:ext>
            </a:extLst>
          </p:cNvPr>
          <p:cNvSpPr>
            <a:spLocks xmlns:a="http://schemas.openxmlformats.org/drawingml/2006/main" noGrp="1"/>
          </p:cNvSpPr>
          <p:nvPr/>
        </p:nvSpPr>
        <p:spPr>
          <a:xfrm xmlns:a="http://schemas.openxmlformats.org/drawingml/2006/main">
            <a:off x="857250" y="5543550"/>
            <a:ext cx="3714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03A5C"/>
                </a:solidFill>
                <a:latin typeface="Arial"/>
                <a:ea typeface="Arial"/>
                <a:cs typeface="Arial"/>
              </a:defRPr>
            </a:pPr>
            <a:r>
              <a:rPr sz="1725" b="1">
                <a:solidFill>
                  <a:srgbClr val="103A5C"/>
                </a:solidFill>
                <a:latin typeface="Arial"/>
                <a:ea typeface="Arial"/>
                <a:cs typeface="Arial"/>
              </a:rPr>
              <a:t>HR_ref 132,6 → CNN 65,2 BPM</a:t>
            </a:r>
          </a:p>
          <a:p xmlns:a="http://schemas.openxmlformats.org/drawingml/2006/main">
            <a:pPr algn="l">
              <a:defRPr sz="1725" b="1">
                <a:solidFill>
                  <a:srgbClr val="103A5C"/>
                </a:solidFill>
                <a:latin typeface="Arial"/>
                <a:ea typeface="Arial"/>
                <a:cs typeface="Arial"/>
              </a:defRPr>
            </a:pPr>
            <a:r>
              <a:rPr sz="1725" b="1">
                <a:solidFill>
                  <a:srgbClr val="103A5C"/>
                </a:solidFill>
                <a:latin typeface="Arial"/>
                <a:ea typeface="Arial"/>
                <a:cs typeface="Arial"/>
              </a:rPr>
              <a:t>|error| = 67,5 BPM</a:t>
            </a:r>
          </a:p>
        </p:txBody>
      </p:sp>
      <p:sp>
        <p:nvSpPr>
          <p:cNvPr id="8" name="">
            <a:extLst xmlns:a="http://schemas.openxmlformats.org/drawingml/2006/main">
              <a:ext uri="{FF2B5EF4-FFF2-40B4-BE49-F238E27FC236}">
                <a16:creationId xmlns:a16="http://schemas.microsoft.com/office/drawing/2014/main" id="{4E49AA08-B8FE-4695-BC68-8C9DEE1112AF}"/>
              </a:ext>
            </a:extLst>
          </p:cNvPr>
          <p:cNvSpPr>
            <a:spLocks xmlns:a="http://schemas.openxmlformats.org/drawingml/2006/main" noGrp="1"/>
          </p:cNvSpPr>
          <p:nvPr/>
        </p:nvSpPr>
        <p:spPr>
          <a:xfrm xmlns:a="http://schemas.openxmlformats.org/drawingml/2006/main">
            <a:off x="6477000" y="5314950"/>
            <a:ext cx="4095750" cy="704850"/>
          </a:xfrm>
          <a:prstGeom xmlns:a="http://schemas.openxmlformats.org/drawingml/2006/main" prst="rect">
            <a:avLst/>
          </a:prstGeom>
          <a:solidFill xmlns:a="http://schemas.openxmlformats.org/drawingml/2006/main">
            <a:srgbClr val="EAF3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42E"/>
                </a:solidFill>
                <a:latin typeface="Arial"/>
                <a:ea typeface="Arial"/>
                <a:cs typeface="Arial"/>
              </a:defRPr>
            </a:pPr>
            <a:r>
              <a:rPr sz="1650" b="1">
                <a:solidFill>
                  <a:srgbClr val="17242E"/>
                </a:solidFill>
                <a:latin typeface="Arial"/>
                <a:ea typeface="Arial"/>
                <a:cs typeface="Arial"/>
              </a:rPr>
              <a:t>Bias A0: −4,04 ± 0,86 BPM</a:t>
            </a:r>
          </a:p>
          <a:p xmlns:a="http://schemas.openxmlformats.org/drawingml/2006/main">
            <a:pPr algn="ctr">
              <a:defRPr sz="1650" b="1">
                <a:solidFill>
                  <a:srgbClr val="17242E"/>
                </a:solidFill>
                <a:latin typeface="Arial"/>
                <a:ea typeface="Arial"/>
                <a:cs typeface="Arial"/>
              </a:defRPr>
            </a:pPr>
            <a:r>
              <a:rPr sz="1650" b="1">
                <a:solidFill>
                  <a:srgbClr val="17242E"/>
                </a:solidFill>
                <a:latin typeface="Arial"/>
                <a:ea typeface="Arial"/>
                <a:cs typeface="Arial"/>
              </a:rPr>
              <a:t>Pearson r: 0,835 ± 0,009</a:t>
            </a:r>
          </a:p>
        </p:txBody>
      </p:sp>
      <p:sp>
        <p:nvSpPr>
          <p:cNvPr id="9" name="">
            <a:extLst xmlns:a="http://schemas.openxmlformats.org/drawingml/2006/main">
              <a:ext uri="{FF2B5EF4-FFF2-40B4-BE49-F238E27FC236}">
                <a16:creationId xmlns:a16="http://schemas.microsoft.com/office/drawing/2014/main" id="{CF9FA41F-DE8D-4EB2-8140-8ECE55C8C44B}"/>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10" name="">
            <a:extLst xmlns:a="http://schemas.openxmlformats.org/drawingml/2006/main">
              <a:ext uri="{FF2B5EF4-FFF2-40B4-BE49-F238E27FC236}">
                <a16:creationId xmlns:a16="http://schemas.microsoft.com/office/drawing/2014/main" id="{80E3E06D-C459-4E33-B55A-C9C24F36BA3F}"/>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11" name="">
            <a:extLst xmlns:a="http://schemas.openxmlformats.org/drawingml/2006/main">
              <a:ext uri="{FF2B5EF4-FFF2-40B4-BE49-F238E27FC236}">
                <a16:creationId xmlns:a16="http://schemas.microsoft.com/office/drawing/2014/main" id="{A6CAA586-2027-487F-9801-FE188B11C262}"/>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08</a:t>
            </a:r>
          </a:p>
        </p:txBody>
      </p:sp>
    </p:spTree>
    <p:extLst>
      <p:ext uri="{BB962C8B-B14F-4D97-AF65-F5344CB8AC3E}">
        <p14:creationId xmlns:p14="http://schemas.microsoft.com/office/powerpoint/2010/main" val="12247612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753213-B045-4D49-95ED-8E5D8676F331}"/>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Ablation: thay đúng một yếu tố</a:t>
            </a:r>
          </a:p>
        </p:txBody>
      </p:sp>
      <p:sp>
        <p:nvSpPr>
          <p:cNvPr id="2" name="">
            <a:extLst xmlns:a="http://schemas.openxmlformats.org/drawingml/2006/main">
              <a:ext uri="{FF2B5EF4-FFF2-40B4-BE49-F238E27FC236}">
                <a16:creationId xmlns:a16="http://schemas.microsoft.com/office/drawing/2014/main" id="{8B82592F-076B-4FFF-898B-1A373167AD33}"/>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C98C7F-34CE-4E50-97CA-B5EE9F86392D}"/>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Ba seed cho A0, A1, A3; A2 được ghi rõ chưa chạy</a:t>
            </a:r>
          </a:p>
        </p:txBody>
      </p:sp>
      <p:graphicFrame>
        <p:nvGraphicFramePr>
          <p:cNvPr id="14" name=""/>
          <p:cNvGraphicFramePr/>
          <p:nvPr/>
        </p:nvGraphicFramePr>
        <p:xfrm>
          <a:off xmlns:a="http://schemas.openxmlformats.org/drawingml/2006/main" x="666750" y="1476375"/>
          <a:ext xmlns:a="http://schemas.openxmlformats.org/drawingml/2006/main" cx="10858500" cy="2667000"/>
        </p:xfrm>
        <a:graphic xmlns:a="http://schemas.openxmlformats.org/drawingml/2006/main">
          <a:graphicData uri="http://schemas.openxmlformats.org/drawingml/2006/table">
            <a:tbl>
              <a:tblPr/>
              <a:tblGrid>
                <a:gridCol w="1619250"/>
                <a:gridCol w="3905250"/>
                <a:gridCol w="2857500"/>
                <a:gridCol w="2476500"/>
              </a:tblGrid>
              <a:tr h="533400">
                <a:tc>
                  <a:txBody>
                    <a:bodyPr/>
                    <a:lstStyle/>
                    <a:p>
                      <a:r>
                        <a:rPr sz="1125" b="1">
                          <a:solidFill>
                            <a:srgbClr val="FFFFFF"/>
                          </a:solidFill>
                          <a:latin typeface="Arial"/>
                          <a:ea typeface="Arial"/>
                          <a:cs typeface="Arial"/>
                        </a:rPr>
                        <a:t>Biến thể</a:t>
                      </a:r>
                    </a:p>
                  </a:txBody>
                  <a:tcPr marL="95250" marR="95250" marT="66675" marB="66675" anchor="ctr">
                    <a:solidFill>
                      <a:srgbClr val="103A5C"/>
                    </a:solidFill>
                  </a:tcPr>
                </a:tc>
                <a:tc>
                  <a:txBody>
                    <a:bodyPr/>
                    <a:lstStyle/>
                    <a:p>
                      <a:r>
                        <a:rPr sz="1125" b="1">
                          <a:solidFill>
                            <a:srgbClr val="FFFFFF"/>
                          </a:solidFill>
                          <a:latin typeface="Arial"/>
                          <a:ea typeface="Arial"/>
                          <a:cs typeface="Arial"/>
                        </a:rPr>
                        <a:t>Thay đổi</a:t>
                      </a:r>
                    </a:p>
                  </a:txBody>
                  <a:tcPr marL="95250" marR="95250" marT="66675" marB="66675" anchor="ctr">
                    <a:solidFill>
                      <a:srgbClr val="103A5C"/>
                    </a:solidFill>
                  </a:tcPr>
                </a:tc>
                <a:tc>
                  <a:txBody>
                    <a:bodyPr/>
                    <a:lstStyle/>
                    <a:p>
                      <a:r>
                        <a:rPr sz="1125" b="1">
                          <a:solidFill>
                            <a:srgbClr val="FFFFFF"/>
                          </a:solidFill>
                          <a:latin typeface="Arial"/>
                          <a:ea typeface="Arial"/>
                          <a:cs typeface="Arial"/>
                        </a:rPr>
                        <a:t>MAE_macro</a:t>
                      </a:r>
                    </a:p>
                  </a:txBody>
                  <a:tcPr marL="95250" marR="95250" marT="66675" marB="66675" anchor="ctr">
                    <a:solidFill>
                      <a:srgbClr val="103A5C"/>
                    </a:solidFill>
                  </a:tcPr>
                </a:tc>
                <a:tc>
                  <a:txBody>
                    <a:bodyPr/>
                    <a:lstStyle/>
                    <a:p>
                      <a:r>
                        <a:rPr sz="1125" b="1">
                          <a:solidFill>
                            <a:srgbClr val="FFFFFF"/>
                          </a:solidFill>
                          <a:latin typeface="Arial"/>
                          <a:ea typeface="Arial"/>
                          <a:cs typeface="Arial"/>
                        </a:rPr>
                        <a:t>So với E1</a:t>
                      </a:r>
                    </a:p>
                  </a:txBody>
                  <a:tcPr marL="95250" marR="95250" marT="66675" marB="66675" anchor="ctr">
                    <a:solidFill>
                      <a:srgbClr val="103A5C"/>
                    </a:solidFill>
                  </a:tcPr>
                </a:tc>
              </a:tr>
              <a:tr h="533400">
                <a:tc>
                  <a:txBody>
                    <a:bodyPr/>
                    <a:lstStyle/>
                    <a:p>
                      <a:r>
                        <a:rPr sz="1050">
                          <a:solidFill>
                            <a:srgbClr val="17242E"/>
                          </a:solidFill>
                          <a:latin typeface="Arial"/>
                          <a:ea typeface="Arial"/>
                          <a:cs typeface="Arial"/>
                        </a:rPr>
                        <a:t>A0</a:t>
                      </a:r>
                    </a:p>
                  </a:txBody>
                  <a:tcPr marL="95250" marR="95250" marT="57150" marB="57150" anchor="ctr"/>
                </a:tc>
                <a:tc>
                  <a:txBody>
                    <a:bodyPr/>
                    <a:lstStyle/>
                    <a:p>
                      <a:r>
                        <a:rPr sz="1050">
                          <a:solidFill>
                            <a:srgbClr val="17242E"/>
                          </a:solidFill>
                          <a:latin typeface="Arial"/>
                          <a:ea typeface="Arial"/>
                          <a:cs typeface="Arial"/>
                        </a:rPr>
                        <a:t>z-score + Huber + BN</a:t>
                      </a:r>
                    </a:p>
                  </a:txBody>
                  <a:tcPr marL="95250" marR="95250" marT="57150" marB="57150" anchor="ctr"/>
                </a:tc>
                <a:tc>
                  <a:txBody>
                    <a:bodyPr/>
                    <a:lstStyle/>
                    <a:p>
                      <a:r>
                        <a:rPr sz="1050">
                          <a:solidFill>
                            <a:srgbClr val="17242E"/>
                          </a:solidFill>
                          <a:latin typeface="Arial"/>
                          <a:ea typeface="Arial"/>
                          <a:cs typeface="Arial"/>
                        </a:rPr>
                        <a:t>8,867 ± 0,253</a:t>
                      </a:r>
                    </a:p>
                  </a:txBody>
                  <a:tcPr marL="95250" marR="95250" marT="57150" marB="57150" anchor="ctr"/>
                </a:tc>
                <a:tc>
                  <a:txBody>
                    <a:bodyPr/>
                    <a:lstStyle/>
                    <a:p>
                      <a:r>
                        <a:rPr sz="1050">
                          <a:solidFill>
                            <a:srgbClr val="17242E"/>
                          </a:solidFill>
                          <a:latin typeface="Arial"/>
                          <a:ea typeface="Arial"/>
                          <a:cs typeface="Arial"/>
                        </a:rPr>
                        <a:t>−35,0%</a:t>
                      </a:r>
                    </a:p>
                  </a:txBody>
                  <a:tcPr marL="95250" marR="95250" marT="57150" marB="57150" anchor="ctr"/>
                </a:tc>
              </a:tr>
              <a:tr h="533400">
                <a:tc>
                  <a:txBody>
                    <a:bodyPr/>
                    <a:lstStyle/>
                    <a:p>
                      <a:r>
                        <a:rPr sz="1050">
                          <a:solidFill>
                            <a:srgbClr val="17242E"/>
                          </a:solidFill>
                          <a:latin typeface="Arial"/>
                          <a:ea typeface="Arial"/>
                          <a:cs typeface="Arial"/>
                        </a:rPr>
                        <a:t>A1</a:t>
                      </a:r>
                    </a:p>
                  </a:txBody>
                  <a:tcPr marL="95250" marR="95250" marT="57150" marB="57150" anchor="ctr"/>
                </a:tc>
                <a:tc>
                  <a:txBody>
                    <a:bodyPr/>
                    <a:lstStyle/>
                    <a:p>
                      <a:r>
                        <a:rPr sz="1050">
                          <a:solidFill>
                            <a:srgbClr val="17242E"/>
                          </a:solidFill>
                          <a:latin typeface="Arial"/>
                          <a:ea typeface="Arial"/>
                          <a:cs typeface="Arial"/>
                        </a:rPr>
                        <a:t>Bỏ z-score</a:t>
                      </a:r>
                    </a:p>
                  </a:txBody>
                  <a:tcPr marL="95250" marR="95250" marT="57150" marB="57150" anchor="ctr"/>
                </a:tc>
                <a:tc>
                  <a:txBody>
                    <a:bodyPr/>
                    <a:lstStyle/>
                    <a:p>
                      <a:r>
                        <a:rPr sz="1050">
                          <a:solidFill>
                            <a:srgbClr val="17242E"/>
                          </a:solidFill>
                          <a:latin typeface="Arial"/>
                          <a:ea typeface="Arial"/>
                          <a:cs typeface="Arial"/>
                        </a:rPr>
                        <a:t>9,139 ± 0,095</a:t>
                      </a:r>
                    </a:p>
                  </a:txBody>
                  <a:tcPr marL="95250" marR="95250" marT="57150" marB="57150" anchor="ctr"/>
                </a:tc>
                <a:tc>
                  <a:txBody>
                    <a:bodyPr/>
                    <a:lstStyle/>
                    <a:p>
                      <a:r>
                        <a:rPr sz="1050">
                          <a:solidFill>
                            <a:srgbClr val="17242E"/>
                          </a:solidFill>
                          <a:latin typeface="Arial"/>
                          <a:ea typeface="Arial"/>
                          <a:cs typeface="Arial"/>
                        </a:rPr>
                        <a:t>−33,0%</a:t>
                      </a:r>
                    </a:p>
                  </a:txBody>
                  <a:tcPr marL="95250" marR="95250" marT="57150" marB="57150" anchor="ctr"/>
                </a:tc>
              </a:tr>
              <a:tr h="533400">
                <a:tc>
                  <a:txBody>
                    <a:bodyPr/>
                    <a:lstStyle/>
                    <a:p>
                      <a:r>
                        <a:rPr sz="1050">
                          <a:solidFill>
                            <a:srgbClr val="17242E"/>
                          </a:solidFill>
                          <a:latin typeface="Arial"/>
                          <a:ea typeface="Arial"/>
                          <a:cs typeface="Arial"/>
                        </a:rPr>
                        <a:t>A2</a:t>
                      </a:r>
                    </a:p>
                  </a:txBody>
                  <a:tcPr marL="95250" marR="95250" marT="57150" marB="57150" anchor="ctr"/>
                </a:tc>
                <a:tc>
                  <a:txBody>
                    <a:bodyPr/>
                    <a:lstStyle/>
                    <a:p>
                      <a:r>
                        <a:rPr sz="1050">
                          <a:solidFill>
                            <a:srgbClr val="17242E"/>
                          </a:solidFill>
                          <a:latin typeface="Arial"/>
                          <a:ea typeface="Arial"/>
                          <a:cs typeface="Arial"/>
                        </a:rPr>
                        <a:t>Bỏ BatchNorm</a:t>
                      </a:r>
                    </a:p>
                  </a:txBody>
                  <a:tcPr marL="95250" marR="95250" marT="57150" marB="57150" anchor="ctr"/>
                </a:tc>
                <a:tc>
                  <a:txBody>
                    <a:bodyPr/>
                    <a:lstStyle/>
                    <a:p>
                      <a:r>
                        <a:rPr sz="1050">
                          <a:solidFill>
                            <a:srgbClr val="17242E"/>
                          </a:solidFill>
                          <a:latin typeface="Arial"/>
                          <a:ea typeface="Arial"/>
                          <a:cs typeface="Arial"/>
                        </a:rPr>
                        <a:t>Chưa chạy</a:t>
                      </a:r>
                    </a:p>
                  </a:txBody>
                  <a:tcPr marL="95250" marR="95250" marT="57150" marB="57150" anchor="ctr"/>
                </a:tc>
                <a:tc>
                  <a:txBody>
                    <a:bodyPr/>
                    <a:lstStyle/>
                    <a:p>
                      <a:r>
                        <a:rPr sz="1050">
                          <a:solidFill>
                            <a:srgbClr val="17242E"/>
                          </a:solidFill>
                          <a:latin typeface="Arial"/>
                          <a:ea typeface="Arial"/>
                          <a:cs typeface="Arial"/>
                        </a:rPr>
                        <a:t>—</a:t>
                      </a:r>
                    </a:p>
                  </a:txBody>
                  <a:tcPr marL="95250" marR="95250" marT="57150" marB="57150" anchor="ctr"/>
                </a:tc>
              </a:tr>
              <a:tr h="533400">
                <a:tc>
                  <a:txBody>
                    <a:bodyPr/>
                    <a:lstStyle/>
                    <a:p>
                      <a:r>
                        <a:rPr sz="1050">
                          <a:solidFill>
                            <a:srgbClr val="17242E"/>
                          </a:solidFill>
                          <a:latin typeface="Arial"/>
                          <a:ea typeface="Arial"/>
                          <a:cs typeface="Arial"/>
                        </a:rPr>
                        <a:t>A3</a:t>
                      </a:r>
                    </a:p>
                  </a:txBody>
                  <a:tcPr marL="95250" marR="95250" marT="57150" marB="57150" anchor="ctr">
                    <a:solidFill>
                      <a:srgbClr val="E5F3E3"/>
                    </a:solidFill>
                  </a:tcPr>
                </a:tc>
                <a:tc>
                  <a:txBody>
                    <a:bodyPr/>
                    <a:lstStyle/>
                    <a:p>
                      <a:r>
                        <a:rPr sz="1050">
                          <a:solidFill>
                            <a:srgbClr val="17242E"/>
                          </a:solidFill>
                          <a:latin typeface="Arial"/>
                          <a:ea typeface="Arial"/>
                          <a:cs typeface="Arial"/>
                        </a:rPr>
                        <a:t>MSE thay Huber</a:t>
                      </a:r>
                    </a:p>
                  </a:txBody>
                  <a:tcPr marL="95250" marR="95250" marT="57150" marB="57150" anchor="ctr">
                    <a:solidFill>
                      <a:srgbClr val="E5F3E3"/>
                    </a:solidFill>
                  </a:tcPr>
                </a:tc>
                <a:tc>
                  <a:txBody>
                    <a:bodyPr/>
                    <a:lstStyle/>
                    <a:p>
                      <a:r>
                        <a:rPr sz="1050">
                          <a:solidFill>
                            <a:srgbClr val="17242E"/>
                          </a:solidFill>
                          <a:latin typeface="Arial"/>
                          <a:ea typeface="Arial"/>
                          <a:cs typeface="Arial"/>
                        </a:rPr>
                        <a:t>8,280 ± 0,328</a:t>
                      </a:r>
                    </a:p>
                  </a:txBody>
                  <a:tcPr marL="95250" marR="95250" marT="57150" marB="57150" anchor="ctr">
                    <a:solidFill>
                      <a:srgbClr val="E5F3E3"/>
                    </a:solidFill>
                  </a:tcPr>
                </a:tc>
                <a:tc>
                  <a:txBody>
                    <a:bodyPr/>
                    <a:lstStyle/>
                    <a:p>
                      <a:r>
                        <a:rPr sz="1050">
                          <a:solidFill>
                            <a:srgbClr val="17242E"/>
                          </a:solidFill>
                          <a:latin typeface="Arial"/>
                          <a:ea typeface="Arial"/>
                          <a:cs typeface="Arial"/>
                        </a:rPr>
                        <a:t>−39,3%</a:t>
                      </a:r>
                    </a:p>
                  </a:txBody>
                  <a:tcPr marL="95250" marR="95250" marT="57150" marB="57150" anchor="ctr">
                    <a:solidFill>
                      <a:srgbClr val="E5F3E3"/>
                    </a:solidFill>
                  </a:tcPr>
                </a:tc>
              </a:tr>
            </a:tbl>
          </a:graphicData>
        </a:graphic>
      </p:graphicFrame>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5f217378a0c4432"/>
          <a:stretch xmlns:a="http://schemas.openxmlformats.org/drawingml/2006/main"/>
        </p:blipFill>
        <p:spPr>
          <a:xfrm xmlns:a="http://schemas.openxmlformats.org/drawingml/2006/main">
            <a:off x="1622356" y="4333875"/>
            <a:ext cx="4565788" cy="1714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CA66AF2-A647-4C6F-ADB2-4C702C87366C}"/>
              </a:ext>
            </a:extLst>
          </p:cNvPr>
          <p:cNvSpPr>
            <a:spLocks xmlns:a="http://schemas.openxmlformats.org/drawingml/2006/main" noGrp="1"/>
          </p:cNvSpPr>
          <p:nvPr/>
        </p:nvSpPr>
        <p:spPr>
          <a:xfrm xmlns:a="http://schemas.openxmlformats.org/drawingml/2006/main">
            <a:off x="7334250" y="447675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D32F2F"/>
                </a:solidFill>
                <a:latin typeface="Arial"/>
                <a:ea typeface="Arial"/>
                <a:cs typeface="Arial"/>
              </a:defRPr>
            </a:pPr>
            <a:r>
              <a:rPr sz="1500" b="1">
                <a:solidFill>
                  <a:srgbClr val="D32F2F"/>
                </a:solidFill>
                <a:latin typeface="Arial"/>
                <a:ea typeface="Arial"/>
                <a:cs typeface="Arial"/>
              </a:rPr>
              <a:t>Kết luận</a:t>
            </a:r>
          </a:p>
        </p:txBody>
      </p:sp>
      <p:sp>
        <p:nvSpPr>
          <p:cNvPr id="7" name="">
            <a:extLst xmlns:a="http://schemas.openxmlformats.org/drawingml/2006/main">
              <a:ext uri="{FF2B5EF4-FFF2-40B4-BE49-F238E27FC236}">
                <a16:creationId xmlns:a16="http://schemas.microsoft.com/office/drawing/2014/main" id="{7A664C04-BF86-4CFE-B3A0-A836A1001CFB}"/>
              </a:ext>
            </a:extLst>
          </p:cNvPr>
          <p:cNvSpPr>
            <a:spLocks xmlns:a="http://schemas.openxmlformats.org/drawingml/2006/main" noGrp="1"/>
          </p:cNvSpPr>
          <p:nvPr/>
        </p:nvSpPr>
        <p:spPr>
          <a:xfrm xmlns:a="http://schemas.openxmlformats.org/drawingml/2006/main">
            <a:off x="7096125" y="4857750"/>
            <a:ext cx="3714750" cy="1123950"/>
          </a:xfrm>
          <a:prstGeom xmlns:a="http://schemas.openxmlformats.org/drawingml/2006/main" prst="rect">
            <a:avLst/>
          </a:prstGeom>
          <a:solidFill xmlns:a="http://schemas.openxmlformats.org/drawingml/2006/main">
            <a:srgbClr val="EAF3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03A5C"/>
                </a:solidFill>
                <a:latin typeface="Arial"/>
                <a:ea typeface="Arial"/>
                <a:cs typeface="Arial"/>
              </a:defRPr>
            </a:pPr>
            <a:r>
              <a:rPr sz="1575" b="1">
                <a:solidFill>
                  <a:srgbClr val="103A5C"/>
                </a:solidFill>
                <a:latin typeface="Arial"/>
                <a:ea typeface="Arial"/>
                <a:cs typeface="Arial"/>
              </a:rPr>
              <a:t>Z-score giúp A0 tốt hơn A1.</a:t>
            </a:r>
          </a:p>
          <a:p xmlns:a="http://schemas.openxmlformats.org/drawingml/2006/main">
            <a:pPr algn="ctr">
              <a:defRPr sz="1575" b="1">
                <a:solidFill>
                  <a:srgbClr val="103A5C"/>
                </a:solidFill>
                <a:latin typeface="Arial"/>
                <a:ea typeface="Arial"/>
                <a:cs typeface="Arial"/>
              </a:defRPr>
            </a:pPr>
            <a:r>
              <a:rPr sz="1575" b="1">
                <a:solidFill>
                  <a:srgbClr val="103A5C"/>
                </a:solidFill>
                <a:latin typeface="Arial"/>
                <a:ea typeface="Arial"/>
                <a:cs typeface="Arial"/>
              </a:rPr>
              <a:t>MSE tốt hơn Huber trên split này.</a:t>
            </a:r>
          </a:p>
          <a:p xmlns:a="http://schemas.openxmlformats.org/drawingml/2006/main">
            <a:pPr algn="ctr">
              <a:defRPr sz="1575" b="1">
                <a:solidFill>
                  <a:srgbClr val="103A5C"/>
                </a:solidFill>
                <a:latin typeface="Arial"/>
                <a:ea typeface="Arial"/>
                <a:cs typeface="Arial"/>
              </a:defRPr>
            </a:pPr>
            <a:r>
              <a:rPr sz="1575" b="1">
                <a:solidFill>
                  <a:srgbClr val="103A5C"/>
                </a:solidFill>
                <a:latin typeface="Arial"/>
                <a:ea typeface="Arial"/>
                <a:cs typeface="Arial"/>
              </a:rPr>
              <a:t>Chưa đủ để khái quát ngoài WESAD.</a:t>
            </a:r>
          </a:p>
        </p:txBody>
      </p:sp>
      <p:sp>
        <p:nvSpPr>
          <p:cNvPr id="8" name="">
            <a:extLst xmlns:a="http://schemas.openxmlformats.org/drawingml/2006/main">
              <a:ext uri="{FF2B5EF4-FFF2-40B4-BE49-F238E27FC236}">
                <a16:creationId xmlns:a16="http://schemas.microsoft.com/office/drawing/2014/main" id="{FE127044-5E70-402E-BF93-D02544224EF3}"/>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9" name="">
            <a:extLst xmlns:a="http://schemas.openxmlformats.org/drawingml/2006/main">
              <a:ext uri="{FF2B5EF4-FFF2-40B4-BE49-F238E27FC236}">
                <a16:creationId xmlns:a16="http://schemas.microsoft.com/office/drawing/2014/main" id="{1A903496-D91F-41AE-B168-4BC65550B185}"/>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10" name="">
            <a:extLst xmlns:a="http://schemas.openxmlformats.org/drawingml/2006/main">
              <a:ext uri="{FF2B5EF4-FFF2-40B4-BE49-F238E27FC236}">
                <a16:creationId xmlns:a16="http://schemas.microsoft.com/office/drawing/2014/main" id="{0E6132DE-814E-4792-A87F-D06F3BB73C37}"/>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09</a:t>
            </a:r>
          </a:p>
        </p:txBody>
      </p:sp>
    </p:spTree>
    <p:extLst>
      <p:ext uri="{BB962C8B-B14F-4D97-AF65-F5344CB8AC3E}">
        <p14:creationId xmlns:p14="http://schemas.microsoft.com/office/powerpoint/2010/main" val="6490280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8547FDA-03D3-4FFE-A6BD-09A0C7FF2473}"/>
              </a:ext>
            </a:extLst>
          </p:cNvPr>
          <p:cNvSpPr>
            <a:spLocks xmlns:a="http://schemas.openxmlformats.org/drawingml/2006/main" noGrp="1"/>
          </p:cNvSpPr>
          <p:nvPr/>
        </p:nvSpPr>
        <p:spPr>
          <a:xfrm xmlns:a="http://schemas.openxmlformats.org/drawingml/2006/main">
            <a:off x="685800" y="3619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3A5C"/>
                </a:solidFill>
                <a:latin typeface="Arial"/>
                <a:ea typeface="Arial"/>
                <a:cs typeface="Arial"/>
              </a:defRPr>
            </a:pPr>
            <a:r>
              <a:rPr sz="2550" b="1">
                <a:solidFill>
                  <a:srgbClr val="103A5C"/>
                </a:solidFill>
                <a:latin typeface="Arial"/>
                <a:ea typeface="Arial"/>
                <a:cs typeface="Arial"/>
              </a:rPr>
              <a:t>Độ trễ CPU nhỏ — nhưng pipeline hiện tại vẫn offline</a:t>
            </a:r>
          </a:p>
        </p:txBody>
      </p:sp>
      <p:sp>
        <p:nvSpPr>
          <p:cNvPr id="2" name="">
            <a:extLst xmlns:a="http://schemas.openxmlformats.org/drawingml/2006/main">
              <a:ext uri="{FF2B5EF4-FFF2-40B4-BE49-F238E27FC236}">
                <a16:creationId xmlns:a16="http://schemas.microsoft.com/office/drawing/2014/main" id="{01B73454-A44C-4AE0-8CCD-804F6A677F2B}"/>
              </a:ext>
            </a:extLst>
          </p:cNvPr>
          <p:cNvSpPr>
            <a:spLocks xmlns:a="http://schemas.openxmlformats.org/drawingml/2006/main" noGrp="1"/>
          </p:cNvSpPr>
          <p:nvPr/>
        </p:nvSpPr>
        <p:spPr>
          <a:xfrm xmlns:a="http://schemas.openxmlformats.org/drawingml/2006/main">
            <a:off x="685800" y="1000125"/>
            <a:ext cx="81915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0FA6BA-E4F9-4CD7-B428-2F84EF57EF3A}"/>
              </a:ext>
            </a:extLst>
          </p:cNvPr>
          <p:cNvSpPr>
            <a:spLocks xmlns:a="http://schemas.openxmlformats.org/drawingml/2006/main" noGrp="1"/>
          </p:cNvSpPr>
          <p:nvPr/>
        </p:nvSpPr>
        <p:spPr>
          <a:xfrm xmlns:a="http://schemas.openxmlformats.org/drawingml/2006/main">
            <a:off x="1666875" y="8667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F6B73"/>
                </a:solidFill>
                <a:latin typeface="Arial"/>
                <a:ea typeface="Arial"/>
                <a:cs typeface="Arial"/>
              </a:defRPr>
            </a:pPr>
            <a:r>
              <a:rPr sz="1125" b="0">
                <a:solidFill>
                  <a:srgbClr val="5F6B73"/>
                </a:solidFill>
                <a:latin typeface="Arial"/>
                <a:ea typeface="Arial"/>
                <a:cs typeface="Arial"/>
              </a:rPr>
              <a:t>Intel CPU • PyTorch 2.14 CPU • 1 thread • batch=1</a:t>
            </a:r>
          </a:p>
        </p:txBody>
      </p:sp>
      <p:graphicFrame>
        <p:nvGraphicFramePr>
          <p:cNvPr id="18" name="Chart"/>
          <p:cNvGraphicFramePr/>
          <p:nvPr/>
        </p:nvGraphicFramePr>
        <p:xfrm>
          <a:off xmlns:a="http://schemas.openxmlformats.org/drawingml/2006/main" x="666750" y="1571625"/>
          <a:ext xmlns:a="http://schemas.openxmlformats.org/drawingml/2006/main" cx="5810250" cy="3619500"/>
        </p:xfrm>
        <a:graphic xmlns:a="http://schemas.openxmlformats.org/drawingml/2006/main">
          <a:graphicData uri="http://schemas.openxmlformats.org/drawingml/2006/chart">
            <c:chart xmlns:r="http://schemas.openxmlformats.org/officeDocument/2006/relationships" xmlns:c="http://schemas.openxmlformats.org/drawingml/2006/chart" r:id="Rf21446ec323b4ad1"/>
          </a:graphicData>
        </a:graphic>
      </p:graphicFrame>
      <p:sp>
        <p:nvSpPr>
          <p:cNvPr id="5" name="">
            <a:extLst xmlns:a="http://schemas.openxmlformats.org/drawingml/2006/main">
              <a:ext uri="{FF2B5EF4-FFF2-40B4-BE49-F238E27FC236}">
                <a16:creationId xmlns:a16="http://schemas.microsoft.com/office/drawing/2014/main" id="{2439FA72-04A5-4E83-87FE-E56064A58B91}"/>
              </a:ext>
            </a:extLst>
          </p:cNvPr>
          <p:cNvSpPr>
            <a:spLocks xmlns:a="http://schemas.openxmlformats.org/drawingml/2006/main" noGrp="1"/>
          </p:cNvSpPr>
          <p:nvPr/>
        </p:nvSpPr>
        <p:spPr>
          <a:xfrm xmlns:a="http://schemas.openxmlformats.org/drawingml/2006/main">
            <a:off x="1095375" y="52197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ctr">
              <a:defRPr sz="1125" b="0">
                <a:solidFill>
                  <a:srgbClr val="5F6B73"/>
                </a:solidFill>
                <a:latin typeface="Arial"/>
                <a:ea typeface="Arial"/>
                <a:cs typeface="Arial"/>
              </a:defRPr>
            </a:pPr>
            <a:r>
              <a:rPr sz="1125" b="0">
                <a:solidFill>
                  <a:srgbClr val="5F6B73"/>
                </a:solidFill>
                <a:latin typeface="Arial"/>
                <a:ea typeface="Arial"/>
                <a:cs typeface="Arial"/>
              </a:rPr>
              <a:t>Đơn vị biểu đồ: µs (1.000 µs = 1 ms)</a:t>
            </a:r>
          </a:p>
        </p:txBody>
      </p:sp>
      <p:sp>
        <p:nvSpPr>
          <p:cNvPr id="6" name="">
            <a:extLst xmlns:a="http://schemas.openxmlformats.org/drawingml/2006/main">
              <a:ext uri="{FF2B5EF4-FFF2-40B4-BE49-F238E27FC236}">
                <a16:creationId xmlns:a16="http://schemas.microsoft.com/office/drawing/2014/main" id="{1CC0E1C7-C76F-4D84-8A91-FAD0093B127F}"/>
              </a:ext>
            </a:extLst>
          </p:cNvPr>
          <p:cNvSpPr>
            <a:spLocks xmlns:a="http://schemas.openxmlformats.org/drawingml/2006/main" noGrp="1"/>
          </p:cNvSpPr>
          <p:nvPr/>
        </p:nvSpPr>
        <p:spPr>
          <a:xfrm xmlns:a="http://schemas.openxmlformats.org/drawingml/2006/main">
            <a:off x="7239000" y="1571625"/>
            <a:ext cx="342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D32F2F"/>
                </a:solidFill>
                <a:latin typeface="Arial"/>
                <a:ea typeface="Arial"/>
                <a:cs typeface="Arial"/>
              </a:defRPr>
            </a:pPr>
            <a:r>
              <a:rPr sz="3600" b="1">
                <a:solidFill>
                  <a:srgbClr val="D32F2F"/>
                </a:solidFill>
                <a:latin typeface="Arial"/>
                <a:ea typeface="Arial"/>
                <a:cs typeface="Arial"/>
              </a:rPr>
              <a:t>11.153</a:t>
            </a:r>
          </a:p>
        </p:txBody>
      </p:sp>
      <p:sp>
        <p:nvSpPr>
          <p:cNvPr id="7" name="">
            <a:extLst xmlns:a="http://schemas.openxmlformats.org/drawingml/2006/main">
              <a:ext uri="{FF2B5EF4-FFF2-40B4-BE49-F238E27FC236}">
                <a16:creationId xmlns:a16="http://schemas.microsoft.com/office/drawing/2014/main" id="{21507EE9-DBA8-4A45-A699-E20521D856E0}"/>
              </a:ext>
            </a:extLst>
          </p:cNvPr>
          <p:cNvSpPr>
            <a:spLocks xmlns:a="http://schemas.openxmlformats.org/drawingml/2006/main" noGrp="1"/>
          </p:cNvSpPr>
          <p:nvPr/>
        </p:nvSpPr>
        <p:spPr>
          <a:xfrm xmlns:a="http://schemas.openxmlformats.org/drawingml/2006/main">
            <a:off x="7239000" y="22669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0">
                <a:solidFill>
                  <a:srgbClr val="5F6B73"/>
                </a:solidFill>
                <a:latin typeface="Arial"/>
                <a:ea typeface="Arial"/>
                <a:cs typeface="Arial"/>
              </a:defRPr>
            </a:pPr>
            <a:r>
              <a:rPr sz="1350" b="0">
                <a:solidFill>
                  <a:srgbClr val="5F6B73"/>
                </a:solidFill>
                <a:latin typeface="Arial"/>
                <a:ea typeface="Arial"/>
                <a:cs typeface="Arial"/>
              </a:rPr>
              <a:t>tham số</a:t>
            </a:r>
          </a:p>
        </p:txBody>
      </p:sp>
      <p:sp>
        <p:nvSpPr>
          <p:cNvPr id="8" name="">
            <a:extLst xmlns:a="http://schemas.openxmlformats.org/drawingml/2006/main">
              <a:ext uri="{FF2B5EF4-FFF2-40B4-BE49-F238E27FC236}">
                <a16:creationId xmlns:a16="http://schemas.microsoft.com/office/drawing/2014/main" id="{6EE92C6D-6F85-4BEC-A5D6-48F78C3DA300}"/>
              </a:ext>
            </a:extLst>
          </p:cNvPr>
          <p:cNvSpPr>
            <a:spLocks xmlns:a="http://schemas.openxmlformats.org/drawingml/2006/main" noGrp="1"/>
          </p:cNvSpPr>
          <p:nvPr/>
        </p:nvSpPr>
        <p:spPr>
          <a:xfrm xmlns:a="http://schemas.openxmlformats.org/drawingml/2006/main">
            <a:off x="7239000" y="2857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103A5C"/>
                </a:solidFill>
                <a:latin typeface="Arial"/>
                <a:ea typeface="Arial"/>
                <a:cs typeface="Arial"/>
              </a:defRPr>
            </a:pPr>
            <a:r>
              <a:rPr sz="2550" b="1">
                <a:solidFill>
                  <a:srgbClr val="103A5C"/>
                </a:solidFill>
                <a:latin typeface="Arial"/>
                <a:ea typeface="Arial"/>
                <a:cs typeface="Arial"/>
              </a:rPr>
              <a:t>53.089 byte</a:t>
            </a:r>
          </a:p>
        </p:txBody>
      </p:sp>
      <p:sp>
        <p:nvSpPr>
          <p:cNvPr id="9" name="">
            <a:extLst xmlns:a="http://schemas.openxmlformats.org/drawingml/2006/main">
              <a:ext uri="{FF2B5EF4-FFF2-40B4-BE49-F238E27FC236}">
                <a16:creationId xmlns:a16="http://schemas.microsoft.com/office/drawing/2014/main" id="{CB1A969E-9131-49AB-95BF-7F10DD8B5396}"/>
              </a:ext>
            </a:extLst>
          </p:cNvPr>
          <p:cNvSpPr>
            <a:spLocks xmlns:a="http://schemas.openxmlformats.org/drawingml/2006/main" noGrp="1"/>
          </p:cNvSpPr>
          <p:nvPr/>
        </p:nvSpPr>
        <p:spPr>
          <a:xfrm xmlns:a="http://schemas.openxmlformats.org/drawingml/2006/main">
            <a:off x="7239000" y="34290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0">
                <a:solidFill>
                  <a:srgbClr val="5F6B73"/>
                </a:solidFill>
                <a:latin typeface="Arial"/>
                <a:ea typeface="Arial"/>
                <a:cs typeface="Arial"/>
              </a:defRPr>
            </a:pPr>
            <a:r>
              <a:rPr sz="1350" b="0">
                <a:solidFill>
                  <a:srgbClr val="5F6B73"/>
                </a:solidFill>
                <a:latin typeface="Arial"/>
                <a:ea typeface="Arial"/>
                <a:cs typeface="Arial"/>
              </a:rPr>
              <a:t>checkpoint</a:t>
            </a:r>
          </a:p>
        </p:txBody>
      </p:sp>
      <p:sp>
        <p:nvSpPr>
          <p:cNvPr id="10" name="">
            <a:extLst xmlns:a="http://schemas.openxmlformats.org/drawingml/2006/main">
              <a:ext uri="{FF2B5EF4-FFF2-40B4-BE49-F238E27FC236}">
                <a16:creationId xmlns:a16="http://schemas.microsoft.com/office/drawing/2014/main" id="{BEDF6636-BB10-4514-92C0-F7E3DF447F6F}"/>
              </a:ext>
            </a:extLst>
          </p:cNvPr>
          <p:cNvSpPr>
            <a:spLocks xmlns:a="http://schemas.openxmlformats.org/drawingml/2006/main" noGrp="1"/>
          </p:cNvSpPr>
          <p:nvPr/>
        </p:nvSpPr>
        <p:spPr>
          <a:xfrm xmlns:a="http://schemas.openxmlformats.org/drawingml/2006/main">
            <a:off x="6953250" y="4143375"/>
            <a:ext cx="4000500" cy="514350"/>
          </a:xfrm>
          <a:prstGeom xmlns:a="http://schemas.openxmlformats.org/drawingml/2006/main" prst="rect">
            <a:avLst/>
          </a:prstGeom>
          <a:solidFill xmlns:a="http://schemas.openxmlformats.org/drawingml/2006/main">
            <a:srgbClr val="103A5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8 s quan sát  •  cập nhật mỗi 2 s</a:t>
            </a:r>
          </a:p>
        </p:txBody>
      </p:sp>
      <p:sp>
        <p:nvSpPr>
          <p:cNvPr id="11" name="">
            <a:extLst xmlns:a="http://schemas.openxmlformats.org/drawingml/2006/main">
              <a:ext uri="{FF2B5EF4-FFF2-40B4-BE49-F238E27FC236}">
                <a16:creationId xmlns:a16="http://schemas.microsoft.com/office/drawing/2014/main" id="{2C383283-47ED-4850-BD35-7811724DCC76}"/>
              </a:ext>
            </a:extLst>
          </p:cNvPr>
          <p:cNvSpPr>
            <a:spLocks xmlns:a="http://schemas.openxmlformats.org/drawingml/2006/main" noGrp="1"/>
          </p:cNvSpPr>
          <p:nvPr/>
        </p:nvSpPr>
        <p:spPr>
          <a:xfrm xmlns:a="http://schemas.openxmlformats.org/drawingml/2006/main">
            <a:off x="904875" y="5486400"/>
            <a:ext cx="10191750" cy="552450"/>
          </a:xfrm>
          <a:prstGeom xmlns:a="http://schemas.openxmlformats.org/drawingml/2006/main" prst="rect">
            <a:avLst/>
          </a:prstGeom>
          <a:solidFill xmlns:a="http://schemas.openxmlformats.org/drawingml/2006/main">
            <a:srgbClr val="FFF1F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D32F2F"/>
                </a:solidFill>
                <a:latin typeface="Arial"/>
                <a:ea typeface="Arial"/>
                <a:cs typeface="Arial"/>
              </a:defRPr>
            </a:pPr>
            <a:r>
              <a:rPr sz="1350" b="1">
                <a:solidFill>
                  <a:srgbClr val="D32F2F"/>
                </a:solidFill>
                <a:latin typeface="Arial"/>
                <a:ea typeface="Arial"/>
                <a:cs typeface="Arial"/>
              </a:rPr>
              <a:t>*E2E là ước lượng cộng dồn từ tiền xử lý offline amortized — không phải latency streaming nhân quả.</a:t>
            </a:r>
          </a:p>
        </p:txBody>
      </p:sp>
      <p:sp>
        <p:nvSpPr>
          <p:cNvPr id="12" name="">
            <a:extLst xmlns:a="http://schemas.openxmlformats.org/drawingml/2006/main">
              <a:ext uri="{FF2B5EF4-FFF2-40B4-BE49-F238E27FC236}">
                <a16:creationId xmlns:a16="http://schemas.microsoft.com/office/drawing/2014/main" id="{1F21A8D1-E1E8-4979-80B0-62C7E2803C02}"/>
              </a:ext>
            </a:extLst>
          </p:cNvPr>
          <p:cNvSpPr>
            <a:spLocks xmlns:a="http://schemas.openxmlformats.org/drawingml/2006/main" noGrp="1"/>
          </p:cNvSpPr>
          <p:nvPr/>
        </p:nvSpPr>
        <p:spPr>
          <a:xfrm xmlns:a="http://schemas.openxmlformats.org/drawingml/2006/main">
            <a:off x="685800" y="6467475"/>
            <a:ext cx="10820400" cy="9525"/>
          </a:xfrm>
          <a:prstGeom xmlns:a="http://schemas.openxmlformats.org/drawingml/2006/main" prst="line">
            <a:avLst/>
          </a:prstGeom>
          <a:noFill xmlns:a="http://schemas.openxmlformats.org/drawingml/2006/main"/>
          <a:ln xmlns:a="http://schemas.openxmlformats.org/drawingml/2006/main" w="9525">
            <a:solidFill>
              <a:srgbClr val="C9D3DB"/>
            </a:solidFill>
          </a:ln>
        </p:spPr>
      </p:sp>
      <p:sp>
        <p:nvSpPr>
          <p:cNvPr id="13" name="">
            <a:extLst xmlns:a="http://schemas.openxmlformats.org/drawingml/2006/main">
              <a:ext uri="{FF2B5EF4-FFF2-40B4-BE49-F238E27FC236}">
                <a16:creationId xmlns:a16="http://schemas.microsoft.com/office/drawing/2014/main" id="{277B7E28-932E-4534-B2C3-4F603024A416}"/>
              </a:ext>
            </a:extLst>
          </p:cNvPr>
          <p:cNvSpPr>
            <a:spLocks xmlns:a="http://schemas.openxmlformats.org/drawingml/2006/main" noGrp="1"/>
          </p:cNvSpPr>
          <p:nvPr/>
        </p:nvSpPr>
        <p:spPr>
          <a:xfrm xmlns:a="http://schemas.openxmlformats.org/drawingml/2006/main">
            <a:off x="685800" y="65055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0">
                <a:solidFill>
                  <a:srgbClr val="5F6B73"/>
                </a:solidFill>
                <a:latin typeface="Arial"/>
                <a:ea typeface="Arial"/>
                <a:cs typeface="Arial"/>
              </a:defRPr>
            </a:pPr>
            <a:r>
              <a:rPr sz="825" b="0">
                <a:solidFill>
                  <a:srgbClr val="5F6B73"/>
                </a:solidFill>
                <a:latin typeface="Arial"/>
                <a:ea typeface="Arial"/>
                <a:cs typeface="Arial"/>
              </a:rPr>
              <a:t>Đ18 • Trần Tiến Thịnh • 22110236</a:t>
            </a:r>
          </a:p>
        </p:txBody>
      </p:sp>
      <p:sp>
        <p:nvSpPr>
          <p:cNvPr id="14" name="">
            <a:extLst xmlns:a="http://schemas.openxmlformats.org/drawingml/2006/main">
              <a:ext uri="{FF2B5EF4-FFF2-40B4-BE49-F238E27FC236}">
                <a16:creationId xmlns:a16="http://schemas.microsoft.com/office/drawing/2014/main" id="{C64F8C73-B8E0-4765-9706-EB9E49769FC1}"/>
              </a:ext>
            </a:extLst>
          </p:cNvPr>
          <p:cNvSpPr>
            <a:spLocks xmlns:a="http://schemas.openxmlformats.org/drawingml/2006/main" noGrp="1"/>
          </p:cNvSpPr>
          <p:nvPr/>
        </p:nvSpPr>
        <p:spPr>
          <a:xfrm xmlns:a="http://schemas.openxmlformats.org/drawingml/2006/main">
            <a:off x="10763250" y="6505575"/>
            <a:ext cx="742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r">
              <a:defRPr sz="825" b="0">
                <a:solidFill>
                  <a:srgbClr val="5F6B73"/>
                </a:solidFill>
                <a:latin typeface="Arial"/>
                <a:ea typeface="Arial"/>
                <a:cs typeface="Arial"/>
              </a:defRPr>
            </a:pPr>
            <a:r>
              <a:rPr sz="825" b="0">
                <a:solidFill>
                  <a:srgbClr val="5F6B73"/>
                </a:solidFill>
                <a:latin typeface="Arial"/>
                <a:ea typeface="Arial"/>
                <a:cs typeface="Arial"/>
              </a:rPr>
              <a:t>10</a:t>
            </a:r>
          </a:p>
        </p:txBody>
      </p:sp>
    </p:spTree>
    <p:extLst>
      <p:ext uri="{BB962C8B-B14F-4D97-AF65-F5344CB8AC3E}">
        <p14:creationId xmlns:p14="http://schemas.microsoft.com/office/powerpoint/2010/main" val="468323048"/>
      </p:ext>
    </p:extLst>
  </p:cSld>
</p:sld>
</file>

<file path=ppt/slides/slide11.xml><?xml version="1.0" encoding="utf-8"?>
<p:sld xmlns:p="http://schemas.openxmlformats.org/presentationml/2006/main">
  <p:cSld>
    <p:bg>
      <p:bgPr>
        <a:solidFill xmlns:a="http://schemas.openxmlformats.org/drawingml/2006/main">
          <a:srgbClr val="103A5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7F9D693-8140-45E3-88FA-87DAFF7E32C1}"/>
              </a:ext>
            </a:extLst>
          </p:cNvPr>
          <p:cNvSpPr>
            <a:spLocks xmlns:a="http://schemas.openxmlformats.org/drawingml/2006/main" noGrp="1"/>
          </p:cNvSpPr>
          <p:nvPr/>
        </p:nvSpPr>
        <p:spPr>
          <a:xfrm xmlns:a="http://schemas.openxmlformats.org/drawingml/2006/main">
            <a:off x="723900" y="5143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KẾT LUẬN</a:t>
            </a:r>
          </a:p>
        </p:txBody>
      </p:sp>
      <p:sp>
        <p:nvSpPr>
          <p:cNvPr id="2" name="">
            <a:extLst xmlns:a="http://schemas.openxmlformats.org/drawingml/2006/main">
              <a:ext uri="{FF2B5EF4-FFF2-40B4-BE49-F238E27FC236}">
                <a16:creationId xmlns:a16="http://schemas.microsoft.com/office/drawing/2014/main" id="{2A8F17BD-4435-467C-A378-ED4EFD55F3DE}"/>
              </a:ext>
            </a:extLst>
          </p:cNvPr>
          <p:cNvSpPr>
            <a:spLocks xmlns:a="http://schemas.openxmlformats.org/drawingml/2006/main" noGrp="1"/>
          </p:cNvSpPr>
          <p:nvPr/>
        </p:nvSpPr>
        <p:spPr>
          <a:xfrm xmlns:a="http://schemas.openxmlformats.org/drawingml/2006/main">
            <a:off x="723900" y="1171575"/>
            <a:ext cx="876300" cy="47625"/>
          </a:xfrm>
          <a:prstGeom xmlns:a="http://schemas.openxmlformats.org/drawingml/2006/main" prst="rect">
            <a:avLst/>
          </a:prstGeom>
          <a:solidFill xmlns:a="http://schemas.openxmlformats.org/drawingml/2006/main">
            <a:srgbClr val="D32F2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FD2875-AA7F-4B12-BF25-329750E98981}"/>
              </a:ext>
            </a:extLst>
          </p:cNvPr>
          <p:cNvSpPr>
            <a:spLocks xmlns:a="http://schemas.openxmlformats.org/drawingml/2006/main" noGrp="1"/>
          </p:cNvSpPr>
          <p:nvPr/>
        </p:nvSpPr>
        <p:spPr>
          <a:xfrm xmlns:a="http://schemas.openxmlformats.org/drawingml/2006/main">
            <a:off x="819150" y="15716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CE56"/>
                </a:solidFill>
                <a:latin typeface="Arial"/>
                <a:ea typeface="Arial"/>
                <a:cs typeface="Arial"/>
              </a:defRPr>
            </a:pPr>
            <a:r>
              <a:rPr sz="1725" b="1">
                <a:solidFill>
                  <a:srgbClr val="FFCE5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7242593-B303-49C7-8F1A-E9C2138174BA}"/>
              </a:ext>
            </a:extLst>
          </p:cNvPr>
          <p:cNvSpPr>
            <a:spLocks xmlns:a="http://schemas.openxmlformats.org/drawingml/2006/main" noGrp="1"/>
          </p:cNvSpPr>
          <p:nvPr/>
        </p:nvSpPr>
        <p:spPr>
          <a:xfrm xmlns:a="http://schemas.openxmlformats.org/drawingml/2006/main">
            <a:off x="1714500" y="15716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Đạt mục tiêu tương đối</a:t>
            </a:r>
          </a:p>
        </p:txBody>
      </p:sp>
      <p:sp>
        <p:nvSpPr>
          <p:cNvPr id="5" name="">
            <a:extLst xmlns:a="http://schemas.openxmlformats.org/drawingml/2006/main">
              <a:ext uri="{FF2B5EF4-FFF2-40B4-BE49-F238E27FC236}">
                <a16:creationId xmlns:a16="http://schemas.microsoft.com/office/drawing/2014/main" id="{C9322E0F-1539-4BBC-B3A3-8A4E50B10260}"/>
              </a:ext>
            </a:extLst>
          </p:cNvPr>
          <p:cNvSpPr>
            <a:spLocks xmlns:a="http://schemas.openxmlformats.org/drawingml/2006/main" noGrp="1"/>
          </p:cNvSpPr>
          <p:nvPr/>
        </p:nvSpPr>
        <p:spPr>
          <a:xfrm xmlns:a="http://schemas.openxmlformats.org/drawingml/2006/main">
            <a:off x="1714500" y="1905000"/>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D9EAF4"/>
                </a:solidFill>
                <a:latin typeface="Arial"/>
                <a:ea typeface="Arial"/>
                <a:cs typeface="Arial"/>
              </a:defRPr>
            </a:pPr>
            <a:r>
              <a:rPr sz="1275" b="0">
                <a:solidFill>
                  <a:srgbClr val="D9EAF4"/>
                </a:solidFill>
                <a:latin typeface="Arial"/>
                <a:ea typeface="Arial"/>
                <a:cs typeface="Arial"/>
              </a:rPr>
              <a:t>A0 giảm 35,0% MAE_macro so với FFT.</a:t>
            </a:r>
          </a:p>
        </p:txBody>
      </p:sp>
      <p:sp>
        <p:nvSpPr>
          <p:cNvPr id="6" name="">
            <a:extLst xmlns:a="http://schemas.openxmlformats.org/drawingml/2006/main">
              <a:ext uri="{FF2B5EF4-FFF2-40B4-BE49-F238E27FC236}">
                <a16:creationId xmlns:a16="http://schemas.microsoft.com/office/drawing/2014/main" id="{8A19336C-B279-40E2-B781-0BF64CF39EB9}"/>
              </a:ext>
            </a:extLst>
          </p:cNvPr>
          <p:cNvSpPr>
            <a:spLocks xmlns:a="http://schemas.openxmlformats.org/drawingml/2006/main" noGrp="1"/>
          </p:cNvSpPr>
          <p:nvPr/>
        </p:nvSpPr>
        <p:spPr>
          <a:xfrm xmlns:a="http://schemas.openxmlformats.org/drawingml/2006/main">
            <a:off x="819150" y="250507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CE56"/>
                </a:solidFill>
                <a:latin typeface="Arial"/>
                <a:ea typeface="Arial"/>
                <a:cs typeface="Arial"/>
              </a:defRPr>
            </a:pPr>
            <a:r>
              <a:rPr sz="1725" b="1">
                <a:solidFill>
                  <a:srgbClr val="FFCE56"/>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836179B-DE13-499B-8EAD-730AEFBB925B}"/>
              </a:ext>
            </a:extLst>
          </p:cNvPr>
          <p:cNvSpPr>
            <a:spLocks xmlns:a="http://schemas.openxmlformats.org/drawingml/2006/main" noGrp="1"/>
          </p:cNvSpPr>
          <p:nvPr/>
        </p:nvSpPr>
        <p:spPr>
          <a:xfrm xmlns:a="http://schemas.openxmlformats.org/drawingml/2006/main">
            <a:off x="1714500" y="25050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Chưa đạt 7 BPM</a:t>
            </a:r>
          </a:p>
        </p:txBody>
      </p:sp>
      <p:sp>
        <p:nvSpPr>
          <p:cNvPr id="8" name="">
            <a:extLst xmlns:a="http://schemas.openxmlformats.org/drawingml/2006/main">
              <a:ext uri="{FF2B5EF4-FFF2-40B4-BE49-F238E27FC236}">
                <a16:creationId xmlns:a16="http://schemas.microsoft.com/office/drawing/2014/main" id="{563DCF46-7ACD-4978-940D-52689FE57134}"/>
              </a:ext>
            </a:extLst>
          </p:cNvPr>
          <p:cNvSpPr>
            <a:spLocks xmlns:a="http://schemas.openxmlformats.org/drawingml/2006/main" noGrp="1"/>
          </p:cNvSpPr>
          <p:nvPr/>
        </p:nvSpPr>
        <p:spPr>
          <a:xfrm xmlns:a="http://schemas.openxmlformats.org/drawingml/2006/main">
            <a:off x="1714500" y="2838450"/>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D9EAF4"/>
                </a:solidFill>
                <a:latin typeface="Arial"/>
                <a:ea typeface="Arial"/>
                <a:cs typeface="Arial"/>
              </a:defRPr>
            </a:pPr>
            <a:r>
              <a:rPr sz="1275" b="0">
                <a:solidFill>
                  <a:srgbClr val="D9EAF4"/>
                </a:solidFill>
                <a:latin typeface="Arial"/>
                <a:ea typeface="Arial"/>
                <a:cs typeface="Arial"/>
              </a:rPr>
              <a:t>A0 8,867 ± 0,253; A3 8,280 ± 0,328 BPM.</a:t>
            </a:r>
          </a:p>
        </p:txBody>
      </p:sp>
      <p:sp>
        <p:nvSpPr>
          <p:cNvPr id="9" name="">
            <a:extLst xmlns:a="http://schemas.openxmlformats.org/drawingml/2006/main">
              <a:ext uri="{FF2B5EF4-FFF2-40B4-BE49-F238E27FC236}">
                <a16:creationId xmlns:a16="http://schemas.microsoft.com/office/drawing/2014/main" id="{510C8D32-1466-4503-B6AB-8C79B371831B}"/>
              </a:ext>
            </a:extLst>
          </p:cNvPr>
          <p:cNvSpPr>
            <a:spLocks xmlns:a="http://schemas.openxmlformats.org/drawingml/2006/main" noGrp="1"/>
          </p:cNvSpPr>
          <p:nvPr/>
        </p:nvSpPr>
        <p:spPr>
          <a:xfrm xmlns:a="http://schemas.openxmlformats.org/drawingml/2006/main">
            <a:off x="819150" y="34385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CE56"/>
                </a:solidFill>
                <a:latin typeface="Arial"/>
                <a:ea typeface="Arial"/>
                <a:cs typeface="Arial"/>
              </a:defRPr>
            </a:pPr>
            <a:r>
              <a:rPr sz="1725" b="1">
                <a:solidFill>
                  <a:srgbClr val="FFCE56"/>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68CC599-8A9C-43A0-8599-E29159400E17}"/>
              </a:ext>
            </a:extLst>
          </p:cNvPr>
          <p:cNvSpPr>
            <a:spLocks xmlns:a="http://schemas.openxmlformats.org/drawingml/2006/main" noGrp="1"/>
          </p:cNvSpPr>
          <p:nvPr/>
        </p:nvSpPr>
        <p:spPr>
          <a:xfrm xmlns:a="http://schemas.openxmlformats.org/drawingml/2006/main">
            <a:off x="1714500" y="34385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Điểm nghẽn rõ ràng</a:t>
            </a:r>
          </a:p>
        </p:txBody>
      </p:sp>
      <p:sp>
        <p:nvSpPr>
          <p:cNvPr id="11" name="">
            <a:extLst xmlns:a="http://schemas.openxmlformats.org/drawingml/2006/main">
              <a:ext uri="{FF2B5EF4-FFF2-40B4-BE49-F238E27FC236}">
                <a16:creationId xmlns:a16="http://schemas.microsoft.com/office/drawing/2014/main" id="{A3DC7F93-A092-4FC4-9F34-79F74A684967}"/>
              </a:ext>
            </a:extLst>
          </p:cNvPr>
          <p:cNvSpPr>
            <a:spLocks xmlns:a="http://schemas.openxmlformats.org/drawingml/2006/main" noGrp="1"/>
          </p:cNvSpPr>
          <p:nvPr/>
        </p:nvSpPr>
        <p:spPr>
          <a:xfrm xmlns:a="http://schemas.openxmlformats.org/drawingml/2006/main">
            <a:off x="1714500" y="3771900"/>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D9EAF4"/>
                </a:solidFill>
                <a:latin typeface="Arial"/>
                <a:ea typeface="Arial"/>
                <a:cs typeface="Arial"/>
              </a:defRPr>
            </a:pPr>
            <a:r>
              <a:rPr sz="1275" b="0">
                <a:solidFill>
                  <a:srgbClr val="D9EAF4"/>
                </a:solidFill>
                <a:latin typeface="Arial"/>
                <a:ea typeface="Arial"/>
                <a:cs typeface="Arial"/>
              </a:rPr>
              <a:t>Stress, S16 và xu hướng đánh giá thấp HR cao.</a:t>
            </a:r>
          </a:p>
        </p:txBody>
      </p:sp>
      <p:sp>
        <p:nvSpPr>
          <p:cNvPr id="12" name="">
            <a:extLst xmlns:a="http://schemas.openxmlformats.org/drawingml/2006/main">
              <a:ext uri="{FF2B5EF4-FFF2-40B4-BE49-F238E27FC236}">
                <a16:creationId xmlns:a16="http://schemas.microsoft.com/office/drawing/2014/main" id="{BAE0A12C-9A81-4F02-9A8C-2B5F585FE747}"/>
              </a:ext>
            </a:extLst>
          </p:cNvPr>
          <p:cNvSpPr>
            <a:spLocks xmlns:a="http://schemas.openxmlformats.org/drawingml/2006/main" noGrp="1"/>
          </p:cNvSpPr>
          <p:nvPr/>
        </p:nvSpPr>
        <p:spPr>
          <a:xfrm xmlns:a="http://schemas.openxmlformats.org/drawingml/2006/main">
            <a:off x="819150" y="437197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CE56"/>
                </a:solidFill>
                <a:latin typeface="Arial"/>
                <a:ea typeface="Arial"/>
                <a:cs typeface="Arial"/>
              </a:defRPr>
            </a:pPr>
            <a:r>
              <a:rPr sz="1725" b="1">
                <a:solidFill>
                  <a:srgbClr val="FFCE56"/>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17623CEE-4402-40BF-9EB2-2CFD05756EDE}"/>
              </a:ext>
            </a:extLst>
          </p:cNvPr>
          <p:cNvSpPr>
            <a:spLocks xmlns:a="http://schemas.openxmlformats.org/drawingml/2006/main" noGrp="1"/>
          </p:cNvSpPr>
          <p:nvPr/>
        </p:nvSpPr>
        <p:spPr>
          <a:xfrm xmlns:a="http://schemas.openxmlformats.org/drawingml/2006/main">
            <a:off x="1714500" y="43719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Bằng chứng tái lập</a:t>
            </a:r>
          </a:p>
        </p:txBody>
      </p:sp>
      <p:sp>
        <p:nvSpPr>
          <p:cNvPr id="14" name="">
            <a:extLst xmlns:a="http://schemas.openxmlformats.org/drawingml/2006/main">
              <a:ext uri="{FF2B5EF4-FFF2-40B4-BE49-F238E27FC236}">
                <a16:creationId xmlns:a16="http://schemas.microsoft.com/office/drawing/2014/main" id="{7F46391D-D4B0-47EE-ACFC-1FB59B8E0AD1}"/>
              </a:ext>
            </a:extLst>
          </p:cNvPr>
          <p:cNvSpPr>
            <a:spLocks xmlns:a="http://schemas.openxmlformats.org/drawingml/2006/main" noGrp="1"/>
          </p:cNvSpPr>
          <p:nvPr/>
        </p:nvSpPr>
        <p:spPr>
          <a:xfrm xmlns:a="http://schemas.openxmlformats.org/drawingml/2006/main">
            <a:off x="1714500" y="4705350"/>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D9EAF4"/>
                </a:solidFill>
                <a:latin typeface="Arial"/>
                <a:ea typeface="Arial"/>
                <a:cs typeface="Arial"/>
              </a:defRPr>
            </a:pPr>
            <a:r>
              <a:rPr sz="1275" b="0">
                <a:solidFill>
                  <a:srgbClr val="D9EAF4"/>
                </a:solidFill>
                <a:latin typeface="Arial"/>
                <a:ea typeface="Arial"/>
                <a:cs typeface="Arial"/>
              </a:rPr>
              <a:t>Hash, checkpoint, log, prediction, notebook và QC đầy đủ.</a:t>
            </a:r>
          </a:p>
        </p:txBody>
      </p:sp>
      <p:sp>
        <p:nvSpPr>
          <p:cNvPr id="15" name="">
            <a:extLst xmlns:a="http://schemas.openxmlformats.org/drawingml/2006/main">
              <a:ext uri="{FF2B5EF4-FFF2-40B4-BE49-F238E27FC236}">
                <a16:creationId xmlns:a16="http://schemas.microsoft.com/office/drawing/2014/main" id="{44FCDE31-C867-437C-90BB-F38BAE8FD217}"/>
              </a:ext>
            </a:extLst>
          </p:cNvPr>
          <p:cNvSpPr>
            <a:spLocks xmlns:a="http://schemas.openxmlformats.org/drawingml/2006/main" noGrp="1"/>
          </p:cNvSpPr>
          <p:nvPr/>
        </p:nvSpPr>
        <p:spPr>
          <a:xfrm xmlns:a="http://schemas.openxmlformats.org/drawingml/2006/main">
            <a:off x="7429500" y="1657350"/>
            <a:ext cx="3762375" cy="3143250"/>
          </a:xfrm>
          <a:prstGeom xmlns:a="http://schemas.openxmlformats.org/drawingml/2006/main" prst="roundRect">
            <a:avLst>
              <a:gd name="adj" fmla="val 4848"/>
            </a:avLst>
          </a:prstGeom>
          <a:solidFill xmlns:a="http://schemas.openxmlformats.org/drawingml/2006/main">
            <a:srgbClr val="164C74"/>
          </a:solidFill>
          <a:ln xmlns:a="http://schemas.openxmlformats.org/drawingml/2006/main" w="9525">
            <a:solidFill>
              <a:srgbClr val="6F99B4"/>
            </a:solidFill>
          </a:ln>
        </p:spPr>
      </p:sp>
      <p:sp>
        <p:nvSpPr>
          <p:cNvPr id="16" name="">
            <a:extLst xmlns:a="http://schemas.openxmlformats.org/drawingml/2006/main">
              <a:ext uri="{FF2B5EF4-FFF2-40B4-BE49-F238E27FC236}">
                <a16:creationId xmlns:a16="http://schemas.microsoft.com/office/drawing/2014/main" id="{95F45926-99B7-4E57-9EE2-66012D77D8A4}"/>
              </a:ext>
            </a:extLst>
          </p:cNvPr>
          <p:cNvSpPr>
            <a:spLocks xmlns:a="http://schemas.openxmlformats.org/drawingml/2006/main" noGrp="1"/>
          </p:cNvSpPr>
          <p:nvPr/>
        </p:nvSpPr>
        <p:spPr>
          <a:xfrm xmlns:a="http://schemas.openxmlformats.org/drawingml/2006/main">
            <a:off x="7810500" y="195262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CE56"/>
                </a:solidFill>
                <a:latin typeface="Arial"/>
                <a:ea typeface="Arial"/>
                <a:cs typeface="Arial"/>
              </a:defRPr>
            </a:pPr>
            <a:r>
              <a:rPr sz="1950" b="1">
                <a:solidFill>
                  <a:srgbClr val="FFCE56"/>
                </a:solidFill>
                <a:latin typeface="Arial"/>
                <a:ea typeface="Arial"/>
                <a:cs typeface="Arial"/>
              </a:rPr>
              <a:t>Bước tiếp theo</a:t>
            </a:r>
          </a:p>
        </p:txBody>
      </p:sp>
      <p:sp>
        <p:nvSpPr>
          <p:cNvPr id="17" name="">
            <a:extLst xmlns:a="http://schemas.openxmlformats.org/drawingml/2006/main">
              <a:ext uri="{FF2B5EF4-FFF2-40B4-BE49-F238E27FC236}">
                <a16:creationId xmlns:a16="http://schemas.microsoft.com/office/drawing/2014/main" id="{2D9E39C0-6EFB-4361-B906-43864F6A9B78}"/>
              </a:ext>
            </a:extLst>
          </p:cNvPr>
          <p:cNvSpPr>
            <a:spLocks xmlns:a="http://schemas.openxmlformats.org/drawingml/2006/main" noGrp="1"/>
          </p:cNvSpPr>
          <p:nvPr/>
        </p:nvSpPr>
        <p:spPr>
          <a:xfrm xmlns:a="http://schemas.openxmlformats.org/drawingml/2006/main">
            <a:off x="7810500" y="247650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 Xác minh nhãn ECG theo mẫu</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 Vùng tiếp nhận dài hơn</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 LOSO + validation nội bộ</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 Tiền xử lý streaming nhân quả</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 Benchmark trên phần cứng đích</a:t>
            </a:r>
          </a:p>
        </p:txBody>
      </p:sp>
      <p:sp>
        <p:nvSpPr>
          <p:cNvPr id="18" name="">
            <a:extLst xmlns:a="http://schemas.openxmlformats.org/drawingml/2006/main">
              <a:ext uri="{FF2B5EF4-FFF2-40B4-BE49-F238E27FC236}">
                <a16:creationId xmlns:a16="http://schemas.microsoft.com/office/drawing/2014/main" id="{306DE600-DF73-4A3E-A58C-75A2395628F7}"/>
              </a:ext>
            </a:extLst>
          </p:cNvPr>
          <p:cNvSpPr>
            <a:spLocks xmlns:a="http://schemas.openxmlformats.org/drawingml/2006/main" noGrp="1"/>
          </p:cNvSpPr>
          <p:nvPr/>
        </p:nvSpPr>
        <p:spPr>
          <a:xfrm xmlns:a="http://schemas.openxmlformats.org/drawingml/2006/main">
            <a:off x="1047750" y="5715000"/>
            <a:ext cx="10096500" cy="438150"/>
          </a:xfrm>
          <a:prstGeom xmlns:a="http://schemas.openxmlformats.org/drawingml/2006/main" prst="rect">
            <a:avLst/>
          </a:prstGeom>
          <a:solidFill xmlns:a="http://schemas.openxmlformats.org/drawingml/2006/main">
            <a:srgbClr val="59A14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GitHub: https://github.com/tranthinhhhh/AIoT-D18-WESAD-22110236</a:t>
            </a:r>
          </a:p>
        </p:txBody>
      </p:sp>
      <p:sp>
        <p:nvSpPr>
          <p:cNvPr id="19" name="">
            <a:extLst xmlns:a="http://schemas.openxmlformats.org/drawingml/2006/main">
              <a:ext uri="{FF2B5EF4-FFF2-40B4-BE49-F238E27FC236}">
                <a16:creationId xmlns:a16="http://schemas.microsoft.com/office/drawing/2014/main" id="{8C4FE905-FCB2-45BA-9D3E-A51979179183}"/>
              </a:ext>
            </a:extLst>
          </p:cNvPr>
          <p:cNvSpPr>
            <a:spLocks xmlns:a="http://schemas.openxmlformats.org/drawingml/2006/main" noGrp="1"/>
          </p:cNvSpPr>
          <p:nvPr/>
        </p:nvSpPr>
        <p:spPr>
          <a:xfrm xmlns:a="http://schemas.openxmlformats.org/drawingml/2006/main">
            <a:off x="4714875" y="62865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0">
                <a:solidFill>
                  <a:srgbClr val="B9D8EA"/>
                </a:solidFill>
                <a:latin typeface="Arial"/>
                <a:ea typeface="Arial"/>
                <a:cs typeface="Arial"/>
              </a:defRPr>
            </a:pPr>
            <a:r>
              <a:rPr sz="1050" b="0">
                <a:solidFill>
                  <a:srgbClr val="B9D8EA"/>
                </a:solidFill>
                <a:latin typeface="Arial"/>
                <a:ea typeface="Arial"/>
                <a:cs typeface="Arial"/>
              </a:rPr>
              <a:t>Không tự nộp LMS</a:t>
            </a:r>
          </a:p>
        </p:txBody>
      </p:sp>
    </p:spTree>
    <p:extLst>
      <p:ext uri="{BB962C8B-B14F-4D97-AF65-F5344CB8AC3E}">
        <p14:creationId xmlns:p14="http://schemas.microsoft.com/office/powerpoint/2010/main" val="3277469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2026-10-04T10:31:11.1700000Z</dcterms:created>
  <dcterms:modified xsi:type="dcterms:W3CDTF">2026-10-04T10:31:11.1700000Z</dcterms:modified>
</coreProperties>
</file>