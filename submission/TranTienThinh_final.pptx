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4.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4a84c9f2d4d44b5" /><Relationship Type="http://schemas.openxmlformats.org/officeDocument/2006/relationships/extended-properties" Target="/docProps/app.xml" Id="R84c1685d6ee7432f" /><Relationship Type="http://schemas.openxmlformats.org/officeDocument/2006/relationships/officeDocument" Target="/ppt/presentation.xml" Id="R0ae94dfc43ed400a" /></Relationships>
</file>

<file path=ppt/presentation.xml><?xml version="1.0" encoding="utf-8"?>
<p:presentation xmlns:p="http://schemas.openxmlformats.org/presentationml/2006/main">
  <p:sldMasterIdLst>
    <p:sldMasterId xmlns:r="http://schemas.openxmlformats.org/officeDocument/2006/relationships" id="2147483648" r:id="Rec281e5fc94d4e37"/>
  </p:sldMasterIdLst>
  <p:notesMasterIdLst>
    <p:notesMasterId xmlns:r="http://schemas.openxmlformats.org/officeDocument/2006/relationships" r:id="Rc2d5c6eec8b94907"/>
  </p:notesMasterIdLst>
  <p:sldIdLst>
    <p:sldId xmlns:r="http://schemas.openxmlformats.org/officeDocument/2006/relationships" id="256" r:id="Rb76e2d1b062342ec"/>
    <p:sldId xmlns:r="http://schemas.openxmlformats.org/officeDocument/2006/relationships" id="257" r:id="R2a0d5ed315684ebf"/>
    <p:sldId xmlns:r="http://schemas.openxmlformats.org/officeDocument/2006/relationships" id="258" r:id="R5fefd8c9edf74277"/>
    <p:sldId xmlns:r="http://schemas.openxmlformats.org/officeDocument/2006/relationships" id="259" r:id="Racc59e029c28464b"/>
    <p:sldId xmlns:r="http://schemas.openxmlformats.org/officeDocument/2006/relationships" id="260" r:id="Rbc18fe3a981c4a67"/>
    <p:sldId xmlns:r="http://schemas.openxmlformats.org/officeDocument/2006/relationships" id="261" r:id="Re707ac783e7e48ac"/>
    <p:sldId xmlns:r="http://schemas.openxmlformats.org/officeDocument/2006/relationships" id="262" r:id="R079b37794fc24bfa"/>
    <p:sldId xmlns:r="http://schemas.openxmlformats.org/officeDocument/2006/relationships" id="263" r:id="Rc9d1a9b6309f4bf3"/>
    <p:sldId xmlns:r="http://schemas.openxmlformats.org/officeDocument/2006/relationships" id="264" r:id="Rec6c4c59a43d4ada"/>
    <p:sldId xmlns:r="http://schemas.openxmlformats.org/officeDocument/2006/relationships" id="265" r:id="R2e0151e0de7141ab"/>
    <p:sldId xmlns:r="http://schemas.openxmlformats.org/officeDocument/2006/relationships" id="266" r:id="R21e02e2614ff4bd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0b6a704ec944181" /><Relationship Type="http://schemas.openxmlformats.org/officeDocument/2006/relationships/slideMaster" Target="/ppt/slideMasters/slideMaster1.xml" Id="Rec281e5fc94d4e37" /><Relationship Type="http://schemas.openxmlformats.org/officeDocument/2006/relationships/notesMaster" Target="/ppt/notesMasters/notesMaster1.xml" Id="Rc2d5c6eec8b94907" /><Relationship Type="http://schemas.openxmlformats.org/officeDocument/2006/relationships/presProps" Target="/ppt/presProps.xml" Id="R8ed5d0669d0f4ac8" /><Relationship Type="http://schemas.openxmlformats.org/officeDocument/2006/relationships/tableStyles" Target="/ppt/tableStyles.xml" Id="R6a762112300d4249" /><Relationship Type="http://schemas.openxmlformats.org/officeDocument/2006/relationships/slide" Target="/ppt/slides/slide1.xml" Id="Rb76e2d1b062342ec" /><Relationship Type="http://schemas.openxmlformats.org/officeDocument/2006/relationships/slide" Target="/ppt/slides/slide2.xml" Id="R2a0d5ed315684ebf" /><Relationship Type="http://schemas.openxmlformats.org/officeDocument/2006/relationships/slide" Target="/ppt/slides/slide3.xml" Id="R5fefd8c9edf74277" /><Relationship Type="http://schemas.openxmlformats.org/officeDocument/2006/relationships/slide" Target="/ppt/slides/slide4.xml" Id="Racc59e029c28464b" /><Relationship Type="http://schemas.openxmlformats.org/officeDocument/2006/relationships/slide" Target="/ppt/slides/slide5.xml" Id="Rbc18fe3a981c4a67" /><Relationship Type="http://schemas.openxmlformats.org/officeDocument/2006/relationships/slide" Target="/ppt/slides/slide6.xml" Id="Re707ac783e7e48ac" /><Relationship Type="http://schemas.openxmlformats.org/officeDocument/2006/relationships/slide" Target="/ppt/slides/slide7.xml" Id="R079b37794fc24bfa" /><Relationship Type="http://schemas.openxmlformats.org/officeDocument/2006/relationships/slide" Target="/ppt/slides/slide8.xml" Id="Rc9d1a9b6309f4bf3" /><Relationship Type="http://schemas.openxmlformats.org/officeDocument/2006/relationships/slide" Target="/ppt/slides/slide9.xml" Id="Rec6c4c59a43d4ada" /><Relationship Type="http://schemas.openxmlformats.org/officeDocument/2006/relationships/slide" Target="/ppt/slides/slide10.xml" Id="R2e0151e0de7141ab" /><Relationship Type="http://schemas.openxmlformats.org/officeDocument/2006/relationships/slide" Target="/ppt/slides/slide11.xml" Id="R21e02e2614ff4bd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9aaf604d855479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87683b5c2954022" /><Relationship Type="http://schemas.openxmlformats.org/officeDocument/2006/relationships/notesMaster" Target="/ppt/notesMasters/notesMaster1.xml" Id="R81e00bb0a8f346a2" /></Relationships>
</file>

<file path=ppt/notesSlides/_rels/notesSlide2.xml.rels>&#65279;<?xml version="1.0" encoding="utf-8"?><Relationships xmlns="http://schemas.openxmlformats.org/package/2006/relationships"><Relationship Type="http://schemas.openxmlformats.org/officeDocument/2006/relationships/slide" Target="/ppt/slides/slide2.xml" Id="R1903b2242c6f4a5d" /><Relationship Type="http://schemas.openxmlformats.org/officeDocument/2006/relationships/notesMaster" Target="/ppt/notesMasters/notesMaster1.xml" Id="Rd5411f26593b46b5" /></Relationships>
</file>

<file path=ppt/notesSlides/_rels/notesSlide3.xml.rels>&#65279;<?xml version="1.0" encoding="utf-8"?><Relationships xmlns="http://schemas.openxmlformats.org/package/2006/relationships"><Relationship Type="http://schemas.openxmlformats.org/officeDocument/2006/relationships/slide" Target="/ppt/slides/slide3.xml" Id="R20309b4026214900" /><Relationship Type="http://schemas.openxmlformats.org/officeDocument/2006/relationships/notesMaster" Target="/ppt/notesMasters/notesMaster1.xml" Id="R4f114c87e6754bab" /></Relationships>
</file>

<file path=ppt/notesSlides/_rels/notesSlide4.xml.rels>&#65279;<?xml version="1.0" encoding="utf-8"?><Relationships xmlns="http://schemas.openxmlformats.org/package/2006/relationships"><Relationship Type="http://schemas.openxmlformats.org/officeDocument/2006/relationships/slide" Target="/ppt/slides/slide4.xml" Id="R50a64841c54b4cbb" /><Relationship Type="http://schemas.openxmlformats.org/officeDocument/2006/relationships/notesMaster" Target="/ppt/notesMasters/notesMaster1.xml" Id="R433201077afc4f34" /></Relationships>
</file>

<file path=ppt/notesSlides/_rels/notesSlide5.xml.rels>&#65279;<?xml version="1.0" encoding="utf-8"?><Relationships xmlns="http://schemas.openxmlformats.org/package/2006/relationships"><Relationship Type="http://schemas.openxmlformats.org/officeDocument/2006/relationships/slide" Target="/ppt/slides/slide5.xml" Id="Rcd562a25016b4ede" /><Relationship Type="http://schemas.openxmlformats.org/officeDocument/2006/relationships/notesMaster" Target="/ppt/notesMasters/notesMaster1.xml" Id="R393d0a46d4b74475" /></Relationships>
</file>

<file path=ppt/notesSlides/_rels/notesSlide6.xml.rels>&#65279;<?xml version="1.0" encoding="utf-8"?><Relationships xmlns="http://schemas.openxmlformats.org/package/2006/relationships"><Relationship Type="http://schemas.openxmlformats.org/officeDocument/2006/relationships/slide" Target="/ppt/slides/slide6.xml" Id="R177b7a46da24499f" /><Relationship Type="http://schemas.openxmlformats.org/officeDocument/2006/relationships/notesMaster" Target="/ppt/notesMasters/notesMaster1.xml" Id="R84d36cdaca8241db" /></Relationships>
</file>

<file path=ppt/notesSlides/_rels/notesSlide7.xml.rels>&#65279;<?xml version="1.0" encoding="utf-8"?><Relationships xmlns="http://schemas.openxmlformats.org/package/2006/relationships"><Relationship Type="http://schemas.openxmlformats.org/officeDocument/2006/relationships/slide" Target="/ppt/slides/slide7.xml" Id="R991147da64f149a9" /><Relationship Type="http://schemas.openxmlformats.org/officeDocument/2006/relationships/notesMaster" Target="/ppt/notesMasters/notesMaster1.xml" Id="Raf97c5ebb7704cb9" /></Relationships>
</file>

<file path=ppt/notesSlides/_rels/notesSlide8.xml.rels>&#65279;<?xml version="1.0" encoding="utf-8"?><Relationships xmlns="http://schemas.openxmlformats.org/package/2006/relationships"><Relationship Type="http://schemas.openxmlformats.org/officeDocument/2006/relationships/slide" Target="/ppt/slides/slide8.xml" Id="Rd34e847dbafe4c60" /><Relationship Type="http://schemas.openxmlformats.org/officeDocument/2006/relationships/notesMaster" Target="/ppt/notesMasters/notesMaster1.xml" Id="R4eaa3907f12040dc" /></Relationships>
</file>

<file path=ppt/notesSlides/_rels/notesSlide9.xml.rels>&#65279;<?xml version="1.0" encoding="utf-8"?><Relationships xmlns="http://schemas.openxmlformats.org/package/2006/relationships"><Relationship Type="http://schemas.openxmlformats.org/officeDocument/2006/relationships/slide" Target="/ppt/slides/slide9.xml" Id="R17e4e5a3480944cf" /><Relationship Type="http://schemas.openxmlformats.org/officeDocument/2006/relationships/notesMaster" Target="/ppt/notesMasters/notesMaster1.xml" Id="R1400dd0daf394c4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dfd67d34bb34bc1" /><Relationship Type="http://schemas.openxmlformats.org/officeDocument/2006/relationships/notesMaster" Target="/ppt/notesMasters/notesMaster1.xml" Id="Rd46e32ef49bb4e5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3aff8d32a4345c5" /><Relationship Type="http://schemas.openxmlformats.org/officeDocument/2006/relationships/notesMaster" Target="/ppt/notesMasters/notesMaster1.xml" Id="Reabe7d7760dd492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đầu: đề tài Đ18 ước lượng nhịp tim chỉ từ BVP cổ tay. ECG ngực chỉ tạo nhãn tham chiếu. Nêu ngay kết quả chính nhưng nhấn đây không phải chỉ số lâm sàng. Nguồn: outputs/runs/A0_summary.json; outputs/baselines/baseline_metrics.json.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Giải thích ranh giới: mô hình chỉ nhận BVP. ECG, mã người và nhãn condition không vào tensor. Split được khóa theo người; validation chọn checkpoint, test chỉ đánh giá cuối. Nguồn: configs/final.yaml; data/processed/wesad_d18_v2/preprocessing_summary.json.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Tóm tắt pipeline v2. Phân biệt loại do phạm vi điều kiện với loại do chất lượng. Bộ QC trực quan có 5 cửa sổ cho mỗi người/điều kiện, tổng 225. Nguồn: data/processed/wesad_d18_v2/preprocessing_summary.json; outputs/audit/qc_audit_summary.json.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Kiến trúc đúng bảng đặc tả: Conv1/2/3, AdaptiveAvgPool1d và head 64→32→1. Với BatchNorm có 11.153 tham số. A0 là E2 chính; A1 và A3 chỉ đổi một yếu tố. Nguồn: src/model.py; configs/final.yaml; outputs/audit/smoke_test.json.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Nhấn cách ngăn leakage: early stopping và checkpoint chỉ nhìn validation. Test được mở sau khi protocol khóa. Metric chính là MAE_macro theo người. Nguồn: configs/final.yaml; src/train.py.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E0 là median train, E1 là FFT. A0 đạt mục tiêu giảm tương đối nhưng không đạt 7 BPM. A3 dùng MSE cho kết quả tốt nhất trong các cấu hình đã chạy; báo cáo đúng thực nghiệm, không đổi tên mô hình chính sau test. Nguồn: outputs/tables/overall_results_v2.csv; outputs/runs/A0_summary.json; outputs/runs/A3_summary.json.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Các giá trị là trung bình A0 qua ba seed. S16 khó nhất; Stress chi phối lỗi. Tuy nhiên condition đồng biến với HR, vận động và subject nên không kết luận nhân quả. Nguồn: outputs/runs/A0_summary.json; outputs/figures/error_by_subject_condition.png.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Hình scatter dùng seed 42 cố định. Ca lỗi lớn nhất được chọn trên validation: S11, Stress, HR tham chiếu 132,6 nhưng CNN 65,2. ECG và R-peaks được đưa vào hình để kiểm tra nhãn, không phải đầu vào mô hình. Nguồn: outputs/audit/failure_case_selection.json; outputs/figures/scatter_identity.png; outputs/figures/failure_case_validation_fixed.png.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 cho thấy bỏ z-score làm xấu kết quả. A3 bất ngờ tốt hơn A0. A2 chưa chạy vì ưu tiên sản phẩm bắt buộc; không trình bày như đã hoàn thành. Nguồn: outputs/runs/A0_summary.json; A1_summary.json; A3_summary.json; outputs/figures/learning_curves_v2.png.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Network inference dưới 1 ms trên CPU, nhưng cửa sổ phải tích lũy 8 giây và lọc hiện tại là sosfiltfilt toàn bản ghi. Vì vậy không tuyên bố end-to-end streaming dưới 1 ms hay MCU-ready. Nguồn: outputs/benchmark_cpu.json.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Kết luận ngắn gọn: mục tiêu tương đối đạt, mục tiêu tuyệt đối chưa đạt. Giá trị chính là pipeline minh bạch và tái lập. Nêu hướng tiếp theo. Trước khi nộp phải thay trường GitHub bằng URL thật; không tự nộp LMS. Nguồn: toàn bộ artifact protocol v2 trong dự án.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f998852fe9149b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137530360a248b0" /><Relationship Type="http://schemas.openxmlformats.org/officeDocument/2006/relationships/slideLayout" Target="/ppt/slideLayouts/slideLayout1.xml" Id="R4c1e2b5db3e5480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c1e2b5db3e5480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bfa92a138d34b34" /><Relationship Type="http://schemas.openxmlformats.org/officeDocument/2006/relationships/image" Target="/ppt/media/image.png" Id="R8bc807760da54b9f" /><Relationship Type="http://schemas.openxmlformats.org/officeDocument/2006/relationships/notesSlide" Target="/ppt/notesSlides/notesSlide1.xml" Id="R856ba3a5941340b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29ae78ee4f84dbc" /><Relationship Type="http://schemas.openxmlformats.org/officeDocument/2006/relationships/notesSlide" Target="/ppt/notesSlides/notesSlide2.xml" Id="R32da01257f27447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c49bcb7c51a47ee" /><Relationship Type="http://schemas.openxmlformats.org/officeDocument/2006/relationships/notesSlide" Target="/ppt/notesSlides/notesSlide3.xml" Id="Rbf549ab544be497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9f63319ef8447c6" /><Relationship Type="http://schemas.openxmlformats.org/officeDocument/2006/relationships/notesSlide" Target="/ppt/notesSlides/notesSlide4.xml" Id="Ra27e34b618a94ea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3b7650961d54cfe" /><Relationship Type="http://schemas.openxmlformats.org/officeDocument/2006/relationships/notesSlide" Target="/ppt/notesSlides/notesSlide5.xml" Id="Reb099789aa89474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a758dd622df46b9" /><Relationship Type="http://schemas.openxmlformats.org/officeDocument/2006/relationships/chart" Target="/ppt/slides/charts/chart1.xml" Id="Rfc406e668d9e41ef" /><Relationship Type="http://schemas.openxmlformats.org/officeDocument/2006/relationships/notesSlide" Target="/ppt/notesSlides/notesSlide6.xml" Id="R662494a97b684d1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b51dc08ee1545ef" /><Relationship Type="http://schemas.openxmlformats.org/officeDocument/2006/relationships/chart" Target="/ppt/slides/charts/chart2.xml" Id="R82d3b2b7c74d45f7" /><Relationship Type="http://schemas.openxmlformats.org/officeDocument/2006/relationships/chart" Target="/ppt/slides/charts/chart3.xml" Id="Rcd3e071e14074b20" /><Relationship Type="http://schemas.openxmlformats.org/officeDocument/2006/relationships/notesSlide" Target="/ppt/notesSlides/notesSlide7.xml" Id="R231beb340cfa48e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c071a4c1fef46a1" /><Relationship Type="http://schemas.openxmlformats.org/officeDocument/2006/relationships/image" Target="/ppt/media/image2.png" Id="Rcd83df72046242f7" /><Relationship Type="http://schemas.openxmlformats.org/officeDocument/2006/relationships/image" Target="/ppt/media/image3.png" Id="Rb0e3df3197bd4ab2" /><Relationship Type="http://schemas.openxmlformats.org/officeDocument/2006/relationships/notesSlide" Target="/ppt/notesSlides/notesSlide8.xml" Id="Re4625d501bb5457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58a72477f554661" /><Relationship Type="http://schemas.openxmlformats.org/officeDocument/2006/relationships/image" Target="/ppt/media/image4.png" Id="R53ecb3ae60794d23" /><Relationship Type="http://schemas.openxmlformats.org/officeDocument/2006/relationships/notesSlide" Target="/ppt/notesSlides/notesSlide9.xml" Id="R8a3b4cf9c123417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29d37694d3a4220" /><Relationship Type="http://schemas.openxmlformats.org/officeDocument/2006/relationships/chart" Target="/ppt/slides/charts/chart4.xml" Id="R5b0797a6d59541cc" /><Relationship Type="http://schemas.openxmlformats.org/officeDocument/2006/relationships/notesSlide" Target="/ppt/notesSlides/notesSlide10.xml" Id="Racf949ce9f5c452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87930bbc4d44748" /><Relationship Type="http://schemas.openxmlformats.org/officeDocument/2006/relationships/notesSlide" Target="/ppt/notesSlides/notesSlide11.xml" Id="R602e54da3fb14ad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MAE_macro (BPM)</c:v>
          </c:tx>
          <c:spPr>
            <a:solidFill xmlns:a="http://schemas.openxmlformats.org/drawingml/2006/main">
              <a:srgbClr val="1769AA"/>
            </a:solidFill>
          </c:spPr>
          <c:cat>
            <c:strRef>
              <c:f>'Chart Data'!$A$2:$A$6</c:f>
              <c:strCache>
                <c:ptCount val="5"/>
                <c:pt idx="0">
                  <c:v>E0</c:v>
                </c:pt>
                <c:pt idx="1">
                  <c:v>E1</c:v>
                </c:pt>
                <c:pt idx="2">
                  <c:v>A0</c:v>
                </c:pt>
                <c:pt idx="3">
                  <c:v>A1</c:v>
                </c:pt>
                <c:pt idx="4">
                  <c:v>A3</c:v>
                </c:pt>
              </c:strCache>
            </c:strRef>
          </c:cat>
          <c:val>
            <c:numRef>
              <c:f>'Chart Data'!$B$2:$B$6</c:f>
              <c:numCache>
                <c:formatCode>General</c:formatCode>
                <c:ptCount val="5"/>
                <c:pt idx="0">
                  <c:v>17.768</c:v>
                </c:pt>
                <c:pt idx="1">
                  <c:v>13.637</c:v>
                </c:pt>
                <c:pt idx="2">
                  <c:v>8.867</c:v>
                </c:pt>
                <c:pt idx="3">
                  <c:v>9.139</c:v>
                </c:pt>
                <c:pt idx="4">
                  <c:v>8.28</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MAE</c:v>
          </c:tx>
          <c:spPr>
            <a:solidFill xmlns:a="http://schemas.openxmlformats.org/drawingml/2006/main">
              <a:srgbClr val="1769AA"/>
            </a:solidFill>
          </c:spPr>
          <c:cat>
            <c:strRef>
              <c:f>'Chart Data'!$A$2:$A$5</c:f>
              <c:strCache>
                <c:ptCount val="4"/>
                <c:pt idx="0">
                  <c:v>S14</c:v>
                </c:pt>
                <c:pt idx="1">
                  <c:v>S15</c:v>
                </c:pt>
                <c:pt idx="2">
                  <c:v>S16</c:v>
                </c:pt>
                <c:pt idx="3">
                  <c:v>S17</c:v>
                </c:pt>
              </c:strCache>
            </c:strRef>
          </c:cat>
          <c:val>
            <c:numRef>
              <c:f>'Chart Data'!$B$2:$B$5</c:f>
              <c:numCache>
                <c:formatCode>General</c:formatCode>
                <c:ptCount val="4"/>
                <c:pt idx="0">
                  <c:v>9.406</c:v>
                </c:pt>
                <c:pt idx="1">
                  <c:v>3.855</c:v>
                </c:pt>
                <c:pt idx="2">
                  <c:v>12.498</c:v>
                </c:pt>
                <c:pt idx="3">
                  <c:v>9.708</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MAE_macro</c:v>
          </c:tx>
          <c:spPr>
            <a:solidFill xmlns:a="http://schemas.openxmlformats.org/drawingml/2006/main">
              <a:srgbClr val="F28E2B"/>
            </a:solidFill>
          </c:spPr>
          <c:cat>
            <c:strRef>
              <c:f>'Chart Data'!$A$2:$A$4</c:f>
              <c:strCache>
                <c:ptCount val="3"/>
                <c:pt idx="0">
                  <c:v>Amusement</c:v>
                </c:pt>
                <c:pt idx="1">
                  <c:v>Baseline</c:v>
                </c:pt>
                <c:pt idx="2">
                  <c:v>Stress</c:v>
                </c:pt>
              </c:strCache>
            </c:strRef>
          </c:cat>
          <c:val>
            <c:numRef>
              <c:f>'Chart Data'!$B$2:$B$4</c:f>
              <c:numCache>
                <c:formatCode>General</c:formatCode>
                <c:ptCount val="3"/>
                <c:pt idx="0">
                  <c:v>3.461</c:v>
                </c:pt>
                <c:pt idx="1">
                  <c:v>4.167</c:v>
                </c:pt>
                <c:pt idx="2">
                  <c:v>19.869</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µs</c:v>
          </c:tx>
          <c:spPr>
            <a:solidFill xmlns:a="http://schemas.openxmlformats.org/drawingml/2006/main">
              <a:srgbClr val="1769AA"/>
            </a:solidFill>
          </c:spPr>
          <c:cat>
            <c:strRef>
              <c:f>'Chart Data'!$A$2:$A$4</c:f>
              <c:strCache>
                <c:ptCount val="3"/>
                <c:pt idx="0">
                  <c:v>Network median</c:v>
                </c:pt>
                <c:pt idx="1">
                  <c:v>Network P95</c:v>
                </c:pt>
                <c:pt idx="2">
                  <c:v>E2E median*</c:v>
                </c:pt>
              </c:strCache>
            </c:strRef>
          </c:cat>
          <c:val>
            <c:numRef>
              <c:f>'Chart Data'!$B$2:$B$4</c:f>
              <c:numCache>
                <c:formatCode>General</c:formatCode>
                <c:ptCount val="3"/>
                <c:pt idx="0">
                  <c:v>282.9</c:v>
                </c:pt>
                <c:pt idx="1">
                  <c:v>326</c:v>
                </c:pt>
                <c:pt idx="2">
                  <c:v>291</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3A5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656293-A36D-4B2D-BBB0-E6E5E4E73DE5}"/>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D32F2F"/>
          </a:solidFill>
          <a:ln xmlns:a="http://schemas.openxmlformats.org/drawingml/2006/main" w="0">
            <a:noFill/>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8bc807760da54b9f"/>
          <a:stretch xmlns:a="http://schemas.openxmlformats.org/drawingml/2006/main"/>
        </p:blipFill>
        <p:spPr>
          <a:xfrm xmlns:a="http://schemas.openxmlformats.org/drawingml/2006/main">
            <a:off x="895350" y="680594"/>
            <a:ext cx="1095375" cy="1401061"/>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0ECC087F-C309-485E-8287-7B8E909B1997}"/>
              </a:ext>
            </a:extLst>
          </p:cNvPr>
          <p:cNvSpPr>
            <a:spLocks xmlns:a="http://schemas.openxmlformats.org/drawingml/2006/main" noGrp="1"/>
          </p:cNvSpPr>
          <p:nvPr/>
        </p:nvSpPr>
        <p:spPr>
          <a:xfrm xmlns:a="http://schemas.openxmlformats.org/drawingml/2006/main">
            <a:off x="2381250" y="723900"/>
            <a:ext cx="847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B9D8EA"/>
                </a:solidFill>
                <a:latin typeface="Arial"/>
                <a:ea typeface="Arial"/>
                <a:cs typeface="Arial"/>
              </a:defRPr>
            </a:pPr>
            <a:r>
              <a:rPr sz="1650" b="1">
                <a:solidFill>
                  <a:srgbClr val="B9D8EA"/>
                </a:solidFill>
                <a:latin typeface="Arial"/>
                <a:ea typeface="Arial"/>
                <a:cs typeface="Arial"/>
              </a:rPr>
              <a:t>BÁO CÁO CUỐI KỲ</a:t>
            </a:r>
          </a:p>
        </p:txBody>
      </p:sp>
      <p:sp>
        <p:nvSpPr>
          <p:cNvPr id="4" name="">
            <a:extLst xmlns:a="http://schemas.openxmlformats.org/drawingml/2006/main">
              <a:ext uri="{FF2B5EF4-FFF2-40B4-BE49-F238E27FC236}">
                <a16:creationId xmlns:a16="http://schemas.microsoft.com/office/drawing/2014/main" id="{00F633A4-5FB1-431E-B165-691F86B845B3}"/>
              </a:ext>
            </a:extLst>
          </p:cNvPr>
          <p:cNvSpPr>
            <a:spLocks xmlns:a="http://schemas.openxmlformats.org/drawingml/2006/main" noGrp="1"/>
          </p:cNvSpPr>
          <p:nvPr/>
        </p:nvSpPr>
        <p:spPr>
          <a:xfrm xmlns:a="http://schemas.openxmlformats.org/drawingml/2006/main">
            <a:off x="2381250" y="1257300"/>
            <a:ext cx="876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3975" b="1">
                <a:solidFill>
                  <a:srgbClr val="FFFFFF"/>
                </a:solidFill>
                <a:latin typeface="Arial"/>
                <a:ea typeface="Arial"/>
                <a:cs typeface="Arial"/>
              </a:defRPr>
            </a:pPr>
            <a:r>
              <a:rPr sz="3975" b="1">
                <a:solidFill>
                  <a:srgbClr val="FFFFFF"/>
                </a:solidFill>
                <a:latin typeface="Arial"/>
                <a:ea typeface="Arial"/>
                <a:cs typeface="Arial"/>
              </a:rPr>
              <a:t>ƯỚC LƯỢNG NHỊP TIM</a:t>
            </a:r>
          </a:p>
          <a:p xmlns:a="http://schemas.openxmlformats.org/drawingml/2006/main">
            <a:pPr algn="l">
              <a:defRPr sz="3975" b="1">
                <a:solidFill>
                  <a:srgbClr val="FFFFFF"/>
                </a:solidFill>
                <a:latin typeface="Arial"/>
                <a:ea typeface="Arial"/>
                <a:cs typeface="Arial"/>
              </a:defRPr>
            </a:pPr>
            <a:r>
              <a:rPr sz="3975" b="1">
                <a:solidFill>
                  <a:srgbClr val="FFFFFF"/>
                </a:solidFill>
                <a:latin typeface="Arial"/>
                <a:ea typeface="Arial"/>
                <a:cs typeface="Arial"/>
              </a:rPr>
              <a:t>TỪ BVP CỔ TAY</a:t>
            </a:r>
          </a:p>
        </p:txBody>
      </p:sp>
      <p:sp>
        <p:nvSpPr>
          <p:cNvPr id="5" name="">
            <a:extLst xmlns:a="http://schemas.openxmlformats.org/drawingml/2006/main">
              <a:ext uri="{FF2B5EF4-FFF2-40B4-BE49-F238E27FC236}">
                <a16:creationId xmlns:a16="http://schemas.microsoft.com/office/drawing/2014/main" id="{40C48B39-D269-4474-8625-12CD23D1DCBE}"/>
              </a:ext>
            </a:extLst>
          </p:cNvPr>
          <p:cNvSpPr>
            <a:spLocks xmlns:a="http://schemas.openxmlformats.org/drawingml/2006/main" noGrp="1"/>
          </p:cNvSpPr>
          <p:nvPr/>
        </p:nvSpPr>
        <p:spPr>
          <a:xfrm xmlns:a="http://schemas.openxmlformats.org/drawingml/2006/main">
            <a:off x="2428875" y="2781300"/>
            <a:ext cx="790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725" b="0">
                <a:solidFill>
                  <a:srgbClr val="D9EAF4"/>
                </a:solidFill>
                <a:latin typeface="Arial"/>
                <a:ea typeface="Arial"/>
                <a:cs typeface="Arial"/>
              </a:defRPr>
            </a:pPr>
            <a:r>
              <a:rPr sz="1725" b="0">
                <a:solidFill>
                  <a:srgbClr val="D9EAF4"/>
                </a:solidFill>
                <a:latin typeface="Arial"/>
                <a:ea typeface="Arial"/>
                <a:cs typeface="Arial"/>
              </a:rPr>
              <a:t>WESAD • CNN 1-D • tham chiếu ECG ngực</a:t>
            </a:r>
          </a:p>
        </p:txBody>
      </p:sp>
      <p:sp>
        <p:nvSpPr>
          <p:cNvPr id="6" name="">
            <a:extLst xmlns:a="http://schemas.openxmlformats.org/drawingml/2006/main">
              <a:ext uri="{FF2B5EF4-FFF2-40B4-BE49-F238E27FC236}">
                <a16:creationId xmlns:a16="http://schemas.microsoft.com/office/drawing/2014/main" id="{DBE57038-6420-42B1-B274-F34C0057AF45}"/>
              </a:ext>
            </a:extLst>
          </p:cNvPr>
          <p:cNvSpPr>
            <a:spLocks xmlns:a="http://schemas.openxmlformats.org/drawingml/2006/main" noGrp="1"/>
          </p:cNvSpPr>
          <p:nvPr/>
        </p:nvSpPr>
        <p:spPr>
          <a:xfrm xmlns:a="http://schemas.openxmlformats.org/drawingml/2006/main">
            <a:off x="2381250" y="3476625"/>
            <a:ext cx="7334250" cy="19050"/>
          </a:xfrm>
          <a:prstGeom xmlns:a="http://schemas.openxmlformats.org/drawingml/2006/main" prst="rect">
            <a:avLst/>
          </a:prstGeom>
          <a:solidFill xmlns:a="http://schemas.openxmlformats.org/drawingml/2006/main">
            <a:srgbClr val="7DA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0EE0D2D-1FC1-4E38-8B76-A9A4204981AD}"/>
              </a:ext>
            </a:extLst>
          </p:cNvPr>
          <p:cNvSpPr>
            <a:spLocks xmlns:a="http://schemas.openxmlformats.org/drawingml/2006/main" noGrp="1"/>
          </p:cNvSpPr>
          <p:nvPr/>
        </p:nvSpPr>
        <p:spPr>
          <a:xfrm xmlns:a="http://schemas.openxmlformats.org/drawingml/2006/main">
            <a:off x="2381250" y="3762375"/>
            <a:ext cx="1524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850" b="1">
                <a:solidFill>
                  <a:srgbClr val="FFCE56"/>
                </a:solidFill>
                <a:latin typeface="Arial"/>
                <a:ea typeface="Arial"/>
                <a:cs typeface="Arial"/>
              </a:defRPr>
            </a:pPr>
            <a:r>
              <a:rPr sz="2850" b="1">
                <a:solidFill>
                  <a:srgbClr val="FFCE56"/>
                </a:solidFill>
                <a:latin typeface="Arial"/>
                <a:ea typeface="Arial"/>
                <a:cs typeface="Arial"/>
              </a:rPr>
              <a:t>Đ18</a:t>
            </a:r>
          </a:p>
        </p:txBody>
      </p:sp>
      <p:sp>
        <p:nvSpPr>
          <p:cNvPr id="8" name="">
            <a:extLst xmlns:a="http://schemas.openxmlformats.org/drawingml/2006/main">
              <a:ext uri="{FF2B5EF4-FFF2-40B4-BE49-F238E27FC236}">
                <a16:creationId xmlns:a16="http://schemas.microsoft.com/office/drawing/2014/main" id="{E2E3928A-A052-40B7-AD54-6542847AE32F}"/>
              </a:ext>
            </a:extLst>
          </p:cNvPr>
          <p:cNvSpPr>
            <a:spLocks xmlns:a="http://schemas.openxmlformats.org/drawingml/2006/main" noGrp="1"/>
          </p:cNvSpPr>
          <p:nvPr/>
        </p:nvSpPr>
        <p:spPr>
          <a:xfrm xmlns:a="http://schemas.openxmlformats.org/drawingml/2006/main">
            <a:off x="4048125" y="3781425"/>
            <a:ext cx="619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800" b="1">
                <a:solidFill>
                  <a:srgbClr val="FFFFFF"/>
                </a:solidFill>
                <a:latin typeface="Arial"/>
                <a:ea typeface="Arial"/>
                <a:cs typeface="Arial"/>
              </a:defRPr>
            </a:pPr>
            <a:r>
              <a:rPr sz="1800" b="1">
                <a:solidFill>
                  <a:srgbClr val="FFFFFF"/>
                </a:solidFill>
                <a:latin typeface="Arial"/>
                <a:ea typeface="Arial"/>
                <a:cs typeface="Arial"/>
              </a:rPr>
              <a:t>Trần Tiến Thịnh  •  MSSV 22110236</a:t>
            </a:r>
          </a:p>
        </p:txBody>
      </p:sp>
      <p:sp>
        <p:nvSpPr>
          <p:cNvPr id="9" name="">
            <a:extLst xmlns:a="http://schemas.openxmlformats.org/drawingml/2006/main">
              <a:ext uri="{FF2B5EF4-FFF2-40B4-BE49-F238E27FC236}">
                <a16:creationId xmlns:a16="http://schemas.microsoft.com/office/drawing/2014/main" id="{ECCBDB55-CA54-45E3-8723-0B22B1C50EF4}"/>
              </a:ext>
            </a:extLst>
          </p:cNvPr>
          <p:cNvSpPr>
            <a:spLocks xmlns:a="http://schemas.openxmlformats.org/drawingml/2006/main" noGrp="1"/>
          </p:cNvSpPr>
          <p:nvPr/>
        </p:nvSpPr>
        <p:spPr>
          <a:xfrm xmlns:a="http://schemas.openxmlformats.org/drawingml/2006/main">
            <a:off x="2381250" y="4724400"/>
            <a:ext cx="7524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D9EAF4"/>
                </a:solidFill>
                <a:latin typeface="Arial"/>
                <a:ea typeface="Arial"/>
                <a:cs typeface="Arial"/>
              </a:defRPr>
            </a:pPr>
            <a:r>
              <a:rPr sz="1350" b="0">
                <a:solidFill>
                  <a:srgbClr val="D9EAF4"/>
                </a:solidFill>
                <a:latin typeface="Arial"/>
                <a:ea typeface="Arial"/>
                <a:cs typeface="Arial"/>
              </a:rPr>
              <a:t>GVHD: ThS. Hồ Nhựt Minh</a:t>
            </a:r>
          </a:p>
          <a:p xmlns:a="http://schemas.openxmlformats.org/drawingml/2006/main">
            <a:pPr algn="l">
              <a:defRPr sz="1350" b="0">
                <a:solidFill>
                  <a:srgbClr val="D9EAF4"/>
                </a:solidFill>
                <a:latin typeface="Arial"/>
                <a:ea typeface="Arial"/>
                <a:cs typeface="Arial"/>
              </a:defRPr>
            </a:pPr>
            <a:r>
              <a:rPr sz="1350" b="0">
                <a:solidFill>
                  <a:srgbClr val="D9EAF4"/>
                </a:solidFill>
                <a:latin typeface="Arial"/>
                <a:ea typeface="Arial"/>
                <a:cs typeface="Arial"/>
              </a:rPr>
              <a:t>Học phần Trí tuệ nhân tạo cho IoT • 2026–2027</a:t>
            </a:r>
          </a:p>
        </p:txBody>
      </p:sp>
      <p:sp>
        <p:nvSpPr>
          <p:cNvPr id="10" name="">
            <a:extLst xmlns:a="http://schemas.openxmlformats.org/drawingml/2006/main">
              <a:ext uri="{FF2B5EF4-FFF2-40B4-BE49-F238E27FC236}">
                <a16:creationId xmlns:a16="http://schemas.microsoft.com/office/drawing/2014/main" id="{4F0D5795-58B9-40FD-89EF-8B267FB632E9}"/>
              </a:ext>
            </a:extLst>
          </p:cNvPr>
          <p:cNvSpPr>
            <a:spLocks xmlns:a="http://schemas.openxmlformats.org/drawingml/2006/main" noGrp="1"/>
          </p:cNvSpPr>
          <p:nvPr/>
        </p:nvSpPr>
        <p:spPr>
          <a:xfrm xmlns:a="http://schemas.openxmlformats.org/drawingml/2006/main">
            <a:off x="2381250" y="5848350"/>
            <a:ext cx="8334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FFCE56"/>
                </a:solidFill>
                <a:latin typeface="Arial"/>
                <a:ea typeface="Arial"/>
                <a:cs typeface="Arial"/>
              </a:defRPr>
            </a:pPr>
            <a:r>
              <a:rPr sz="1350" b="1">
                <a:solidFill>
                  <a:srgbClr val="FFCE56"/>
                </a:solidFill>
                <a:latin typeface="Arial"/>
                <a:ea typeface="Arial"/>
                <a:cs typeface="Arial"/>
              </a:rPr>
              <a:t>Kết quả chính: A0 8,867 ± 0,253 BPM • giảm 35,0% so với FFT</a:t>
            </a:r>
          </a:p>
        </p:txBody>
      </p:sp>
    </p:spTree>
    <p:extLst>
      <p:ext uri="{BB962C8B-B14F-4D97-AF65-F5344CB8AC3E}">
        <p14:creationId xmlns:p14="http://schemas.microsoft.com/office/powerpoint/2010/main" val="100010494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42CDFCA-BAD8-4971-810C-74A88AE0D189}"/>
              </a:ext>
            </a:extLst>
          </p:cNvPr>
          <p:cNvSpPr>
            <a:spLocks xmlns:a="http://schemas.openxmlformats.org/drawingml/2006/main" noGrp="1"/>
          </p:cNvSpPr>
          <p:nvPr/>
        </p:nvSpPr>
        <p:spPr>
          <a:xfrm xmlns:a="http://schemas.openxmlformats.org/drawingml/2006/main">
            <a:off x="685800" y="3619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550" b="1">
                <a:solidFill>
                  <a:srgbClr val="103A5C"/>
                </a:solidFill>
                <a:latin typeface="Arial"/>
                <a:ea typeface="Arial"/>
                <a:cs typeface="Arial"/>
              </a:defRPr>
            </a:pPr>
            <a:r>
              <a:rPr sz="2550" b="1">
                <a:solidFill>
                  <a:srgbClr val="103A5C"/>
                </a:solidFill>
                <a:latin typeface="Arial"/>
                <a:ea typeface="Arial"/>
                <a:cs typeface="Arial"/>
              </a:rPr>
              <a:t>Bài toán và nguyên tắc đánh giá</a:t>
            </a:r>
          </a:p>
        </p:txBody>
      </p:sp>
      <p:sp>
        <p:nvSpPr>
          <p:cNvPr id="2" name="">
            <a:extLst xmlns:a="http://schemas.openxmlformats.org/drawingml/2006/main">
              <a:ext uri="{FF2B5EF4-FFF2-40B4-BE49-F238E27FC236}">
                <a16:creationId xmlns:a16="http://schemas.microsoft.com/office/drawing/2014/main" id="{59611CEB-7D7F-498C-9D20-D421377CB9FE}"/>
              </a:ext>
            </a:extLst>
          </p:cNvPr>
          <p:cNvSpPr>
            <a:spLocks xmlns:a="http://schemas.openxmlformats.org/drawingml/2006/main" noGrp="1"/>
          </p:cNvSpPr>
          <p:nvPr/>
        </p:nvSpPr>
        <p:spPr>
          <a:xfrm xmlns:a="http://schemas.openxmlformats.org/drawingml/2006/main">
            <a:off x="685800" y="1000125"/>
            <a:ext cx="819150" cy="47625"/>
          </a:xfrm>
          <a:prstGeom xmlns:a="http://schemas.openxmlformats.org/drawingml/2006/main" prst="rect">
            <a:avLst/>
          </a:prstGeom>
          <a:solidFill xmlns:a="http://schemas.openxmlformats.org/drawingml/2006/main">
            <a:srgbClr val="D32F2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16FD29E-A6EE-49BD-9BFB-542EA7FDFEFE}"/>
              </a:ext>
            </a:extLst>
          </p:cNvPr>
          <p:cNvSpPr>
            <a:spLocks xmlns:a="http://schemas.openxmlformats.org/drawingml/2006/main" noGrp="1"/>
          </p:cNvSpPr>
          <p:nvPr/>
        </p:nvSpPr>
        <p:spPr>
          <a:xfrm xmlns:a="http://schemas.openxmlformats.org/drawingml/2006/main">
            <a:off x="1666875" y="8667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5F6B73"/>
                </a:solidFill>
                <a:latin typeface="Arial"/>
                <a:ea typeface="Arial"/>
                <a:cs typeface="Arial"/>
              </a:defRPr>
            </a:pPr>
            <a:r>
              <a:rPr sz="1125" b="0">
                <a:solidFill>
                  <a:srgbClr val="5F6B73"/>
                </a:solidFill>
                <a:latin typeface="Arial"/>
                <a:ea typeface="Arial"/>
                <a:cs typeface="Arial"/>
              </a:rPr>
              <a:t>Không để thông tin test đi ngược vào huấn luyện</a:t>
            </a:r>
          </a:p>
        </p:txBody>
      </p:sp>
      <p:sp>
        <p:nvSpPr>
          <p:cNvPr id="4" name="">
            <a:extLst xmlns:a="http://schemas.openxmlformats.org/drawingml/2006/main">
              <a:ext uri="{FF2B5EF4-FFF2-40B4-BE49-F238E27FC236}">
                <a16:creationId xmlns:a16="http://schemas.microsoft.com/office/drawing/2014/main" id="{E636ED3A-D2FA-465E-9CAC-C183F95F94D4}"/>
              </a:ext>
            </a:extLst>
          </p:cNvPr>
          <p:cNvSpPr>
            <a:spLocks xmlns:a="http://schemas.openxmlformats.org/drawingml/2006/main" noGrp="1"/>
          </p:cNvSpPr>
          <p:nvPr/>
        </p:nvSpPr>
        <p:spPr>
          <a:xfrm xmlns:a="http://schemas.openxmlformats.org/drawingml/2006/main">
            <a:off x="742950" y="1457325"/>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444"/>
          </a:bodyPr>
          <a:lstStyle xmlns:a="http://schemas.openxmlformats.org/drawingml/2006/main"/>
          <a:p xmlns:a="http://schemas.openxmlformats.org/drawingml/2006/main">
            <a:pPr algn="l">
              <a:defRPr sz="1350" b="1">
                <a:solidFill>
                  <a:srgbClr val="1769AA"/>
                </a:solidFill>
                <a:latin typeface="Arial"/>
                <a:ea typeface="Arial"/>
                <a:cs typeface="Arial"/>
              </a:defRPr>
            </a:pPr>
            <a:r>
              <a:rPr sz="1350" b="1">
                <a:solidFill>
                  <a:srgbClr val="1769AA"/>
                </a:solidFill>
                <a:latin typeface="Arial"/>
                <a:ea typeface="Arial"/>
                <a:cs typeface="Arial"/>
              </a:rPr>
              <a:t>Đầu vào</a:t>
            </a:r>
          </a:p>
        </p:txBody>
      </p:sp>
      <p:sp>
        <p:nvSpPr>
          <p:cNvPr id="5" name="">
            <a:extLst xmlns:a="http://schemas.openxmlformats.org/drawingml/2006/main">
              <a:ext uri="{FF2B5EF4-FFF2-40B4-BE49-F238E27FC236}">
                <a16:creationId xmlns:a16="http://schemas.microsoft.com/office/drawing/2014/main" id="{5F1042D7-B40D-4FBE-8221-582BCA301F9A}"/>
              </a:ext>
            </a:extLst>
          </p:cNvPr>
          <p:cNvSpPr>
            <a:spLocks xmlns:a="http://schemas.openxmlformats.org/drawingml/2006/main" noGrp="1"/>
          </p:cNvSpPr>
          <p:nvPr/>
        </p:nvSpPr>
        <p:spPr>
          <a:xfrm xmlns:a="http://schemas.openxmlformats.org/drawingml/2006/main">
            <a:off x="742950" y="1809750"/>
            <a:ext cx="2286000" cy="1047750"/>
          </a:xfrm>
          <a:prstGeom xmlns:a="http://schemas.openxmlformats.org/drawingml/2006/main" prst="rect">
            <a:avLst/>
          </a:prstGeom>
          <a:solidFill xmlns:a="http://schemas.openxmlformats.org/drawingml/2006/main">
            <a:srgbClr val="1769AA"/>
          </a:solidFill>
          <a:ln xmlns:a="http://schemas.openxmlformats.org/drawingml/2006/main" w="0">
            <a:noFill/>
          </a:ln>
        </p:spPr>
        <p:txBody>
          <a:bodyPr xmlns:a="http://schemas.openxmlformats.org/drawingml/2006/main" anchor="ctr">
            <a:normAutofit fontScale="99603"/>
          </a:bodyPr>
          <a:lstStyle xmlns:a="http://schemas.openxmlformats.org/drawingml/2006/main"/>
          <a:p xmlns:a="http://schemas.openxmlformats.org/drawingml/2006/main">
            <a:pPr algn="ctr">
              <a:defRPr sz="2100" b="1">
                <a:solidFill>
                  <a:srgbClr val="FFFFFF"/>
                </a:solidFill>
                <a:latin typeface="Arial"/>
                <a:ea typeface="Arial"/>
                <a:cs typeface="Arial"/>
              </a:defRPr>
            </a:pPr>
            <a:r>
              <a:rPr sz="2100" b="1">
                <a:solidFill>
                  <a:srgbClr val="FFFFFF"/>
                </a:solidFill>
                <a:latin typeface="Arial"/>
                <a:ea typeface="Arial"/>
                <a:cs typeface="Arial"/>
              </a:rPr>
              <a:t>BVP 8 giây</a:t>
            </a:r>
          </a:p>
          <a:p xmlns:a="http://schemas.openxmlformats.org/drawingml/2006/main">
            <a:pPr algn="ctr">
              <a:defRPr sz="2100" b="1">
                <a:solidFill>
                  <a:srgbClr val="FFFFFF"/>
                </a:solidFill>
                <a:latin typeface="Arial"/>
                <a:ea typeface="Arial"/>
                <a:cs typeface="Arial"/>
              </a:defRPr>
            </a:pPr>
            <a:r>
              <a:rPr sz="2100" b="1">
                <a:solidFill>
                  <a:srgbClr val="FFFFFF"/>
                </a:solidFill>
                <a:latin typeface="Arial"/>
                <a:ea typeface="Arial"/>
                <a:cs typeface="Arial"/>
              </a:rPr>
              <a:t>256 mẫu @ 32 Hz</a:t>
            </a:r>
          </a:p>
        </p:txBody>
      </p:sp>
      <p:sp>
        <p:nvSpPr>
          <p:cNvPr id="6" name="">
            <a:extLst xmlns:a="http://schemas.openxmlformats.org/drawingml/2006/main">
              <a:ext uri="{FF2B5EF4-FFF2-40B4-BE49-F238E27FC236}">
                <a16:creationId xmlns:a16="http://schemas.microsoft.com/office/drawing/2014/main" id="{DE3F7040-3504-48F4-BF02-029915C5F44A}"/>
              </a:ext>
            </a:extLst>
          </p:cNvPr>
          <p:cNvSpPr>
            <a:spLocks xmlns:a="http://schemas.openxmlformats.org/drawingml/2006/main" noGrp="1"/>
          </p:cNvSpPr>
          <p:nvPr/>
        </p:nvSpPr>
        <p:spPr>
          <a:xfrm xmlns:a="http://schemas.openxmlformats.org/drawingml/2006/main">
            <a:off x="3190875" y="2095500"/>
            <a:ext cx="904875" cy="457200"/>
          </a:xfrm>
          <a:prstGeom xmlns:a="http://schemas.openxmlformats.org/drawingml/2006/main" prst="rightArrow">
            <a:avLst/>
          </a:prstGeom>
          <a:solidFill xmlns:a="http://schemas.openxmlformats.org/drawingml/2006/main">
            <a:srgbClr val="B8CDD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9771EFD-46CE-47CD-A733-2DF88F4ACC24}"/>
              </a:ext>
            </a:extLst>
          </p:cNvPr>
          <p:cNvSpPr>
            <a:spLocks xmlns:a="http://schemas.openxmlformats.org/drawingml/2006/main" noGrp="1"/>
          </p:cNvSpPr>
          <p:nvPr/>
        </p:nvSpPr>
        <p:spPr>
          <a:xfrm xmlns:a="http://schemas.openxmlformats.org/drawingml/2006/main">
            <a:off x="4286250" y="1809750"/>
            <a:ext cx="2476500" cy="1047750"/>
          </a:xfrm>
          <a:prstGeom xmlns:a="http://schemas.openxmlformats.org/drawingml/2006/main" prst="rect">
            <a:avLst/>
          </a:prstGeom>
          <a:solidFill xmlns:a="http://schemas.openxmlformats.org/drawingml/2006/main">
            <a:srgbClr val="103A5C"/>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2175" b="1">
                <a:solidFill>
                  <a:srgbClr val="FFFFFF"/>
                </a:solidFill>
                <a:latin typeface="Arial"/>
                <a:ea typeface="Arial"/>
                <a:cs typeface="Arial"/>
              </a:defRPr>
            </a:pPr>
            <a:r>
              <a:rPr sz="2175" b="1">
                <a:solidFill>
                  <a:srgbClr val="FFFFFF"/>
                </a:solidFill>
                <a:latin typeface="Arial"/>
                <a:ea typeface="Arial"/>
                <a:cs typeface="Arial"/>
              </a:rPr>
              <a:t>CNN 1-D</a:t>
            </a:r>
          </a:p>
        </p:txBody>
      </p:sp>
      <p:sp>
        <p:nvSpPr>
          <p:cNvPr id="8" name="">
            <a:extLst xmlns:a="http://schemas.openxmlformats.org/drawingml/2006/main">
              <a:ext uri="{FF2B5EF4-FFF2-40B4-BE49-F238E27FC236}">
                <a16:creationId xmlns:a16="http://schemas.microsoft.com/office/drawing/2014/main" id="{B5AFBD16-258D-427F-A203-9856BCDCC12F}"/>
              </a:ext>
            </a:extLst>
          </p:cNvPr>
          <p:cNvSpPr>
            <a:spLocks xmlns:a="http://schemas.openxmlformats.org/drawingml/2006/main" noGrp="1"/>
          </p:cNvSpPr>
          <p:nvPr/>
        </p:nvSpPr>
        <p:spPr>
          <a:xfrm xmlns:a="http://schemas.openxmlformats.org/drawingml/2006/main">
            <a:off x="6953250" y="2095500"/>
            <a:ext cx="904875" cy="457200"/>
          </a:xfrm>
          <a:prstGeom xmlns:a="http://schemas.openxmlformats.org/drawingml/2006/main" prst="rightArrow">
            <a:avLst/>
          </a:prstGeom>
          <a:solidFill xmlns:a="http://schemas.openxmlformats.org/drawingml/2006/main">
            <a:srgbClr val="B8CDD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1EFFF65-EF47-479B-9F5E-53940839F538}"/>
              </a:ext>
            </a:extLst>
          </p:cNvPr>
          <p:cNvSpPr>
            <a:spLocks xmlns:a="http://schemas.openxmlformats.org/drawingml/2006/main" noGrp="1"/>
          </p:cNvSpPr>
          <p:nvPr/>
        </p:nvSpPr>
        <p:spPr>
          <a:xfrm xmlns:a="http://schemas.openxmlformats.org/drawingml/2006/main">
            <a:off x="8048625" y="1809750"/>
            <a:ext cx="3048000" cy="1047750"/>
          </a:xfrm>
          <a:prstGeom xmlns:a="http://schemas.openxmlformats.org/drawingml/2006/main" prst="rect">
            <a:avLst/>
          </a:prstGeom>
          <a:solidFill xmlns:a="http://schemas.openxmlformats.org/drawingml/2006/main">
            <a:srgbClr val="D32F2F"/>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2025" b="1">
                <a:solidFill>
                  <a:srgbClr val="FFFFFF"/>
                </a:solidFill>
                <a:latin typeface="Arial"/>
                <a:ea typeface="Arial"/>
                <a:cs typeface="Arial"/>
              </a:defRPr>
            </a:pPr>
            <a:r>
              <a:rPr sz="2025" b="1">
                <a:solidFill>
                  <a:srgbClr val="FFFFFF"/>
                </a:solidFill>
                <a:latin typeface="Arial"/>
                <a:ea typeface="Arial"/>
                <a:cs typeface="Arial"/>
              </a:rPr>
              <a:t>Đầu ra</a:t>
            </a:r>
          </a:p>
          <a:p xmlns:a="http://schemas.openxmlformats.org/drawingml/2006/main">
            <a:pPr algn="ctr">
              <a:defRPr sz="2025" b="1">
                <a:solidFill>
                  <a:srgbClr val="FFFFFF"/>
                </a:solidFill>
                <a:latin typeface="Arial"/>
                <a:ea typeface="Arial"/>
                <a:cs typeface="Arial"/>
              </a:defRPr>
            </a:pPr>
            <a:r>
              <a:rPr sz="2025" b="1">
                <a:solidFill>
                  <a:srgbClr val="FFFFFF"/>
                </a:solidFill>
                <a:latin typeface="Arial"/>
                <a:ea typeface="Arial"/>
                <a:cs typeface="Arial"/>
              </a:rPr>
              <a:t>HR trung bình (BPM)</a:t>
            </a:r>
          </a:p>
        </p:txBody>
      </p:sp>
      <p:sp>
        <p:nvSpPr>
          <p:cNvPr id="10" name="">
            <a:extLst xmlns:a="http://schemas.openxmlformats.org/drawingml/2006/main">
              <a:ext uri="{FF2B5EF4-FFF2-40B4-BE49-F238E27FC236}">
                <a16:creationId xmlns:a16="http://schemas.microsoft.com/office/drawing/2014/main" id="{959C99A1-C2EC-466D-9CB0-CF824ACF0C79}"/>
              </a:ext>
            </a:extLst>
          </p:cNvPr>
          <p:cNvSpPr>
            <a:spLocks xmlns:a="http://schemas.openxmlformats.org/drawingml/2006/main" noGrp="1"/>
          </p:cNvSpPr>
          <p:nvPr/>
        </p:nvSpPr>
        <p:spPr>
          <a:xfrm xmlns:a="http://schemas.openxmlformats.org/drawingml/2006/main">
            <a:off x="742950" y="331470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1">
                <a:solidFill>
                  <a:srgbClr val="103A5C"/>
                </a:solidFill>
                <a:latin typeface="Arial"/>
                <a:ea typeface="Arial"/>
                <a:cs typeface="Arial"/>
              </a:defRPr>
            </a:pPr>
            <a:r>
              <a:rPr sz="1575" b="1">
                <a:solidFill>
                  <a:srgbClr val="103A5C"/>
                </a:solidFill>
                <a:latin typeface="Arial"/>
                <a:ea typeface="Arial"/>
                <a:cs typeface="Arial"/>
              </a:rPr>
              <a:t>Split theo người</a:t>
            </a:r>
          </a:p>
        </p:txBody>
      </p:sp>
      <p:sp>
        <p:nvSpPr>
          <p:cNvPr id="11" name="">
            <a:extLst xmlns:a="http://schemas.openxmlformats.org/drawingml/2006/main">
              <a:ext uri="{FF2B5EF4-FFF2-40B4-BE49-F238E27FC236}">
                <a16:creationId xmlns:a16="http://schemas.microsoft.com/office/drawing/2014/main" id="{424A783D-562D-4A46-A1FF-1CA769BFD606}"/>
              </a:ext>
            </a:extLst>
          </p:cNvPr>
          <p:cNvSpPr>
            <a:spLocks xmlns:a="http://schemas.openxmlformats.org/drawingml/2006/main" noGrp="1"/>
          </p:cNvSpPr>
          <p:nvPr/>
        </p:nvSpPr>
        <p:spPr>
          <a:xfrm xmlns:a="http://schemas.openxmlformats.org/drawingml/2006/main">
            <a:off x="742950" y="3857625"/>
            <a:ext cx="3095625" cy="323850"/>
          </a:xfrm>
          <a:prstGeom xmlns:a="http://schemas.openxmlformats.org/drawingml/2006/main" prst="rect">
            <a:avLst/>
          </a:prstGeom>
          <a:solidFill xmlns:a="http://schemas.openxmlformats.org/drawingml/2006/main">
            <a:srgbClr val="1769AA"/>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00" b="1">
                <a:solidFill>
                  <a:srgbClr val="FFFFFF"/>
                </a:solidFill>
                <a:latin typeface="Arial"/>
                <a:ea typeface="Arial"/>
                <a:cs typeface="Arial"/>
              </a:defRPr>
            </a:pPr>
            <a:r>
              <a:rPr sz="1200" b="1">
                <a:solidFill>
                  <a:srgbClr val="FFFFFF"/>
                </a:solidFill>
                <a:latin typeface="Arial"/>
                <a:ea typeface="Arial"/>
                <a:cs typeface="Arial"/>
              </a:rPr>
              <a:t>TRAIN</a:t>
            </a:r>
          </a:p>
        </p:txBody>
      </p:sp>
      <p:sp>
        <p:nvSpPr>
          <p:cNvPr id="12" name="">
            <a:extLst xmlns:a="http://schemas.openxmlformats.org/drawingml/2006/main">
              <a:ext uri="{FF2B5EF4-FFF2-40B4-BE49-F238E27FC236}">
                <a16:creationId xmlns:a16="http://schemas.microsoft.com/office/drawing/2014/main" id="{D11B2A24-68A2-4C14-978A-66DABAEB7649}"/>
              </a:ext>
            </a:extLst>
          </p:cNvPr>
          <p:cNvSpPr>
            <a:spLocks xmlns:a="http://schemas.openxmlformats.org/drawingml/2006/main" noGrp="1"/>
          </p:cNvSpPr>
          <p:nvPr/>
        </p:nvSpPr>
        <p:spPr>
          <a:xfrm xmlns:a="http://schemas.openxmlformats.org/drawingml/2006/main">
            <a:off x="742950" y="4210050"/>
            <a:ext cx="3095625" cy="876300"/>
          </a:xfrm>
          <a:prstGeom xmlns:a="http://schemas.openxmlformats.org/drawingml/2006/main" prst="rect">
            <a:avLst/>
          </a:prstGeom>
          <a:solidFill xmlns:a="http://schemas.openxmlformats.org/drawingml/2006/main">
            <a:srgbClr val="F6F8FA"/>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725" b="1">
                <a:solidFill>
                  <a:srgbClr val="17242E"/>
                </a:solidFill>
                <a:latin typeface="Arial"/>
                <a:ea typeface="Arial"/>
                <a:cs typeface="Arial"/>
              </a:defRPr>
            </a:pPr>
            <a:r>
              <a:rPr sz="1725" b="1">
                <a:solidFill>
                  <a:srgbClr val="17242E"/>
                </a:solidFill>
                <a:latin typeface="Arial"/>
                <a:ea typeface="Arial"/>
                <a:cs typeface="Arial"/>
              </a:rPr>
              <a:t>S2–S10</a:t>
            </a:r>
          </a:p>
          <a:p xmlns:a="http://schemas.openxmlformats.org/drawingml/2006/main">
            <a:pPr algn="ctr">
              <a:defRPr sz="1725" b="1">
                <a:solidFill>
                  <a:srgbClr val="17242E"/>
                </a:solidFill>
                <a:latin typeface="Arial"/>
                <a:ea typeface="Arial"/>
                <a:cs typeface="Arial"/>
              </a:defRPr>
            </a:pPr>
            <a:r>
              <a:rPr sz="1725" b="1">
                <a:solidFill>
                  <a:srgbClr val="17242E"/>
                </a:solidFill>
                <a:latin typeface="Arial"/>
                <a:ea typeface="Arial"/>
                <a:cs typeface="Arial"/>
              </a:rPr>
              <a:t>9.770 cửa sổ</a:t>
            </a:r>
          </a:p>
        </p:txBody>
      </p:sp>
      <p:sp>
        <p:nvSpPr>
          <p:cNvPr id="13" name="">
            <a:extLst xmlns:a="http://schemas.openxmlformats.org/drawingml/2006/main">
              <a:ext uri="{FF2B5EF4-FFF2-40B4-BE49-F238E27FC236}">
                <a16:creationId xmlns:a16="http://schemas.microsoft.com/office/drawing/2014/main" id="{E1D4B872-B36D-424F-9AF4-E42AA9BDB608}"/>
              </a:ext>
            </a:extLst>
          </p:cNvPr>
          <p:cNvSpPr>
            <a:spLocks xmlns:a="http://schemas.openxmlformats.org/drawingml/2006/main" noGrp="1"/>
          </p:cNvSpPr>
          <p:nvPr/>
        </p:nvSpPr>
        <p:spPr>
          <a:xfrm xmlns:a="http://schemas.openxmlformats.org/drawingml/2006/main">
            <a:off x="4219575" y="3857625"/>
            <a:ext cx="3095625" cy="323850"/>
          </a:xfrm>
          <a:prstGeom xmlns:a="http://schemas.openxmlformats.org/drawingml/2006/main" prst="rect">
            <a:avLst/>
          </a:prstGeom>
          <a:solidFill xmlns:a="http://schemas.openxmlformats.org/drawingml/2006/main">
            <a:srgbClr val="F28E2B"/>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00" b="1">
                <a:solidFill>
                  <a:srgbClr val="FFFFFF"/>
                </a:solidFill>
                <a:latin typeface="Arial"/>
                <a:ea typeface="Arial"/>
                <a:cs typeface="Arial"/>
              </a:defRPr>
            </a:pPr>
            <a:r>
              <a:rPr sz="1200" b="1">
                <a:solidFill>
                  <a:srgbClr val="FFFFFF"/>
                </a:solidFill>
                <a:latin typeface="Arial"/>
                <a:ea typeface="Arial"/>
                <a:cs typeface="Arial"/>
              </a:rPr>
              <a:t>VALIDATION</a:t>
            </a:r>
          </a:p>
        </p:txBody>
      </p:sp>
      <p:sp>
        <p:nvSpPr>
          <p:cNvPr id="14" name="">
            <a:extLst xmlns:a="http://schemas.openxmlformats.org/drawingml/2006/main">
              <a:ext uri="{FF2B5EF4-FFF2-40B4-BE49-F238E27FC236}">
                <a16:creationId xmlns:a16="http://schemas.microsoft.com/office/drawing/2014/main" id="{4A41B048-48C7-4CB7-AC37-C90D372A0D14}"/>
              </a:ext>
            </a:extLst>
          </p:cNvPr>
          <p:cNvSpPr>
            <a:spLocks xmlns:a="http://schemas.openxmlformats.org/drawingml/2006/main" noGrp="1"/>
          </p:cNvSpPr>
          <p:nvPr/>
        </p:nvSpPr>
        <p:spPr>
          <a:xfrm xmlns:a="http://schemas.openxmlformats.org/drawingml/2006/main">
            <a:off x="4219575" y="4210050"/>
            <a:ext cx="3095625" cy="876300"/>
          </a:xfrm>
          <a:prstGeom xmlns:a="http://schemas.openxmlformats.org/drawingml/2006/main" prst="rect">
            <a:avLst/>
          </a:prstGeom>
          <a:solidFill xmlns:a="http://schemas.openxmlformats.org/drawingml/2006/main">
            <a:srgbClr val="F6F8FA"/>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725" b="1">
                <a:solidFill>
                  <a:srgbClr val="17242E"/>
                </a:solidFill>
                <a:latin typeface="Arial"/>
                <a:ea typeface="Arial"/>
                <a:cs typeface="Arial"/>
              </a:defRPr>
            </a:pPr>
            <a:r>
              <a:rPr sz="1725" b="1">
                <a:solidFill>
                  <a:srgbClr val="17242E"/>
                </a:solidFill>
                <a:latin typeface="Arial"/>
                <a:ea typeface="Arial"/>
                <a:cs typeface="Arial"/>
              </a:rPr>
              <a:t>S11, S13</a:t>
            </a:r>
          </a:p>
          <a:p xmlns:a="http://schemas.openxmlformats.org/drawingml/2006/main">
            <a:pPr algn="ctr">
              <a:defRPr sz="1725" b="1">
                <a:solidFill>
                  <a:srgbClr val="17242E"/>
                </a:solidFill>
                <a:latin typeface="Arial"/>
                <a:ea typeface="Arial"/>
                <a:cs typeface="Arial"/>
              </a:defRPr>
            </a:pPr>
            <a:r>
              <a:rPr sz="1725" b="1">
                <a:solidFill>
                  <a:srgbClr val="17242E"/>
                </a:solidFill>
                <a:latin typeface="Arial"/>
                <a:ea typeface="Arial"/>
                <a:cs typeface="Arial"/>
              </a:rPr>
              <a:t>2.208 cửa sổ</a:t>
            </a:r>
          </a:p>
        </p:txBody>
      </p:sp>
      <p:sp>
        <p:nvSpPr>
          <p:cNvPr id="15" name="">
            <a:extLst xmlns:a="http://schemas.openxmlformats.org/drawingml/2006/main">
              <a:ext uri="{FF2B5EF4-FFF2-40B4-BE49-F238E27FC236}">
                <a16:creationId xmlns:a16="http://schemas.microsoft.com/office/drawing/2014/main" id="{9BC6ACBC-5F3E-469D-8469-1E759A855477}"/>
              </a:ext>
            </a:extLst>
          </p:cNvPr>
          <p:cNvSpPr>
            <a:spLocks xmlns:a="http://schemas.openxmlformats.org/drawingml/2006/main" noGrp="1"/>
          </p:cNvSpPr>
          <p:nvPr/>
        </p:nvSpPr>
        <p:spPr>
          <a:xfrm xmlns:a="http://schemas.openxmlformats.org/drawingml/2006/main">
            <a:off x="7696200" y="3857625"/>
            <a:ext cx="3095625" cy="323850"/>
          </a:xfrm>
          <a:prstGeom xmlns:a="http://schemas.openxmlformats.org/drawingml/2006/main" prst="rect">
            <a:avLst/>
          </a:prstGeom>
          <a:solidFill xmlns:a="http://schemas.openxmlformats.org/drawingml/2006/main">
            <a:srgbClr val="59A14F"/>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00" b="1">
                <a:solidFill>
                  <a:srgbClr val="FFFFFF"/>
                </a:solidFill>
                <a:latin typeface="Arial"/>
                <a:ea typeface="Arial"/>
                <a:cs typeface="Arial"/>
              </a:defRPr>
            </a:pPr>
            <a:r>
              <a:rPr sz="1200" b="1">
                <a:solidFill>
                  <a:srgbClr val="FFFFFF"/>
                </a:solidFill>
                <a:latin typeface="Arial"/>
                <a:ea typeface="Arial"/>
                <a:cs typeface="Arial"/>
              </a:rPr>
              <a:t>TEST</a:t>
            </a:r>
          </a:p>
        </p:txBody>
      </p:sp>
      <p:sp>
        <p:nvSpPr>
          <p:cNvPr id="16" name="">
            <a:extLst xmlns:a="http://schemas.openxmlformats.org/drawingml/2006/main">
              <a:ext uri="{FF2B5EF4-FFF2-40B4-BE49-F238E27FC236}">
                <a16:creationId xmlns:a16="http://schemas.microsoft.com/office/drawing/2014/main" id="{7ADDE0CC-0419-40BA-90E2-02A402FBCB32}"/>
              </a:ext>
            </a:extLst>
          </p:cNvPr>
          <p:cNvSpPr>
            <a:spLocks xmlns:a="http://schemas.openxmlformats.org/drawingml/2006/main" noGrp="1"/>
          </p:cNvSpPr>
          <p:nvPr/>
        </p:nvSpPr>
        <p:spPr>
          <a:xfrm xmlns:a="http://schemas.openxmlformats.org/drawingml/2006/main">
            <a:off x="7696200" y="4210050"/>
            <a:ext cx="3095625" cy="876300"/>
          </a:xfrm>
          <a:prstGeom xmlns:a="http://schemas.openxmlformats.org/drawingml/2006/main" prst="rect">
            <a:avLst/>
          </a:prstGeom>
          <a:solidFill xmlns:a="http://schemas.openxmlformats.org/drawingml/2006/main">
            <a:srgbClr val="F6F8FA"/>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725" b="1">
                <a:solidFill>
                  <a:srgbClr val="17242E"/>
                </a:solidFill>
                <a:latin typeface="Arial"/>
                <a:ea typeface="Arial"/>
                <a:cs typeface="Arial"/>
              </a:defRPr>
            </a:pPr>
            <a:r>
              <a:rPr sz="1725" b="1">
                <a:solidFill>
                  <a:srgbClr val="17242E"/>
                </a:solidFill>
                <a:latin typeface="Arial"/>
                <a:ea typeface="Arial"/>
                <a:cs typeface="Arial"/>
              </a:rPr>
              <a:t>S14–S17</a:t>
            </a:r>
          </a:p>
          <a:p xmlns:a="http://schemas.openxmlformats.org/drawingml/2006/main">
            <a:pPr algn="ctr">
              <a:defRPr sz="1725" b="1">
                <a:solidFill>
                  <a:srgbClr val="17242E"/>
                </a:solidFill>
                <a:latin typeface="Arial"/>
                <a:ea typeface="Arial"/>
                <a:cs typeface="Arial"/>
              </a:defRPr>
            </a:pPr>
            <a:r>
              <a:rPr sz="1725" b="1">
                <a:solidFill>
                  <a:srgbClr val="17242E"/>
                </a:solidFill>
                <a:latin typeface="Arial"/>
                <a:ea typeface="Arial"/>
                <a:cs typeface="Arial"/>
              </a:rPr>
              <a:t>4.444 cửa sổ</a:t>
            </a:r>
          </a:p>
        </p:txBody>
      </p:sp>
      <p:sp>
        <p:nvSpPr>
          <p:cNvPr id="17" name="">
            <a:extLst xmlns:a="http://schemas.openxmlformats.org/drawingml/2006/main">
              <a:ext uri="{FF2B5EF4-FFF2-40B4-BE49-F238E27FC236}">
                <a16:creationId xmlns:a16="http://schemas.microsoft.com/office/drawing/2014/main" id="{43870045-F8B5-45EF-8EB6-A80D512B5ED3}"/>
              </a:ext>
            </a:extLst>
          </p:cNvPr>
          <p:cNvSpPr>
            <a:spLocks xmlns:a="http://schemas.openxmlformats.org/drawingml/2006/main" noGrp="1"/>
          </p:cNvSpPr>
          <p:nvPr/>
        </p:nvSpPr>
        <p:spPr>
          <a:xfrm xmlns:a="http://schemas.openxmlformats.org/drawingml/2006/main">
            <a:off x="742950" y="5486400"/>
            <a:ext cx="10287000" cy="457200"/>
          </a:xfrm>
          <a:prstGeom xmlns:a="http://schemas.openxmlformats.org/drawingml/2006/main" prst="rect">
            <a:avLst/>
          </a:prstGeom>
          <a:solidFill xmlns:a="http://schemas.openxmlformats.org/drawingml/2006/main">
            <a:srgbClr val="EAF3F8"/>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800" b="1">
                <a:solidFill>
                  <a:srgbClr val="103A5C"/>
                </a:solidFill>
                <a:latin typeface="Arial"/>
                <a:ea typeface="Arial"/>
                <a:cs typeface="Arial"/>
              </a:defRPr>
            </a:pPr>
            <a:r>
              <a:rPr sz="1800" b="1">
                <a:solidFill>
                  <a:srgbClr val="103A5C"/>
                </a:solidFill>
                <a:latin typeface="Arial"/>
                <a:ea typeface="Arial"/>
                <a:cs typeface="Arial"/>
              </a:rPr>
              <a:t>Metric chính: MAE từng người → trung bình đều (MAE_macro)</a:t>
            </a:r>
          </a:p>
        </p:txBody>
      </p:sp>
      <p:sp>
        <p:nvSpPr>
          <p:cNvPr id="18" name="">
            <a:extLst xmlns:a="http://schemas.openxmlformats.org/drawingml/2006/main">
              <a:ext uri="{FF2B5EF4-FFF2-40B4-BE49-F238E27FC236}">
                <a16:creationId xmlns:a16="http://schemas.microsoft.com/office/drawing/2014/main" id="{E0532AC6-CC5F-4613-AD8F-224AC570A46D}"/>
              </a:ext>
            </a:extLst>
          </p:cNvPr>
          <p:cNvSpPr>
            <a:spLocks xmlns:a="http://schemas.openxmlformats.org/drawingml/2006/main" noGrp="1"/>
          </p:cNvSpPr>
          <p:nvPr/>
        </p:nvSpPr>
        <p:spPr>
          <a:xfrm xmlns:a="http://schemas.openxmlformats.org/drawingml/2006/main">
            <a:off x="685800" y="6467475"/>
            <a:ext cx="10820400" cy="9525"/>
          </a:xfrm>
          <a:prstGeom xmlns:a="http://schemas.openxmlformats.org/drawingml/2006/main" prst="line">
            <a:avLst/>
          </a:prstGeom>
          <a:noFill xmlns:a="http://schemas.openxmlformats.org/drawingml/2006/main"/>
          <a:ln xmlns:a="http://schemas.openxmlformats.org/drawingml/2006/main" w="9525">
            <a:solidFill>
              <a:srgbClr val="C9D3DB"/>
            </a:solidFill>
          </a:ln>
        </p:spPr>
      </p:sp>
      <p:sp>
        <p:nvSpPr>
          <p:cNvPr id="19" name="">
            <a:extLst xmlns:a="http://schemas.openxmlformats.org/drawingml/2006/main">
              <a:ext uri="{FF2B5EF4-FFF2-40B4-BE49-F238E27FC236}">
                <a16:creationId xmlns:a16="http://schemas.microsoft.com/office/drawing/2014/main" id="{E99547FE-617E-4503-BE06-928CBB968428}"/>
              </a:ext>
            </a:extLst>
          </p:cNvPr>
          <p:cNvSpPr>
            <a:spLocks xmlns:a="http://schemas.openxmlformats.org/drawingml/2006/main" noGrp="1"/>
          </p:cNvSpPr>
          <p:nvPr/>
        </p:nvSpPr>
        <p:spPr>
          <a:xfrm xmlns:a="http://schemas.openxmlformats.org/drawingml/2006/main">
            <a:off x="685800" y="6505575"/>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l">
              <a:defRPr sz="825" b="0">
                <a:solidFill>
                  <a:srgbClr val="5F6B73"/>
                </a:solidFill>
                <a:latin typeface="Arial"/>
                <a:ea typeface="Arial"/>
                <a:cs typeface="Arial"/>
              </a:defRPr>
            </a:pPr>
            <a:r>
              <a:rPr sz="825" b="0">
                <a:solidFill>
                  <a:srgbClr val="5F6B73"/>
                </a:solidFill>
                <a:latin typeface="Arial"/>
                <a:ea typeface="Arial"/>
                <a:cs typeface="Arial"/>
              </a:rPr>
              <a:t>Đ18 • Trần Tiến Thịnh • 22110236</a:t>
            </a:r>
          </a:p>
        </p:txBody>
      </p:sp>
      <p:sp>
        <p:nvSpPr>
          <p:cNvPr id="20" name="">
            <a:extLst xmlns:a="http://schemas.openxmlformats.org/drawingml/2006/main">
              <a:ext uri="{FF2B5EF4-FFF2-40B4-BE49-F238E27FC236}">
                <a16:creationId xmlns:a16="http://schemas.microsoft.com/office/drawing/2014/main" id="{8BE4E1CF-8913-43CF-8078-2CDD3DB166B0}"/>
              </a:ext>
            </a:extLst>
          </p:cNvPr>
          <p:cNvSpPr>
            <a:spLocks xmlns:a="http://schemas.openxmlformats.org/drawingml/2006/main" noGrp="1"/>
          </p:cNvSpPr>
          <p:nvPr/>
        </p:nvSpPr>
        <p:spPr>
          <a:xfrm xmlns:a="http://schemas.openxmlformats.org/drawingml/2006/main">
            <a:off x="10763250" y="6505575"/>
            <a:ext cx="742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r">
              <a:defRPr sz="825" b="0">
                <a:solidFill>
                  <a:srgbClr val="5F6B73"/>
                </a:solidFill>
                <a:latin typeface="Arial"/>
                <a:ea typeface="Arial"/>
                <a:cs typeface="Arial"/>
              </a:defRPr>
            </a:pPr>
            <a:r>
              <a:rPr sz="825" b="0">
                <a:solidFill>
                  <a:srgbClr val="5F6B73"/>
                </a:solidFill>
                <a:latin typeface="Arial"/>
                <a:ea typeface="Arial"/>
                <a:cs typeface="Arial"/>
              </a:rPr>
              <a:t>02</a:t>
            </a:r>
          </a:p>
        </p:txBody>
      </p:sp>
    </p:spTree>
    <p:extLst>
      <p:ext uri="{BB962C8B-B14F-4D97-AF65-F5344CB8AC3E}">
        <p14:creationId xmlns:p14="http://schemas.microsoft.com/office/powerpoint/2010/main" val="34055202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CFF481EF-349D-467D-8073-6A2B038BBADF}"/>
              </a:ext>
            </a:extLst>
          </p:cNvPr>
          <p:cNvSpPr>
            <a:spLocks xmlns:a="http://schemas.openxmlformats.org/drawingml/2006/main" noGrp="1"/>
          </p:cNvSpPr>
          <p:nvPr/>
        </p:nvSpPr>
        <p:spPr>
          <a:xfrm xmlns:a="http://schemas.openxmlformats.org/drawingml/2006/main">
            <a:off x="685800" y="3619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550" b="1">
                <a:solidFill>
                  <a:srgbClr val="103A5C"/>
                </a:solidFill>
                <a:latin typeface="Arial"/>
                <a:ea typeface="Arial"/>
                <a:cs typeface="Arial"/>
              </a:defRPr>
            </a:pPr>
            <a:r>
              <a:rPr sz="2550" b="1">
                <a:solidFill>
                  <a:srgbClr val="103A5C"/>
                </a:solidFill>
                <a:latin typeface="Arial"/>
                <a:ea typeface="Arial"/>
                <a:cs typeface="Arial"/>
              </a:rPr>
              <a:t>Pipeline dữ liệu có dấu vết</a:t>
            </a:r>
          </a:p>
        </p:txBody>
      </p:sp>
      <p:sp>
        <p:nvSpPr>
          <p:cNvPr id="2" name="">
            <a:extLst xmlns:a="http://schemas.openxmlformats.org/drawingml/2006/main">
              <a:ext uri="{FF2B5EF4-FFF2-40B4-BE49-F238E27FC236}">
                <a16:creationId xmlns:a16="http://schemas.microsoft.com/office/drawing/2014/main" id="{1A232BD5-BDF4-43EA-974A-74FF07C1D8AE}"/>
              </a:ext>
            </a:extLst>
          </p:cNvPr>
          <p:cNvSpPr>
            <a:spLocks xmlns:a="http://schemas.openxmlformats.org/drawingml/2006/main" noGrp="1"/>
          </p:cNvSpPr>
          <p:nvPr/>
        </p:nvSpPr>
        <p:spPr>
          <a:xfrm xmlns:a="http://schemas.openxmlformats.org/drawingml/2006/main">
            <a:off x="685800" y="1000125"/>
            <a:ext cx="819150" cy="47625"/>
          </a:xfrm>
          <a:prstGeom xmlns:a="http://schemas.openxmlformats.org/drawingml/2006/main" prst="rect">
            <a:avLst/>
          </a:prstGeom>
          <a:solidFill xmlns:a="http://schemas.openxmlformats.org/drawingml/2006/main">
            <a:srgbClr val="D32F2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16FE97A-65DB-46D9-B7EA-3B78817CD406}"/>
              </a:ext>
            </a:extLst>
          </p:cNvPr>
          <p:cNvSpPr>
            <a:spLocks xmlns:a="http://schemas.openxmlformats.org/drawingml/2006/main" noGrp="1"/>
          </p:cNvSpPr>
          <p:nvPr/>
        </p:nvSpPr>
        <p:spPr>
          <a:xfrm xmlns:a="http://schemas.openxmlformats.org/drawingml/2006/main">
            <a:off x="1666875" y="8667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5F6B73"/>
                </a:solidFill>
                <a:latin typeface="Arial"/>
                <a:ea typeface="Arial"/>
                <a:cs typeface="Arial"/>
              </a:defRPr>
            </a:pPr>
            <a:r>
              <a:rPr sz="1125" b="0">
                <a:solidFill>
                  <a:srgbClr val="5F6B73"/>
                </a:solidFill>
                <a:latin typeface="Arial"/>
                <a:ea typeface="Arial"/>
                <a:cs typeface="Arial"/>
              </a:rPr>
              <a:t>Mọi cửa sổ gắn window_id, config hash và manifest hash</a:t>
            </a:r>
          </a:p>
        </p:txBody>
      </p:sp>
      <p:sp>
        <p:nvSpPr>
          <p:cNvPr id="4" name="">
            <a:extLst xmlns:a="http://schemas.openxmlformats.org/drawingml/2006/main">
              <a:ext uri="{FF2B5EF4-FFF2-40B4-BE49-F238E27FC236}">
                <a16:creationId xmlns:a16="http://schemas.microsoft.com/office/drawing/2014/main" id="{588FC08E-A28E-4346-8082-273131A41562}"/>
              </a:ext>
            </a:extLst>
          </p:cNvPr>
          <p:cNvSpPr>
            <a:spLocks xmlns:a="http://schemas.openxmlformats.org/drawingml/2006/main" noGrp="1"/>
          </p:cNvSpPr>
          <p:nvPr/>
        </p:nvSpPr>
        <p:spPr>
          <a:xfrm xmlns:a="http://schemas.openxmlformats.org/drawingml/2006/main">
            <a:off x="609600" y="1581150"/>
            <a:ext cx="1857375" cy="1562100"/>
          </a:xfrm>
          <a:prstGeom xmlns:a="http://schemas.openxmlformats.org/drawingml/2006/main" prst="roundRect">
            <a:avLst>
              <a:gd name="adj" fmla="val 7317"/>
            </a:avLst>
          </a:prstGeom>
          <a:solidFill xmlns:a="http://schemas.openxmlformats.org/drawingml/2006/main">
            <a:srgbClr val="EAF3F8"/>
          </a:solidFill>
          <a:ln xmlns:a="http://schemas.openxmlformats.org/drawingml/2006/main" w="9525">
            <a:solidFill>
              <a:srgbClr val="AAC4D3"/>
            </a:solidFill>
          </a:ln>
        </p:spPr>
      </p:sp>
      <p:sp>
        <p:nvSpPr>
          <p:cNvPr id="5" name="">
            <a:extLst xmlns:a="http://schemas.openxmlformats.org/drawingml/2006/main">
              <a:ext uri="{FF2B5EF4-FFF2-40B4-BE49-F238E27FC236}">
                <a16:creationId xmlns:a16="http://schemas.microsoft.com/office/drawing/2014/main" id="{981FF88B-FA2E-4AC9-BDE4-E32F63FA9F0A}"/>
              </a:ext>
            </a:extLst>
          </p:cNvPr>
          <p:cNvSpPr>
            <a:spLocks xmlns:a="http://schemas.openxmlformats.org/drawingml/2006/main" noGrp="1"/>
          </p:cNvSpPr>
          <p:nvPr/>
        </p:nvSpPr>
        <p:spPr>
          <a:xfrm xmlns:a="http://schemas.openxmlformats.org/drawingml/2006/main">
            <a:off x="742950" y="1695450"/>
            <a:ext cx="342900" cy="342900"/>
          </a:xfrm>
          <a:prstGeom xmlns:a="http://schemas.openxmlformats.org/drawingml/2006/main" prst="rect">
            <a:avLst/>
          </a:prstGeom>
          <a:solidFill xmlns:a="http://schemas.openxmlformats.org/drawingml/2006/main">
            <a:srgbClr val="1769AA"/>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FFFFFF"/>
                </a:solidFill>
                <a:latin typeface="Arial"/>
                <a:ea typeface="Arial"/>
                <a:cs typeface="Arial"/>
              </a:defRPr>
            </a:pPr>
            <a:r>
              <a:rPr sz="1350" b="1">
                <a:solidFill>
                  <a:srgbClr val="FFFFFF"/>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B2F74DC7-5824-4FDB-B34C-DDF62F27A5B8}"/>
              </a:ext>
            </a:extLst>
          </p:cNvPr>
          <p:cNvSpPr>
            <a:spLocks xmlns:a="http://schemas.openxmlformats.org/drawingml/2006/main" noGrp="1"/>
          </p:cNvSpPr>
          <p:nvPr/>
        </p:nvSpPr>
        <p:spPr>
          <a:xfrm xmlns:a="http://schemas.openxmlformats.org/drawingml/2006/main">
            <a:off x="781050" y="207645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424"/>
          </a:bodyPr>
          <a:lstStyle xmlns:a="http://schemas.openxmlformats.org/drawingml/2006/main"/>
          <a:p xmlns:a="http://schemas.openxmlformats.org/drawingml/2006/main">
            <a:pPr algn="ctr">
              <a:defRPr sz="1650" b="1">
                <a:solidFill>
                  <a:srgbClr val="103A5C"/>
                </a:solidFill>
                <a:latin typeface="Arial"/>
                <a:ea typeface="Arial"/>
                <a:cs typeface="Arial"/>
              </a:defRPr>
            </a:pPr>
            <a:r>
              <a:rPr sz="1650" b="1">
                <a:solidFill>
                  <a:srgbClr val="103A5C"/>
                </a:solidFill>
                <a:latin typeface="Arial"/>
                <a:ea typeface="Arial"/>
                <a:cs typeface="Arial"/>
              </a:rPr>
              <a:t>WESAD</a:t>
            </a:r>
          </a:p>
        </p:txBody>
      </p:sp>
      <p:sp>
        <p:nvSpPr>
          <p:cNvPr id="7" name="">
            <a:extLst xmlns:a="http://schemas.openxmlformats.org/drawingml/2006/main">
              <a:ext uri="{FF2B5EF4-FFF2-40B4-BE49-F238E27FC236}">
                <a16:creationId xmlns:a16="http://schemas.microsoft.com/office/drawing/2014/main" id="{F435EAED-C18C-4E90-99EE-27F60F12812A}"/>
              </a:ext>
            </a:extLst>
          </p:cNvPr>
          <p:cNvSpPr>
            <a:spLocks xmlns:a="http://schemas.openxmlformats.org/drawingml/2006/main" noGrp="1"/>
          </p:cNvSpPr>
          <p:nvPr/>
        </p:nvSpPr>
        <p:spPr>
          <a:xfrm xmlns:a="http://schemas.openxmlformats.org/drawingml/2006/main">
            <a:off x="742950" y="2447925"/>
            <a:ext cx="1600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00" b="0">
                <a:solidFill>
                  <a:srgbClr val="17242E"/>
                </a:solidFill>
                <a:latin typeface="Arial"/>
                <a:ea typeface="Arial"/>
                <a:cs typeface="Arial"/>
              </a:defRPr>
            </a:pPr>
            <a:r>
              <a:rPr sz="1200" b="0">
                <a:solidFill>
                  <a:srgbClr val="17242E"/>
                </a:solidFill>
                <a:latin typeface="Arial"/>
                <a:ea typeface="Arial"/>
                <a:cs typeface="Arial"/>
              </a:rPr>
              <a:t>BVP 64 Hz</a:t>
            </a:r>
          </a:p>
          <a:p xmlns:a="http://schemas.openxmlformats.org/drawingml/2006/main">
            <a:pPr algn="ctr">
              <a:defRPr sz="1200" b="0">
                <a:solidFill>
                  <a:srgbClr val="17242E"/>
                </a:solidFill>
                <a:latin typeface="Arial"/>
                <a:ea typeface="Arial"/>
                <a:cs typeface="Arial"/>
              </a:defRPr>
            </a:pPr>
            <a:r>
              <a:rPr sz="1200" b="0">
                <a:solidFill>
                  <a:srgbClr val="17242E"/>
                </a:solidFill>
                <a:latin typeface="Arial"/>
                <a:ea typeface="Arial"/>
                <a:cs typeface="Arial"/>
              </a:rPr>
              <a:t>ECG 700 Hz</a:t>
            </a:r>
          </a:p>
        </p:txBody>
      </p:sp>
      <p:sp>
        <p:nvSpPr>
          <p:cNvPr id="8" name="">
            <a:extLst xmlns:a="http://schemas.openxmlformats.org/drawingml/2006/main">
              <a:ext uri="{FF2B5EF4-FFF2-40B4-BE49-F238E27FC236}">
                <a16:creationId xmlns:a16="http://schemas.microsoft.com/office/drawing/2014/main" id="{270840FA-421E-4883-ACD7-21FF0D25C91F}"/>
              </a:ext>
            </a:extLst>
          </p:cNvPr>
          <p:cNvSpPr>
            <a:spLocks xmlns:a="http://schemas.openxmlformats.org/drawingml/2006/main" noGrp="1"/>
          </p:cNvSpPr>
          <p:nvPr/>
        </p:nvSpPr>
        <p:spPr>
          <a:xfrm xmlns:a="http://schemas.openxmlformats.org/drawingml/2006/main">
            <a:off x="2495550" y="2143125"/>
            <a:ext cx="314325" cy="333375"/>
          </a:xfrm>
          <a:prstGeom xmlns:a="http://schemas.openxmlformats.org/drawingml/2006/main" prst="rightArrow">
            <a:avLst/>
          </a:prstGeom>
          <a:solidFill xmlns:a="http://schemas.openxmlformats.org/drawingml/2006/main">
            <a:srgbClr val="A9BAC5"/>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7E5EBDA-A732-4142-A581-9984E60BA625}"/>
              </a:ext>
            </a:extLst>
          </p:cNvPr>
          <p:cNvSpPr>
            <a:spLocks xmlns:a="http://schemas.openxmlformats.org/drawingml/2006/main" noGrp="1"/>
          </p:cNvSpPr>
          <p:nvPr/>
        </p:nvSpPr>
        <p:spPr>
          <a:xfrm xmlns:a="http://schemas.openxmlformats.org/drawingml/2006/main">
            <a:off x="2905125" y="1581150"/>
            <a:ext cx="1857375" cy="1562100"/>
          </a:xfrm>
          <a:prstGeom xmlns:a="http://schemas.openxmlformats.org/drawingml/2006/main" prst="roundRect">
            <a:avLst>
              <a:gd name="adj" fmla="val 7317"/>
            </a:avLst>
          </a:prstGeom>
          <a:solidFill xmlns:a="http://schemas.openxmlformats.org/drawingml/2006/main">
            <a:srgbClr val="EAF3F8"/>
          </a:solidFill>
          <a:ln xmlns:a="http://schemas.openxmlformats.org/drawingml/2006/main" w="9525">
            <a:solidFill>
              <a:srgbClr val="AAC4D3"/>
            </a:solidFill>
          </a:ln>
        </p:spPr>
      </p:sp>
      <p:sp>
        <p:nvSpPr>
          <p:cNvPr id="10" name="">
            <a:extLst xmlns:a="http://schemas.openxmlformats.org/drawingml/2006/main">
              <a:ext uri="{FF2B5EF4-FFF2-40B4-BE49-F238E27FC236}">
                <a16:creationId xmlns:a16="http://schemas.microsoft.com/office/drawing/2014/main" id="{0C87BD54-F473-49A2-BBD1-77F95AE3716B}"/>
              </a:ext>
            </a:extLst>
          </p:cNvPr>
          <p:cNvSpPr>
            <a:spLocks xmlns:a="http://schemas.openxmlformats.org/drawingml/2006/main" noGrp="1"/>
          </p:cNvSpPr>
          <p:nvPr/>
        </p:nvSpPr>
        <p:spPr>
          <a:xfrm xmlns:a="http://schemas.openxmlformats.org/drawingml/2006/main">
            <a:off x="3038475" y="1695450"/>
            <a:ext cx="342900" cy="342900"/>
          </a:xfrm>
          <a:prstGeom xmlns:a="http://schemas.openxmlformats.org/drawingml/2006/main" prst="rect">
            <a:avLst/>
          </a:prstGeom>
          <a:solidFill xmlns:a="http://schemas.openxmlformats.org/drawingml/2006/main">
            <a:srgbClr val="1769AA"/>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FFFFFF"/>
                </a:solidFill>
                <a:latin typeface="Arial"/>
                <a:ea typeface="Arial"/>
                <a:cs typeface="Arial"/>
              </a:defRPr>
            </a:pPr>
            <a:r>
              <a:rPr sz="1350" b="1">
                <a:solidFill>
                  <a:srgbClr val="FFFF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6791E856-44E1-44FE-B2E2-6DDEAAE74984}"/>
              </a:ext>
            </a:extLst>
          </p:cNvPr>
          <p:cNvSpPr>
            <a:spLocks xmlns:a="http://schemas.openxmlformats.org/drawingml/2006/main" noGrp="1"/>
          </p:cNvSpPr>
          <p:nvPr/>
        </p:nvSpPr>
        <p:spPr>
          <a:xfrm xmlns:a="http://schemas.openxmlformats.org/drawingml/2006/main">
            <a:off x="3076575" y="207645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424"/>
          </a:bodyPr>
          <a:lstStyle xmlns:a="http://schemas.openxmlformats.org/drawingml/2006/main"/>
          <a:p xmlns:a="http://schemas.openxmlformats.org/drawingml/2006/main">
            <a:pPr algn="ctr">
              <a:defRPr sz="1650" b="1">
                <a:solidFill>
                  <a:srgbClr val="103A5C"/>
                </a:solidFill>
                <a:latin typeface="Arial"/>
                <a:ea typeface="Arial"/>
                <a:cs typeface="Arial"/>
              </a:defRPr>
            </a:pPr>
            <a:r>
              <a:rPr sz="1650" b="1">
                <a:solidFill>
                  <a:srgbClr val="103A5C"/>
                </a:solidFill>
                <a:latin typeface="Arial"/>
                <a:ea typeface="Arial"/>
                <a:cs typeface="Arial"/>
              </a:rPr>
              <a:t>BVP</a:t>
            </a:r>
          </a:p>
        </p:txBody>
      </p:sp>
      <p:sp>
        <p:nvSpPr>
          <p:cNvPr id="12" name="">
            <a:extLst xmlns:a="http://schemas.openxmlformats.org/drawingml/2006/main">
              <a:ext uri="{FF2B5EF4-FFF2-40B4-BE49-F238E27FC236}">
                <a16:creationId xmlns:a16="http://schemas.microsoft.com/office/drawing/2014/main" id="{5C63F0F8-E638-4E14-89FF-22466F4D50FF}"/>
              </a:ext>
            </a:extLst>
          </p:cNvPr>
          <p:cNvSpPr>
            <a:spLocks xmlns:a="http://schemas.openxmlformats.org/drawingml/2006/main" noGrp="1"/>
          </p:cNvSpPr>
          <p:nvPr/>
        </p:nvSpPr>
        <p:spPr>
          <a:xfrm xmlns:a="http://schemas.openxmlformats.org/drawingml/2006/main">
            <a:off x="3038475" y="2447925"/>
            <a:ext cx="1600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00" b="0">
                <a:solidFill>
                  <a:srgbClr val="17242E"/>
                </a:solidFill>
                <a:latin typeface="Arial"/>
                <a:ea typeface="Arial"/>
                <a:cs typeface="Arial"/>
              </a:defRPr>
            </a:pPr>
            <a:r>
              <a:rPr sz="1200" b="0">
                <a:solidFill>
                  <a:srgbClr val="17242E"/>
                </a:solidFill>
                <a:latin typeface="Arial"/>
                <a:ea typeface="Arial"/>
                <a:cs typeface="Arial"/>
              </a:rPr>
              <a:t>64→32 Hz</a:t>
            </a:r>
          </a:p>
          <a:p xmlns:a="http://schemas.openxmlformats.org/drawingml/2006/main">
            <a:pPr algn="ctr">
              <a:defRPr sz="1200" b="0">
                <a:solidFill>
                  <a:srgbClr val="17242E"/>
                </a:solidFill>
                <a:latin typeface="Arial"/>
                <a:ea typeface="Arial"/>
                <a:cs typeface="Arial"/>
              </a:defRPr>
            </a:pPr>
            <a:r>
              <a:rPr sz="1200" b="0">
                <a:solidFill>
                  <a:srgbClr val="17242E"/>
                </a:solidFill>
                <a:latin typeface="Arial"/>
                <a:ea typeface="Arial"/>
                <a:cs typeface="Arial"/>
              </a:rPr>
              <a:t>0,5–8 Hz</a:t>
            </a:r>
          </a:p>
        </p:txBody>
      </p:sp>
      <p:sp>
        <p:nvSpPr>
          <p:cNvPr id="13" name="">
            <a:extLst xmlns:a="http://schemas.openxmlformats.org/drawingml/2006/main">
              <a:ext uri="{FF2B5EF4-FFF2-40B4-BE49-F238E27FC236}">
                <a16:creationId xmlns:a16="http://schemas.microsoft.com/office/drawing/2014/main" id="{1F607613-7DDE-4B7E-9C41-DD301357B3DF}"/>
              </a:ext>
            </a:extLst>
          </p:cNvPr>
          <p:cNvSpPr>
            <a:spLocks xmlns:a="http://schemas.openxmlformats.org/drawingml/2006/main" noGrp="1"/>
          </p:cNvSpPr>
          <p:nvPr/>
        </p:nvSpPr>
        <p:spPr>
          <a:xfrm xmlns:a="http://schemas.openxmlformats.org/drawingml/2006/main">
            <a:off x="4791075" y="2143125"/>
            <a:ext cx="314325" cy="333375"/>
          </a:xfrm>
          <a:prstGeom xmlns:a="http://schemas.openxmlformats.org/drawingml/2006/main" prst="rightArrow">
            <a:avLst/>
          </a:prstGeom>
          <a:solidFill xmlns:a="http://schemas.openxmlformats.org/drawingml/2006/main">
            <a:srgbClr val="A9BAC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EF07911-BF72-459D-AF5B-B3BF5085F0B9}"/>
              </a:ext>
            </a:extLst>
          </p:cNvPr>
          <p:cNvSpPr>
            <a:spLocks xmlns:a="http://schemas.openxmlformats.org/drawingml/2006/main" noGrp="1"/>
          </p:cNvSpPr>
          <p:nvPr/>
        </p:nvSpPr>
        <p:spPr>
          <a:xfrm xmlns:a="http://schemas.openxmlformats.org/drawingml/2006/main">
            <a:off x="5200650" y="1581150"/>
            <a:ext cx="1857375" cy="1562100"/>
          </a:xfrm>
          <a:prstGeom xmlns:a="http://schemas.openxmlformats.org/drawingml/2006/main" prst="roundRect">
            <a:avLst>
              <a:gd name="adj" fmla="val 7317"/>
            </a:avLst>
          </a:prstGeom>
          <a:solidFill xmlns:a="http://schemas.openxmlformats.org/drawingml/2006/main">
            <a:srgbClr val="EAF3F8"/>
          </a:solidFill>
          <a:ln xmlns:a="http://schemas.openxmlformats.org/drawingml/2006/main" w="9525">
            <a:solidFill>
              <a:srgbClr val="AAC4D3"/>
            </a:solidFill>
          </a:ln>
        </p:spPr>
      </p:sp>
      <p:sp>
        <p:nvSpPr>
          <p:cNvPr id="15" name="">
            <a:extLst xmlns:a="http://schemas.openxmlformats.org/drawingml/2006/main">
              <a:ext uri="{FF2B5EF4-FFF2-40B4-BE49-F238E27FC236}">
                <a16:creationId xmlns:a16="http://schemas.microsoft.com/office/drawing/2014/main" id="{A8E82091-0774-47E8-A12D-11DE5AB52911}"/>
              </a:ext>
            </a:extLst>
          </p:cNvPr>
          <p:cNvSpPr>
            <a:spLocks xmlns:a="http://schemas.openxmlformats.org/drawingml/2006/main" noGrp="1"/>
          </p:cNvSpPr>
          <p:nvPr/>
        </p:nvSpPr>
        <p:spPr>
          <a:xfrm xmlns:a="http://schemas.openxmlformats.org/drawingml/2006/main">
            <a:off x="5334000" y="1695450"/>
            <a:ext cx="342900" cy="342900"/>
          </a:xfrm>
          <a:prstGeom xmlns:a="http://schemas.openxmlformats.org/drawingml/2006/main" prst="rect">
            <a:avLst/>
          </a:prstGeom>
          <a:solidFill xmlns:a="http://schemas.openxmlformats.org/drawingml/2006/main">
            <a:srgbClr val="1769AA"/>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FFFFFF"/>
                </a:solidFill>
                <a:latin typeface="Arial"/>
                <a:ea typeface="Arial"/>
                <a:cs typeface="Arial"/>
              </a:defRPr>
            </a:pPr>
            <a:r>
              <a:rPr sz="1350" b="1">
                <a:solidFill>
                  <a:srgbClr val="FFFFFF"/>
                </a:solidFill>
                <a:latin typeface="Arial"/>
                <a:ea typeface="Arial"/>
                <a:cs typeface="Arial"/>
              </a:rPr>
              <a:t>3</a:t>
            </a:r>
          </a:p>
        </p:txBody>
      </p:sp>
      <p:sp>
        <p:nvSpPr>
          <p:cNvPr id="16" name="">
            <a:extLst xmlns:a="http://schemas.openxmlformats.org/drawingml/2006/main">
              <a:ext uri="{FF2B5EF4-FFF2-40B4-BE49-F238E27FC236}">
                <a16:creationId xmlns:a16="http://schemas.microsoft.com/office/drawing/2014/main" id="{6BABA6F7-B1A5-4829-A49B-0911F14A5E1F}"/>
              </a:ext>
            </a:extLst>
          </p:cNvPr>
          <p:cNvSpPr>
            <a:spLocks xmlns:a="http://schemas.openxmlformats.org/drawingml/2006/main" noGrp="1"/>
          </p:cNvSpPr>
          <p:nvPr/>
        </p:nvSpPr>
        <p:spPr>
          <a:xfrm xmlns:a="http://schemas.openxmlformats.org/drawingml/2006/main">
            <a:off x="5372100" y="207645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424"/>
          </a:bodyPr>
          <a:lstStyle xmlns:a="http://schemas.openxmlformats.org/drawingml/2006/main"/>
          <a:p xmlns:a="http://schemas.openxmlformats.org/drawingml/2006/main">
            <a:pPr algn="ctr">
              <a:defRPr sz="1650" b="1">
                <a:solidFill>
                  <a:srgbClr val="103A5C"/>
                </a:solidFill>
                <a:latin typeface="Arial"/>
                <a:ea typeface="Arial"/>
                <a:cs typeface="Arial"/>
              </a:defRPr>
            </a:pPr>
            <a:r>
              <a:rPr sz="1650" b="1">
                <a:solidFill>
                  <a:srgbClr val="103A5C"/>
                </a:solidFill>
                <a:latin typeface="Arial"/>
                <a:ea typeface="Arial"/>
                <a:cs typeface="Arial"/>
              </a:rPr>
              <a:t>ECG</a:t>
            </a:r>
          </a:p>
        </p:txBody>
      </p:sp>
      <p:sp>
        <p:nvSpPr>
          <p:cNvPr id="17" name="">
            <a:extLst xmlns:a="http://schemas.openxmlformats.org/drawingml/2006/main">
              <a:ext uri="{FF2B5EF4-FFF2-40B4-BE49-F238E27FC236}">
                <a16:creationId xmlns:a16="http://schemas.microsoft.com/office/drawing/2014/main" id="{4CBED1D8-7327-491D-A480-739E79B21B10}"/>
              </a:ext>
            </a:extLst>
          </p:cNvPr>
          <p:cNvSpPr>
            <a:spLocks xmlns:a="http://schemas.openxmlformats.org/drawingml/2006/main" noGrp="1"/>
          </p:cNvSpPr>
          <p:nvPr/>
        </p:nvSpPr>
        <p:spPr>
          <a:xfrm xmlns:a="http://schemas.openxmlformats.org/drawingml/2006/main">
            <a:off x="5334000" y="2447925"/>
            <a:ext cx="1600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00" b="0">
                <a:solidFill>
                  <a:srgbClr val="17242E"/>
                </a:solidFill>
                <a:latin typeface="Arial"/>
                <a:ea typeface="Arial"/>
                <a:cs typeface="Arial"/>
              </a:defRPr>
            </a:pPr>
            <a:r>
              <a:rPr sz="1200" b="0">
                <a:solidFill>
                  <a:srgbClr val="17242E"/>
                </a:solidFill>
                <a:latin typeface="Arial"/>
                <a:ea typeface="Arial"/>
                <a:cs typeface="Arial"/>
              </a:rPr>
              <a:t>5–25 Hz</a:t>
            </a:r>
          </a:p>
          <a:p xmlns:a="http://schemas.openxmlformats.org/drawingml/2006/main">
            <a:pPr algn="ctr">
              <a:defRPr sz="1200" b="0">
                <a:solidFill>
                  <a:srgbClr val="17242E"/>
                </a:solidFill>
                <a:latin typeface="Arial"/>
                <a:ea typeface="Arial"/>
                <a:cs typeface="Arial"/>
              </a:defRPr>
            </a:pPr>
            <a:r>
              <a:rPr sz="1200" b="0">
                <a:solidFill>
                  <a:srgbClr val="17242E"/>
                </a:solidFill>
                <a:latin typeface="Arial"/>
                <a:ea typeface="Arial"/>
                <a:cs typeface="Arial"/>
              </a:rPr>
              <a:t>đỉnh R thích nghi</a:t>
            </a:r>
          </a:p>
        </p:txBody>
      </p:sp>
      <p:sp>
        <p:nvSpPr>
          <p:cNvPr id="18" name="">
            <a:extLst xmlns:a="http://schemas.openxmlformats.org/drawingml/2006/main">
              <a:ext uri="{FF2B5EF4-FFF2-40B4-BE49-F238E27FC236}">
                <a16:creationId xmlns:a16="http://schemas.microsoft.com/office/drawing/2014/main" id="{F9F08F5D-D3A0-47C9-B23B-DF01AB5B0035}"/>
              </a:ext>
            </a:extLst>
          </p:cNvPr>
          <p:cNvSpPr>
            <a:spLocks xmlns:a="http://schemas.openxmlformats.org/drawingml/2006/main" noGrp="1"/>
          </p:cNvSpPr>
          <p:nvPr/>
        </p:nvSpPr>
        <p:spPr>
          <a:xfrm xmlns:a="http://schemas.openxmlformats.org/drawingml/2006/main">
            <a:off x="7086600" y="2143125"/>
            <a:ext cx="314325" cy="333375"/>
          </a:xfrm>
          <a:prstGeom xmlns:a="http://schemas.openxmlformats.org/drawingml/2006/main" prst="rightArrow">
            <a:avLst/>
          </a:prstGeom>
          <a:solidFill xmlns:a="http://schemas.openxmlformats.org/drawingml/2006/main">
            <a:srgbClr val="A9BAC5"/>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3ED6AB5-B44D-424A-B595-FDA92C837B2A}"/>
              </a:ext>
            </a:extLst>
          </p:cNvPr>
          <p:cNvSpPr>
            <a:spLocks xmlns:a="http://schemas.openxmlformats.org/drawingml/2006/main" noGrp="1"/>
          </p:cNvSpPr>
          <p:nvPr/>
        </p:nvSpPr>
        <p:spPr>
          <a:xfrm xmlns:a="http://schemas.openxmlformats.org/drawingml/2006/main">
            <a:off x="7496175" y="1581150"/>
            <a:ext cx="1857375" cy="1562100"/>
          </a:xfrm>
          <a:prstGeom xmlns:a="http://schemas.openxmlformats.org/drawingml/2006/main" prst="roundRect">
            <a:avLst>
              <a:gd name="adj" fmla="val 7317"/>
            </a:avLst>
          </a:prstGeom>
          <a:solidFill xmlns:a="http://schemas.openxmlformats.org/drawingml/2006/main">
            <a:srgbClr val="EAF3F8"/>
          </a:solidFill>
          <a:ln xmlns:a="http://schemas.openxmlformats.org/drawingml/2006/main" w="9525">
            <a:solidFill>
              <a:srgbClr val="AAC4D3"/>
            </a:solidFill>
          </a:ln>
        </p:spPr>
      </p:sp>
      <p:sp>
        <p:nvSpPr>
          <p:cNvPr id="20" name="">
            <a:extLst xmlns:a="http://schemas.openxmlformats.org/drawingml/2006/main">
              <a:ext uri="{FF2B5EF4-FFF2-40B4-BE49-F238E27FC236}">
                <a16:creationId xmlns:a16="http://schemas.microsoft.com/office/drawing/2014/main" id="{7CB0635C-139D-4A59-9ECD-B6E6104409DF}"/>
              </a:ext>
            </a:extLst>
          </p:cNvPr>
          <p:cNvSpPr>
            <a:spLocks xmlns:a="http://schemas.openxmlformats.org/drawingml/2006/main" noGrp="1"/>
          </p:cNvSpPr>
          <p:nvPr/>
        </p:nvSpPr>
        <p:spPr>
          <a:xfrm xmlns:a="http://schemas.openxmlformats.org/drawingml/2006/main">
            <a:off x="7629525" y="1695450"/>
            <a:ext cx="342900" cy="342900"/>
          </a:xfrm>
          <a:prstGeom xmlns:a="http://schemas.openxmlformats.org/drawingml/2006/main" prst="rect">
            <a:avLst/>
          </a:prstGeom>
          <a:solidFill xmlns:a="http://schemas.openxmlformats.org/drawingml/2006/main">
            <a:srgbClr val="1769AA"/>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FFFFFF"/>
                </a:solidFill>
                <a:latin typeface="Arial"/>
                <a:ea typeface="Arial"/>
                <a:cs typeface="Arial"/>
              </a:defRPr>
            </a:pPr>
            <a:r>
              <a:rPr sz="1350" b="1">
                <a:solidFill>
                  <a:srgbClr val="FFFFFF"/>
                </a:solidFill>
                <a:latin typeface="Arial"/>
                <a:ea typeface="Arial"/>
                <a:cs typeface="Arial"/>
              </a:rPr>
              <a:t>4</a:t>
            </a:r>
          </a:p>
        </p:txBody>
      </p:sp>
      <p:sp>
        <p:nvSpPr>
          <p:cNvPr id="21" name="">
            <a:extLst xmlns:a="http://schemas.openxmlformats.org/drawingml/2006/main">
              <a:ext uri="{FF2B5EF4-FFF2-40B4-BE49-F238E27FC236}">
                <a16:creationId xmlns:a16="http://schemas.microsoft.com/office/drawing/2014/main" id="{5F96361B-9993-4B9C-B027-21BFCC7558CF}"/>
              </a:ext>
            </a:extLst>
          </p:cNvPr>
          <p:cNvSpPr>
            <a:spLocks xmlns:a="http://schemas.openxmlformats.org/drawingml/2006/main" noGrp="1"/>
          </p:cNvSpPr>
          <p:nvPr/>
        </p:nvSpPr>
        <p:spPr>
          <a:xfrm xmlns:a="http://schemas.openxmlformats.org/drawingml/2006/main">
            <a:off x="7667625" y="207645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424"/>
          </a:bodyPr>
          <a:lstStyle xmlns:a="http://schemas.openxmlformats.org/drawingml/2006/main"/>
          <a:p xmlns:a="http://schemas.openxmlformats.org/drawingml/2006/main">
            <a:pPr algn="ctr">
              <a:defRPr sz="1650" b="1">
                <a:solidFill>
                  <a:srgbClr val="103A5C"/>
                </a:solidFill>
                <a:latin typeface="Arial"/>
                <a:ea typeface="Arial"/>
                <a:cs typeface="Arial"/>
              </a:defRPr>
            </a:pPr>
            <a:r>
              <a:rPr sz="1650" b="1">
                <a:solidFill>
                  <a:srgbClr val="103A5C"/>
                </a:solidFill>
                <a:latin typeface="Arial"/>
                <a:ea typeface="Arial"/>
                <a:cs typeface="Arial"/>
              </a:rPr>
              <a:t>Cửa sổ</a:t>
            </a:r>
          </a:p>
        </p:txBody>
      </p:sp>
      <p:sp>
        <p:nvSpPr>
          <p:cNvPr id="22" name="">
            <a:extLst xmlns:a="http://schemas.openxmlformats.org/drawingml/2006/main">
              <a:ext uri="{FF2B5EF4-FFF2-40B4-BE49-F238E27FC236}">
                <a16:creationId xmlns:a16="http://schemas.microsoft.com/office/drawing/2014/main" id="{3964E977-104A-4301-816E-AD54FEF8EB77}"/>
              </a:ext>
            </a:extLst>
          </p:cNvPr>
          <p:cNvSpPr>
            <a:spLocks xmlns:a="http://schemas.openxmlformats.org/drawingml/2006/main" noGrp="1"/>
          </p:cNvSpPr>
          <p:nvPr/>
        </p:nvSpPr>
        <p:spPr>
          <a:xfrm xmlns:a="http://schemas.openxmlformats.org/drawingml/2006/main">
            <a:off x="7629525" y="2447925"/>
            <a:ext cx="1600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00" b="0">
                <a:solidFill>
                  <a:srgbClr val="17242E"/>
                </a:solidFill>
                <a:latin typeface="Arial"/>
                <a:ea typeface="Arial"/>
                <a:cs typeface="Arial"/>
              </a:defRPr>
            </a:pPr>
            <a:r>
              <a:rPr sz="1200" b="0">
                <a:solidFill>
                  <a:srgbClr val="17242E"/>
                </a:solidFill>
                <a:latin typeface="Arial"/>
                <a:ea typeface="Arial"/>
                <a:cs typeface="Arial"/>
              </a:rPr>
              <a:t>8 s • bước 2 s</a:t>
            </a:r>
          </a:p>
          <a:p xmlns:a="http://schemas.openxmlformats.org/drawingml/2006/main">
            <a:pPr algn="ctr">
              <a:defRPr sz="1200" b="0">
                <a:solidFill>
                  <a:srgbClr val="17242E"/>
                </a:solidFill>
                <a:latin typeface="Arial"/>
                <a:ea typeface="Arial"/>
                <a:cs typeface="Arial"/>
              </a:defRPr>
            </a:pPr>
            <a:r>
              <a:rPr sz="1200" b="0">
                <a:solidFill>
                  <a:srgbClr val="17242E"/>
                </a:solidFill>
                <a:latin typeface="Arial"/>
                <a:ea typeface="Arial"/>
                <a:cs typeface="Arial"/>
              </a:rPr>
              <a:t>purity ≥90%</a:t>
            </a:r>
          </a:p>
        </p:txBody>
      </p:sp>
      <p:sp>
        <p:nvSpPr>
          <p:cNvPr id="23" name="">
            <a:extLst xmlns:a="http://schemas.openxmlformats.org/drawingml/2006/main">
              <a:ext uri="{FF2B5EF4-FFF2-40B4-BE49-F238E27FC236}">
                <a16:creationId xmlns:a16="http://schemas.microsoft.com/office/drawing/2014/main" id="{0C499880-1767-485B-ABCC-A76410C920D9}"/>
              </a:ext>
            </a:extLst>
          </p:cNvPr>
          <p:cNvSpPr>
            <a:spLocks xmlns:a="http://schemas.openxmlformats.org/drawingml/2006/main" noGrp="1"/>
          </p:cNvSpPr>
          <p:nvPr/>
        </p:nvSpPr>
        <p:spPr>
          <a:xfrm xmlns:a="http://schemas.openxmlformats.org/drawingml/2006/main">
            <a:off x="9382125" y="2143125"/>
            <a:ext cx="314325" cy="333375"/>
          </a:xfrm>
          <a:prstGeom xmlns:a="http://schemas.openxmlformats.org/drawingml/2006/main" prst="rightArrow">
            <a:avLst/>
          </a:prstGeom>
          <a:solidFill xmlns:a="http://schemas.openxmlformats.org/drawingml/2006/main">
            <a:srgbClr val="A9BAC5"/>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25E30DBB-C640-4E2B-A249-31DB3E55F7B1}"/>
              </a:ext>
            </a:extLst>
          </p:cNvPr>
          <p:cNvSpPr>
            <a:spLocks xmlns:a="http://schemas.openxmlformats.org/drawingml/2006/main" noGrp="1"/>
          </p:cNvSpPr>
          <p:nvPr/>
        </p:nvSpPr>
        <p:spPr>
          <a:xfrm xmlns:a="http://schemas.openxmlformats.org/drawingml/2006/main">
            <a:off x="9791700" y="1581150"/>
            <a:ext cx="1857375" cy="1562100"/>
          </a:xfrm>
          <a:prstGeom xmlns:a="http://schemas.openxmlformats.org/drawingml/2006/main" prst="roundRect">
            <a:avLst>
              <a:gd name="adj" fmla="val 7317"/>
            </a:avLst>
          </a:prstGeom>
          <a:solidFill xmlns:a="http://schemas.openxmlformats.org/drawingml/2006/main">
            <a:srgbClr val="103A5C"/>
          </a:solidFill>
          <a:ln xmlns:a="http://schemas.openxmlformats.org/drawingml/2006/main" w="9525">
            <a:solidFill>
              <a:srgbClr val="103A5C"/>
            </a:solidFill>
          </a:ln>
        </p:spPr>
      </p:sp>
      <p:sp>
        <p:nvSpPr>
          <p:cNvPr id="25" name="">
            <a:extLst xmlns:a="http://schemas.openxmlformats.org/drawingml/2006/main">
              <a:ext uri="{FF2B5EF4-FFF2-40B4-BE49-F238E27FC236}">
                <a16:creationId xmlns:a16="http://schemas.microsoft.com/office/drawing/2014/main" id="{1287968D-C02D-4672-8563-BBBC8951EA11}"/>
              </a:ext>
            </a:extLst>
          </p:cNvPr>
          <p:cNvSpPr>
            <a:spLocks xmlns:a="http://schemas.openxmlformats.org/drawingml/2006/main" noGrp="1"/>
          </p:cNvSpPr>
          <p:nvPr/>
        </p:nvSpPr>
        <p:spPr>
          <a:xfrm xmlns:a="http://schemas.openxmlformats.org/drawingml/2006/main">
            <a:off x="9925050" y="1695450"/>
            <a:ext cx="342900" cy="342900"/>
          </a:xfrm>
          <a:prstGeom xmlns:a="http://schemas.openxmlformats.org/drawingml/2006/main" prst="rect">
            <a:avLst/>
          </a:prstGeom>
          <a:solidFill xmlns:a="http://schemas.openxmlformats.org/drawingml/2006/main">
            <a:srgbClr val="D32F2F"/>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FFFFFF"/>
                </a:solidFill>
                <a:latin typeface="Arial"/>
                <a:ea typeface="Arial"/>
                <a:cs typeface="Arial"/>
              </a:defRPr>
            </a:pPr>
            <a:r>
              <a:rPr sz="1350" b="1">
                <a:solidFill>
                  <a:srgbClr val="FFFFFF"/>
                </a:solidFill>
                <a:latin typeface="Arial"/>
                <a:ea typeface="Arial"/>
                <a:cs typeface="Arial"/>
              </a:rPr>
              <a:t>5</a:t>
            </a:r>
          </a:p>
        </p:txBody>
      </p:sp>
      <p:sp>
        <p:nvSpPr>
          <p:cNvPr id="26" name="">
            <a:extLst xmlns:a="http://schemas.openxmlformats.org/drawingml/2006/main">
              <a:ext uri="{FF2B5EF4-FFF2-40B4-BE49-F238E27FC236}">
                <a16:creationId xmlns:a16="http://schemas.microsoft.com/office/drawing/2014/main" id="{2DA57440-F305-421A-ADAB-080C8DB961D4}"/>
              </a:ext>
            </a:extLst>
          </p:cNvPr>
          <p:cNvSpPr>
            <a:spLocks xmlns:a="http://schemas.openxmlformats.org/drawingml/2006/main" noGrp="1"/>
          </p:cNvSpPr>
          <p:nvPr/>
        </p:nvSpPr>
        <p:spPr>
          <a:xfrm xmlns:a="http://schemas.openxmlformats.org/drawingml/2006/main">
            <a:off x="9963150" y="207645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424"/>
          </a:bodyPr>
          <a:lstStyle xmlns:a="http://schemas.openxmlformats.org/drawingml/2006/main"/>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Artifact</a:t>
            </a:r>
          </a:p>
        </p:txBody>
      </p:sp>
      <p:sp>
        <p:nvSpPr>
          <p:cNvPr id="27" name="">
            <a:extLst xmlns:a="http://schemas.openxmlformats.org/drawingml/2006/main">
              <a:ext uri="{FF2B5EF4-FFF2-40B4-BE49-F238E27FC236}">
                <a16:creationId xmlns:a16="http://schemas.microsoft.com/office/drawing/2014/main" id="{53AB58AF-4161-436C-B4E6-1EE676142165}"/>
              </a:ext>
            </a:extLst>
          </p:cNvPr>
          <p:cNvSpPr>
            <a:spLocks xmlns:a="http://schemas.openxmlformats.org/drawingml/2006/main" noGrp="1"/>
          </p:cNvSpPr>
          <p:nvPr/>
        </p:nvSpPr>
        <p:spPr>
          <a:xfrm xmlns:a="http://schemas.openxmlformats.org/drawingml/2006/main">
            <a:off x="9925050" y="2447925"/>
            <a:ext cx="1600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00" b="0">
                <a:solidFill>
                  <a:srgbClr val="DDEBF2"/>
                </a:solidFill>
                <a:latin typeface="Arial"/>
                <a:ea typeface="Arial"/>
                <a:cs typeface="Arial"/>
              </a:defRPr>
            </a:pPr>
            <a:r>
              <a:rPr sz="1200" b="0">
                <a:solidFill>
                  <a:srgbClr val="DDEBF2"/>
                </a:solidFill>
                <a:latin typeface="Arial"/>
                <a:ea typeface="Arial"/>
                <a:cs typeface="Arial"/>
              </a:rPr>
              <a:t>NPZ + CSV</a:t>
            </a:r>
          </a:p>
          <a:p xmlns:a="http://schemas.openxmlformats.org/drawingml/2006/main">
            <a:pPr algn="ctr">
              <a:defRPr sz="1200" b="0">
                <a:solidFill>
                  <a:srgbClr val="DDEBF2"/>
                </a:solidFill>
                <a:latin typeface="Arial"/>
                <a:ea typeface="Arial"/>
                <a:cs typeface="Arial"/>
              </a:defRPr>
            </a:pPr>
            <a:r>
              <a:rPr sz="1200" b="0">
                <a:solidFill>
                  <a:srgbClr val="DDEBF2"/>
                </a:solidFill>
                <a:latin typeface="Arial"/>
                <a:ea typeface="Arial"/>
                <a:cs typeface="Arial"/>
              </a:rPr>
              <a:t>manifest + audit</a:t>
            </a:r>
          </a:p>
        </p:txBody>
      </p:sp>
      <p:sp>
        <p:nvSpPr>
          <p:cNvPr id="28" name="">
            <a:extLst xmlns:a="http://schemas.openxmlformats.org/drawingml/2006/main">
              <a:ext uri="{FF2B5EF4-FFF2-40B4-BE49-F238E27FC236}">
                <a16:creationId xmlns:a16="http://schemas.microsoft.com/office/drawing/2014/main" id="{F7A4AE6B-2C78-4EE5-9BE1-070ADD2B4870}"/>
              </a:ext>
            </a:extLst>
          </p:cNvPr>
          <p:cNvSpPr>
            <a:spLocks xmlns:a="http://schemas.openxmlformats.org/drawingml/2006/main" noGrp="1"/>
          </p:cNvSpPr>
          <p:nvPr/>
        </p:nvSpPr>
        <p:spPr>
          <a:xfrm xmlns:a="http://schemas.openxmlformats.org/drawingml/2006/main">
            <a:off x="742950" y="3714750"/>
            <a:ext cx="2333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2625" b="1">
                <a:solidFill>
                  <a:srgbClr val="103A5C"/>
                </a:solidFill>
                <a:latin typeface="Arial"/>
                <a:ea typeface="Arial"/>
                <a:cs typeface="Arial"/>
              </a:defRPr>
            </a:pPr>
            <a:r>
              <a:rPr sz="2625" b="1">
                <a:solidFill>
                  <a:srgbClr val="103A5C"/>
                </a:solidFill>
                <a:latin typeface="Arial"/>
                <a:ea typeface="Arial"/>
                <a:cs typeface="Arial"/>
              </a:rPr>
              <a:t>43.385</a:t>
            </a:r>
          </a:p>
        </p:txBody>
      </p:sp>
      <p:sp>
        <p:nvSpPr>
          <p:cNvPr id="29" name="">
            <a:extLst xmlns:a="http://schemas.openxmlformats.org/drawingml/2006/main">
              <a:ext uri="{FF2B5EF4-FFF2-40B4-BE49-F238E27FC236}">
                <a16:creationId xmlns:a16="http://schemas.microsoft.com/office/drawing/2014/main" id="{F26D5A39-3755-4A37-B00E-482DC4AD5FBF}"/>
              </a:ext>
            </a:extLst>
          </p:cNvPr>
          <p:cNvSpPr>
            <a:spLocks xmlns:a="http://schemas.openxmlformats.org/drawingml/2006/main" noGrp="1"/>
          </p:cNvSpPr>
          <p:nvPr/>
        </p:nvSpPr>
        <p:spPr>
          <a:xfrm xmlns:a="http://schemas.openxmlformats.org/drawingml/2006/main">
            <a:off x="742950" y="4286250"/>
            <a:ext cx="2333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125" b="0">
                <a:solidFill>
                  <a:srgbClr val="5F6B73"/>
                </a:solidFill>
                <a:latin typeface="Arial"/>
                <a:ea typeface="Arial"/>
                <a:cs typeface="Arial"/>
              </a:defRPr>
            </a:pPr>
            <a:r>
              <a:rPr sz="1125" b="0">
                <a:solidFill>
                  <a:srgbClr val="5F6B73"/>
                </a:solidFill>
                <a:latin typeface="Arial"/>
                <a:ea typeface="Arial"/>
                <a:cs typeface="Arial"/>
              </a:rPr>
              <a:t>cửa sổ trước QC</a:t>
            </a:r>
          </a:p>
        </p:txBody>
      </p:sp>
      <p:sp>
        <p:nvSpPr>
          <p:cNvPr id="30" name="">
            <a:extLst xmlns:a="http://schemas.openxmlformats.org/drawingml/2006/main">
              <a:ext uri="{FF2B5EF4-FFF2-40B4-BE49-F238E27FC236}">
                <a16:creationId xmlns:a16="http://schemas.microsoft.com/office/drawing/2014/main" id="{23186C1A-029F-4DFA-BBEC-3CB8A517F782}"/>
              </a:ext>
            </a:extLst>
          </p:cNvPr>
          <p:cNvSpPr>
            <a:spLocks xmlns:a="http://schemas.openxmlformats.org/drawingml/2006/main" noGrp="1"/>
          </p:cNvSpPr>
          <p:nvPr/>
        </p:nvSpPr>
        <p:spPr>
          <a:xfrm xmlns:a="http://schemas.openxmlformats.org/drawingml/2006/main">
            <a:off x="3457575" y="3714750"/>
            <a:ext cx="2333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2625" b="1">
                <a:solidFill>
                  <a:srgbClr val="59A14F"/>
                </a:solidFill>
                <a:latin typeface="Arial"/>
                <a:ea typeface="Arial"/>
                <a:cs typeface="Arial"/>
              </a:defRPr>
            </a:pPr>
            <a:r>
              <a:rPr sz="2625" b="1">
                <a:solidFill>
                  <a:srgbClr val="59A14F"/>
                </a:solidFill>
                <a:latin typeface="Arial"/>
                <a:ea typeface="Arial"/>
                <a:cs typeface="Arial"/>
              </a:rPr>
              <a:t>16.422</a:t>
            </a:r>
          </a:p>
        </p:txBody>
      </p:sp>
      <p:sp>
        <p:nvSpPr>
          <p:cNvPr id="31" name="">
            <a:extLst xmlns:a="http://schemas.openxmlformats.org/drawingml/2006/main">
              <a:ext uri="{FF2B5EF4-FFF2-40B4-BE49-F238E27FC236}">
                <a16:creationId xmlns:a16="http://schemas.microsoft.com/office/drawing/2014/main" id="{9313D2AF-89E6-4180-9E5F-2C63FAF01886}"/>
              </a:ext>
            </a:extLst>
          </p:cNvPr>
          <p:cNvSpPr>
            <a:spLocks xmlns:a="http://schemas.openxmlformats.org/drawingml/2006/main" noGrp="1"/>
          </p:cNvSpPr>
          <p:nvPr/>
        </p:nvSpPr>
        <p:spPr>
          <a:xfrm xmlns:a="http://schemas.openxmlformats.org/drawingml/2006/main">
            <a:off x="3457575" y="4286250"/>
            <a:ext cx="2333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125" b="0">
                <a:solidFill>
                  <a:srgbClr val="5F6B73"/>
                </a:solidFill>
                <a:latin typeface="Arial"/>
                <a:ea typeface="Arial"/>
                <a:cs typeface="Arial"/>
              </a:defRPr>
            </a:pPr>
            <a:r>
              <a:rPr sz="1125" b="0">
                <a:solidFill>
                  <a:srgbClr val="5F6B73"/>
                </a:solidFill>
                <a:latin typeface="Arial"/>
                <a:ea typeface="Arial"/>
                <a:cs typeface="Arial"/>
              </a:rPr>
              <a:t>cửa sổ giữ lại</a:t>
            </a:r>
          </a:p>
        </p:txBody>
      </p:sp>
      <p:sp>
        <p:nvSpPr>
          <p:cNvPr id="32" name="">
            <a:extLst xmlns:a="http://schemas.openxmlformats.org/drawingml/2006/main">
              <a:ext uri="{FF2B5EF4-FFF2-40B4-BE49-F238E27FC236}">
                <a16:creationId xmlns:a16="http://schemas.microsoft.com/office/drawing/2014/main" id="{24FEAEA7-6961-461D-96E5-85E881F7353F}"/>
              </a:ext>
            </a:extLst>
          </p:cNvPr>
          <p:cNvSpPr>
            <a:spLocks xmlns:a="http://schemas.openxmlformats.org/drawingml/2006/main" noGrp="1"/>
          </p:cNvSpPr>
          <p:nvPr/>
        </p:nvSpPr>
        <p:spPr>
          <a:xfrm xmlns:a="http://schemas.openxmlformats.org/drawingml/2006/main">
            <a:off x="6172200" y="3714750"/>
            <a:ext cx="2333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2625" b="1">
                <a:solidFill>
                  <a:srgbClr val="103A5C"/>
                </a:solidFill>
                <a:latin typeface="Arial"/>
                <a:ea typeface="Arial"/>
                <a:cs typeface="Arial"/>
              </a:defRPr>
            </a:pPr>
            <a:r>
              <a:rPr sz="2625" b="1">
                <a:solidFill>
                  <a:srgbClr val="103A5C"/>
                </a:solidFill>
                <a:latin typeface="Arial"/>
                <a:ea typeface="Arial"/>
                <a:cs typeface="Arial"/>
              </a:rPr>
              <a:t>225</a:t>
            </a:r>
          </a:p>
        </p:txBody>
      </p:sp>
      <p:sp>
        <p:nvSpPr>
          <p:cNvPr id="33" name="">
            <a:extLst xmlns:a="http://schemas.openxmlformats.org/drawingml/2006/main">
              <a:ext uri="{FF2B5EF4-FFF2-40B4-BE49-F238E27FC236}">
                <a16:creationId xmlns:a16="http://schemas.microsoft.com/office/drawing/2014/main" id="{14306A9C-54B3-49B6-9D00-C429870DC00D}"/>
              </a:ext>
            </a:extLst>
          </p:cNvPr>
          <p:cNvSpPr>
            <a:spLocks xmlns:a="http://schemas.openxmlformats.org/drawingml/2006/main" noGrp="1"/>
          </p:cNvSpPr>
          <p:nvPr/>
        </p:nvSpPr>
        <p:spPr>
          <a:xfrm xmlns:a="http://schemas.openxmlformats.org/drawingml/2006/main">
            <a:off x="6172200" y="4286250"/>
            <a:ext cx="2333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125" b="0">
                <a:solidFill>
                  <a:srgbClr val="5F6B73"/>
                </a:solidFill>
                <a:latin typeface="Arial"/>
                <a:ea typeface="Arial"/>
                <a:cs typeface="Arial"/>
              </a:defRPr>
            </a:pPr>
            <a:r>
              <a:rPr sz="1125" b="0">
                <a:solidFill>
                  <a:srgbClr val="5F6B73"/>
                </a:solidFill>
                <a:latin typeface="Arial"/>
                <a:ea typeface="Arial"/>
                <a:cs typeface="Arial"/>
              </a:rPr>
              <a:t>cửa sổ xem QC</a:t>
            </a:r>
          </a:p>
        </p:txBody>
      </p:sp>
      <p:sp>
        <p:nvSpPr>
          <p:cNvPr id="34" name="">
            <a:extLst xmlns:a="http://schemas.openxmlformats.org/drawingml/2006/main">
              <a:ext uri="{FF2B5EF4-FFF2-40B4-BE49-F238E27FC236}">
                <a16:creationId xmlns:a16="http://schemas.microsoft.com/office/drawing/2014/main" id="{DB3A971C-0782-4F0B-A9C8-76F145BF947D}"/>
              </a:ext>
            </a:extLst>
          </p:cNvPr>
          <p:cNvSpPr>
            <a:spLocks xmlns:a="http://schemas.openxmlformats.org/drawingml/2006/main" noGrp="1"/>
          </p:cNvSpPr>
          <p:nvPr/>
        </p:nvSpPr>
        <p:spPr>
          <a:xfrm xmlns:a="http://schemas.openxmlformats.org/drawingml/2006/main">
            <a:off x="8886825" y="3714750"/>
            <a:ext cx="2333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2625" b="1">
                <a:solidFill>
                  <a:srgbClr val="103A5C"/>
                </a:solidFill>
                <a:latin typeface="Arial"/>
                <a:ea typeface="Arial"/>
                <a:cs typeface="Arial"/>
              </a:defRPr>
            </a:pPr>
            <a:r>
              <a:rPr sz="2625" b="1">
                <a:solidFill>
                  <a:srgbClr val="103A5C"/>
                </a:solidFill>
                <a:latin typeface="Arial"/>
                <a:ea typeface="Arial"/>
                <a:cs typeface="Arial"/>
              </a:rPr>
              <a:t>17</a:t>
            </a:r>
          </a:p>
        </p:txBody>
      </p:sp>
      <p:sp>
        <p:nvSpPr>
          <p:cNvPr id="35" name="">
            <a:extLst xmlns:a="http://schemas.openxmlformats.org/drawingml/2006/main">
              <a:ext uri="{FF2B5EF4-FFF2-40B4-BE49-F238E27FC236}">
                <a16:creationId xmlns:a16="http://schemas.microsoft.com/office/drawing/2014/main" id="{39F7A257-FE12-4BB2-9F20-A592D8B2F4D5}"/>
              </a:ext>
            </a:extLst>
          </p:cNvPr>
          <p:cNvSpPr>
            <a:spLocks xmlns:a="http://schemas.openxmlformats.org/drawingml/2006/main" noGrp="1"/>
          </p:cNvSpPr>
          <p:nvPr/>
        </p:nvSpPr>
        <p:spPr>
          <a:xfrm xmlns:a="http://schemas.openxmlformats.org/drawingml/2006/main">
            <a:off x="8886825" y="4286250"/>
            <a:ext cx="2333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125" b="0">
                <a:solidFill>
                  <a:srgbClr val="5F6B73"/>
                </a:solidFill>
                <a:latin typeface="Arial"/>
                <a:ea typeface="Arial"/>
                <a:cs typeface="Arial"/>
              </a:defRPr>
            </a:pPr>
            <a:r>
              <a:rPr sz="1125" b="0">
                <a:solidFill>
                  <a:srgbClr val="5F6B73"/>
                </a:solidFill>
                <a:latin typeface="Arial"/>
                <a:ea typeface="Arial"/>
                <a:cs typeface="Arial"/>
              </a:rPr>
              <a:t>cửa sổ gắn cờ đã vẽ</a:t>
            </a:r>
          </a:p>
        </p:txBody>
      </p:sp>
      <p:sp>
        <p:nvSpPr>
          <p:cNvPr id="36" name="">
            <a:extLst xmlns:a="http://schemas.openxmlformats.org/drawingml/2006/main">
              <a:ext uri="{FF2B5EF4-FFF2-40B4-BE49-F238E27FC236}">
                <a16:creationId xmlns:a16="http://schemas.microsoft.com/office/drawing/2014/main" id="{5D7D2EEF-E1E0-4E5F-BEC7-8F6E7C0044F0}"/>
              </a:ext>
            </a:extLst>
          </p:cNvPr>
          <p:cNvSpPr>
            <a:spLocks xmlns:a="http://schemas.openxmlformats.org/drawingml/2006/main" noGrp="1"/>
          </p:cNvSpPr>
          <p:nvPr/>
        </p:nvSpPr>
        <p:spPr>
          <a:xfrm xmlns:a="http://schemas.openxmlformats.org/drawingml/2006/main">
            <a:off x="876300" y="50482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75" b="1">
                <a:solidFill>
                  <a:srgbClr val="D32F2F"/>
                </a:solidFill>
                <a:latin typeface="Arial"/>
                <a:ea typeface="Arial"/>
                <a:cs typeface="Arial"/>
              </a:defRPr>
            </a:pPr>
            <a:r>
              <a:rPr sz="1575" b="1">
                <a:solidFill>
                  <a:srgbClr val="D32F2F"/>
                </a:solidFill>
                <a:latin typeface="Arial"/>
                <a:ea typeface="Arial"/>
                <a:cs typeface="Arial"/>
              </a:rPr>
              <a:t>QC scope ≠ nhiễu: 26.812 cửa sổ ngoài điều kiện nghiên cứu được tách riêng.</a:t>
            </a:r>
          </a:p>
        </p:txBody>
      </p:sp>
      <p:sp>
        <p:nvSpPr>
          <p:cNvPr id="37" name="">
            <a:extLst xmlns:a="http://schemas.openxmlformats.org/drawingml/2006/main">
              <a:ext uri="{FF2B5EF4-FFF2-40B4-BE49-F238E27FC236}">
                <a16:creationId xmlns:a16="http://schemas.microsoft.com/office/drawing/2014/main" id="{31406D97-2579-48FC-AF0B-60852D1BDCDD}"/>
              </a:ext>
            </a:extLst>
          </p:cNvPr>
          <p:cNvSpPr>
            <a:spLocks xmlns:a="http://schemas.openxmlformats.org/drawingml/2006/main" noGrp="1"/>
          </p:cNvSpPr>
          <p:nvPr/>
        </p:nvSpPr>
        <p:spPr>
          <a:xfrm xmlns:a="http://schemas.openxmlformats.org/drawingml/2006/main">
            <a:off x="876300" y="5505450"/>
            <a:ext cx="9906000" cy="342900"/>
          </a:xfrm>
          <a:prstGeom xmlns:a="http://schemas.openxmlformats.org/drawingml/2006/main" prst="rect">
            <a:avLst/>
          </a:prstGeom>
          <a:solidFill xmlns:a="http://schemas.openxmlformats.org/drawingml/2006/main">
            <a:srgbClr val="F6F8FA"/>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0">
                <a:solidFill>
                  <a:srgbClr val="17242E"/>
                </a:solidFill>
                <a:latin typeface="Arial"/>
                <a:ea typeface="Arial"/>
                <a:cs typeface="Arial"/>
              </a:defRPr>
            </a:pPr>
            <a:r>
              <a:rPr sz="1350" b="0">
                <a:solidFill>
                  <a:srgbClr val="17242E"/>
                </a:solidFill>
                <a:latin typeface="Arial"/>
                <a:ea typeface="Arial"/>
                <a:cs typeface="Arial"/>
              </a:rPr>
              <a:t>Detector ECG là thuật toán thích nghi theo cực tính; không gọi là Pan–Tompkins.</a:t>
            </a:r>
          </a:p>
        </p:txBody>
      </p:sp>
      <p:sp>
        <p:nvSpPr>
          <p:cNvPr id="38" name="">
            <a:extLst xmlns:a="http://schemas.openxmlformats.org/drawingml/2006/main">
              <a:ext uri="{FF2B5EF4-FFF2-40B4-BE49-F238E27FC236}">
                <a16:creationId xmlns:a16="http://schemas.microsoft.com/office/drawing/2014/main" id="{6F57B9D9-CF00-42E7-B7B8-2DB688FC85DC}"/>
              </a:ext>
            </a:extLst>
          </p:cNvPr>
          <p:cNvSpPr>
            <a:spLocks xmlns:a="http://schemas.openxmlformats.org/drawingml/2006/main" noGrp="1"/>
          </p:cNvSpPr>
          <p:nvPr/>
        </p:nvSpPr>
        <p:spPr>
          <a:xfrm xmlns:a="http://schemas.openxmlformats.org/drawingml/2006/main">
            <a:off x="685800" y="6467475"/>
            <a:ext cx="10820400" cy="9525"/>
          </a:xfrm>
          <a:prstGeom xmlns:a="http://schemas.openxmlformats.org/drawingml/2006/main" prst="line">
            <a:avLst/>
          </a:prstGeom>
          <a:noFill xmlns:a="http://schemas.openxmlformats.org/drawingml/2006/main"/>
          <a:ln xmlns:a="http://schemas.openxmlformats.org/drawingml/2006/main" w="9525">
            <a:solidFill>
              <a:srgbClr val="C9D3DB"/>
            </a:solidFill>
          </a:ln>
        </p:spPr>
      </p:sp>
      <p:sp>
        <p:nvSpPr>
          <p:cNvPr id="39" name="">
            <a:extLst xmlns:a="http://schemas.openxmlformats.org/drawingml/2006/main">
              <a:ext uri="{FF2B5EF4-FFF2-40B4-BE49-F238E27FC236}">
                <a16:creationId xmlns:a16="http://schemas.microsoft.com/office/drawing/2014/main" id="{2FA3FBF0-7C57-4EFB-9719-7BFA556406DD}"/>
              </a:ext>
            </a:extLst>
          </p:cNvPr>
          <p:cNvSpPr>
            <a:spLocks xmlns:a="http://schemas.openxmlformats.org/drawingml/2006/main" noGrp="1"/>
          </p:cNvSpPr>
          <p:nvPr/>
        </p:nvSpPr>
        <p:spPr>
          <a:xfrm xmlns:a="http://schemas.openxmlformats.org/drawingml/2006/main">
            <a:off x="685800" y="6505575"/>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l">
              <a:defRPr sz="825" b="0">
                <a:solidFill>
                  <a:srgbClr val="5F6B73"/>
                </a:solidFill>
                <a:latin typeface="Arial"/>
                <a:ea typeface="Arial"/>
                <a:cs typeface="Arial"/>
              </a:defRPr>
            </a:pPr>
            <a:r>
              <a:rPr sz="825" b="0">
                <a:solidFill>
                  <a:srgbClr val="5F6B73"/>
                </a:solidFill>
                <a:latin typeface="Arial"/>
                <a:ea typeface="Arial"/>
                <a:cs typeface="Arial"/>
              </a:rPr>
              <a:t>Đ18 • Trần Tiến Thịnh • 22110236</a:t>
            </a:r>
          </a:p>
        </p:txBody>
      </p:sp>
      <p:sp>
        <p:nvSpPr>
          <p:cNvPr id="40" name="">
            <a:extLst xmlns:a="http://schemas.openxmlformats.org/drawingml/2006/main">
              <a:ext uri="{FF2B5EF4-FFF2-40B4-BE49-F238E27FC236}">
                <a16:creationId xmlns:a16="http://schemas.microsoft.com/office/drawing/2014/main" id="{2CE7B3BF-FA1C-43C4-AE2C-E50059771275}"/>
              </a:ext>
            </a:extLst>
          </p:cNvPr>
          <p:cNvSpPr>
            <a:spLocks xmlns:a="http://schemas.openxmlformats.org/drawingml/2006/main" noGrp="1"/>
          </p:cNvSpPr>
          <p:nvPr/>
        </p:nvSpPr>
        <p:spPr>
          <a:xfrm xmlns:a="http://schemas.openxmlformats.org/drawingml/2006/main">
            <a:off x="10763250" y="6505575"/>
            <a:ext cx="742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r">
              <a:defRPr sz="825" b="0">
                <a:solidFill>
                  <a:srgbClr val="5F6B73"/>
                </a:solidFill>
                <a:latin typeface="Arial"/>
                <a:ea typeface="Arial"/>
                <a:cs typeface="Arial"/>
              </a:defRPr>
            </a:pPr>
            <a:r>
              <a:rPr sz="825" b="0">
                <a:solidFill>
                  <a:srgbClr val="5F6B73"/>
                </a:solidFill>
                <a:latin typeface="Arial"/>
                <a:ea typeface="Arial"/>
                <a:cs typeface="Arial"/>
              </a:rPr>
              <a:t>03</a:t>
            </a:r>
          </a:p>
        </p:txBody>
      </p:sp>
    </p:spTree>
    <p:extLst>
      <p:ext uri="{BB962C8B-B14F-4D97-AF65-F5344CB8AC3E}">
        <p14:creationId xmlns:p14="http://schemas.microsoft.com/office/powerpoint/2010/main" val="209127005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24EB4565-FAC6-4686-ACDB-B5ED7FADC1D1}"/>
              </a:ext>
            </a:extLst>
          </p:cNvPr>
          <p:cNvSpPr>
            <a:spLocks xmlns:a="http://schemas.openxmlformats.org/drawingml/2006/main" noGrp="1"/>
          </p:cNvSpPr>
          <p:nvPr/>
        </p:nvSpPr>
        <p:spPr>
          <a:xfrm xmlns:a="http://schemas.openxmlformats.org/drawingml/2006/main">
            <a:off x="685800" y="3619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550" b="1">
                <a:solidFill>
                  <a:srgbClr val="103A5C"/>
                </a:solidFill>
                <a:latin typeface="Arial"/>
                <a:ea typeface="Arial"/>
                <a:cs typeface="Arial"/>
              </a:defRPr>
            </a:pPr>
            <a:r>
              <a:rPr sz="2550" b="1">
                <a:solidFill>
                  <a:srgbClr val="103A5C"/>
                </a:solidFill>
                <a:latin typeface="Arial"/>
                <a:ea typeface="Arial"/>
                <a:cs typeface="Arial"/>
              </a:rPr>
              <a:t>CNN 1-D gọn nhẹ</a:t>
            </a:r>
          </a:p>
        </p:txBody>
      </p:sp>
      <p:sp>
        <p:nvSpPr>
          <p:cNvPr id="2" name="">
            <a:extLst xmlns:a="http://schemas.openxmlformats.org/drawingml/2006/main">
              <a:ext uri="{FF2B5EF4-FFF2-40B4-BE49-F238E27FC236}">
                <a16:creationId xmlns:a16="http://schemas.microsoft.com/office/drawing/2014/main" id="{2CC651CB-AF86-4021-B00D-CE64C1366A62}"/>
              </a:ext>
            </a:extLst>
          </p:cNvPr>
          <p:cNvSpPr>
            <a:spLocks xmlns:a="http://schemas.openxmlformats.org/drawingml/2006/main" noGrp="1"/>
          </p:cNvSpPr>
          <p:nvPr/>
        </p:nvSpPr>
        <p:spPr>
          <a:xfrm xmlns:a="http://schemas.openxmlformats.org/drawingml/2006/main">
            <a:off x="685800" y="1000125"/>
            <a:ext cx="819150" cy="47625"/>
          </a:xfrm>
          <a:prstGeom xmlns:a="http://schemas.openxmlformats.org/drawingml/2006/main" prst="rect">
            <a:avLst/>
          </a:prstGeom>
          <a:solidFill xmlns:a="http://schemas.openxmlformats.org/drawingml/2006/main">
            <a:srgbClr val="D32F2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EC74F21-F065-4A2A-9DBD-B678CF7DED95}"/>
              </a:ext>
            </a:extLst>
          </p:cNvPr>
          <p:cNvSpPr>
            <a:spLocks xmlns:a="http://schemas.openxmlformats.org/drawingml/2006/main" noGrp="1"/>
          </p:cNvSpPr>
          <p:nvPr/>
        </p:nvSpPr>
        <p:spPr>
          <a:xfrm xmlns:a="http://schemas.openxmlformats.org/drawingml/2006/main">
            <a:off x="1666875" y="8667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5F6B73"/>
                </a:solidFill>
                <a:latin typeface="Arial"/>
                <a:ea typeface="Arial"/>
                <a:cs typeface="Arial"/>
              </a:defRPr>
            </a:pPr>
            <a:r>
              <a:rPr sz="1125" b="0">
                <a:solidFill>
                  <a:srgbClr val="5F6B73"/>
                </a:solidFill>
                <a:latin typeface="Arial"/>
                <a:ea typeface="Arial"/>
                <a:cs typeface="Arial"/>
              </a:rPr>
              <a:t>Ba khối tích chập + global pooling + head hồi quy</a:t>
            </a:r>
          </a:p>
        </p:txBody>
      </p:sp>
      <p:sp>
        <p:nvSpPr>
          <p:cNvPr id="4" name="">
            <a:extLst xmlns:a="http://schemas.openxmlformats.org/drawingml/2006/main">
              <a:ext uri="{FF2B5EF4-FFF2-40B4-BE49-F238E27FC236}">
                <a16:creationId xmlns:a16="http://schemas.microsoft.com/office/drawing/2014/main" id="{4D1FF7B8-490A-4A82-ACCE-69227CA3436A}"/>
              </a:ext>
            </a:extLst>
          </p:cNvPr>
          <p:cNvSpPr>
            <a:spLocks xmlns:a="http://schemas.openxmlformats.org/drawingml/2006/main" noGrp="1"/>
          </p:cNvSpPr>
          <p:nvPr/>
        </p:nvSpPr>
        <p:spPr>
          <a:xfrm xmlns:a="http://schemas.openxmlformats.org/drawingml/2006/main">
            <a:off x="571500" y="2133600"/>
            <a:ext cx="1238250" cy="1295400"/>
          </a:xfrm>
          <a:prstGeom xmlns:a="http://schemas.openxmlformats.org/drawingml/2006/main" prst="roundRect">
            <a:avLst>
              <a:gd name="adj" fmla="val 9231"/>
            </a:avLst>
          </a:prstGeom>
          <a:solidFill xmlns:a="http://schemas.openxmlformats.org/drawingml/2006/main">
            <a:srgbClr val="EAF3F8"/>
          </a:solidFill>
          <a:ln xmlns:a="http://schemas.openxmlformats.org/drawingml/2006/main" w="9525">
            <a:solidFill>
              <a:srgbClr val="7A9CB0"/>
            </a:solidFill>
          </a:ln>
        </p:spPr>
      </p:sp>
      <p:sp>
        <p:nvSpPr>
          <p:cNvPr id="5" name="">
            <a:extLst xmlns:a="http://schemas.openxmlformats.org/drawingml/2006/main">
              <a:ext uri="{FF2B5EF4-FFF2-40B4-BE49-F238E27FC236}">
                <a16:creationId xmlns:a16="http://schemas.microsoft.com/office/drawing/2014/main" id="{B0EDB4B8-CECA-4371-828D-CED32C44674E}"/>
              </a:ext>
            </a:extLst>
          </p:cNvPr>
          <p:cNvSpPr>
            <a:spLocks xmlns:a="http://schemas.openxmlformats.org/drawingml/2006/main" noGrp="1"/>
          </p:cNvSpPr>
          <p:nvPr/>
        </p:nvSpPr>
        <p:spPr>
          <a:xfrm xmlns:a="http://schemas.openxmlformats.org/drawingml/2006/main">
            <a:off x="666750" y="2305050"/>
            <a:ext cx="104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800" b="1">
                <a:solidFill>
                  <a:srgbClr val="17242E"/>
                </a:solidFill>
                <a:latin typeface="Arial"/>
                <a:ea typeface="Arial"/>
                <a:cs typeface="Arial"/>
              </a:defRPr>
            </a:pPr>
            <a:r>
              <a:rPr sz="1800" b="1">
                <a:solidFill>
                  <a:srgbClr val="17242E"/>
                </a:solidFill>
                <a:latin typeface="Arial"/>
                <a:ea typeface="Arial"/>
                <a:cs typeface="Arial"/>
              </a:rPr>
              <a:t>BVP</a:t>
            </a:r>
          </a:p>
        </p:txBody>
      </p:sp>
      <p:sp>
        <p:nvSpPr>
          <p:cNvPr id="6" name="">
            <a:extLst xmlns:a="http://schemas.openxmlformats.org/drawingml/2006/main">
              <a:ext uri="{FF2B5EF4-FFF2-40B4-BE49-F238E27FC236}">
                <a16:creationId xmlns:a16="http://schemas.microsoft.com/office/drawing/2014/main" id="{7A052A7B-A0A2-4840-B550-4CC5555C9659}"/>
              </a:ext>
            </a:extLst>
          </p:cNvPr>
          <p:cNvSpPr>
            <a:spLocks xmlns:a="http://schemas.openxmlformats.org/drawingml/2006/main" noGrp="1"/>
          </p:cNvSpPr>
          <p:nvPr/>
        </p:nvSpPr>
        <p:spPr>
          <a:xfrm xmlns:a="http://schemas.openxmlformats.org/drawingml/2006/main">
            <a:off x="666750" y="2762250"/>
            <a:ext cx="104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0">
                <a:solidFill>
                  <a:srgbClr val="17242E"/>
                </a:solidFill>
                <a:latin typeface="Arial"/>
                <a:ea typeface="Arial"/>
                <a:cs typeface="Arial"/>
              </a:defRPr>
            </a:pPr>
            <a:r>
              <a:rPr sz="1275" b="0">
                <a:solidFill>
                  <a:srgbClr val="17242E"/>
                </a:solidFill>
                <a:latin typeface="Arial"/>
                <a:ea typeface="Arial"/>
                <a:cs typeface="Arial"/>
              </a:rPr>
              <a:t>1×256</a:t>
            </a:r>
          </a:p>
        </p:txBody>
      </p:sp>
      <p:sp>
        <p:nvSpPr>
          <p:cNvPr id="7" name="">
            <a:extLst xmlns:a="http://schemas.openxmlformats.org/drawingml/2006/main">
              <a:ext uri="{FF2B5EF4-FFF2-40B4-BE49-F238E27FC236}">
                <a16:creationId xmlns:a16="http://schemas.microsoft.com/office/drawing/2014/main" id="{2A1DFA38-93C9-4004-B021-AA1D051A990C}"/>
              </a:ext>
            </a:extLst>
          </p:cNvPr>
          <p:cNvSpPr>
            <a:spLocks xmlns:a="http://schemas.openxmlformats.org/drawingml/2006/main" noGrp="1"/>
          </p:cNvSpPr>
          <p:nvPr/>
        </p:nvSpPr>
        <p:spPr>
          <a:xfrm xmlns:a="http://schemas.openxmlformats.org/drawingml/2006/main">
            <a:off x="1876425" y="2571750"/>
            <a:ext cx="285750" cy="323850"/>
          </a:xfrm>
          <a:prstGeom xmlns:a="http://schemas.openxmlformats.org/drawingml/2006/main" prst="rightArrow">
            <a:avLst/>
          </a:prstGeom>
          <a:solidFill xmlns:a="http://schemas.openxmlformats.org/drawingml/2006/main">
            <a:srgbClr val="AAB9C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0477D15-BA6A-41B4-8E59-9AEC958E42D0}"/>
              </a:ext>
            </a:extLst>
          </p:cNvPr>
          <p:cNvSpPr>
            <a:spLocks xmlns:a="http://schemas.openxmlformats.org/drawingml/2006/main" noGrp="1"/>
          </p:cNvSpPr>
          <p:nvPr/>
        </p:nvSpPr>
        <p:spPr>
          <a:xfrm xmlns:a="http://schemas.openxmlformats.org/drawingml/2006/main">
            <a:off x="2152650" y="2133600"/>
            <a:ext cx="1524000" cy="1295400"/>
          </a:xfrm>
          <a:prstGeom xmlns:a="http://schemas.openxmlformats.org/drawingml/2006/main" prst="roundRect">
            <a:avLst>
              <a:gd name="adj" fmla="val 8824"/>
            </a:avLst>
          </a:prstGeom>
          <a:solidFill xmlns:a="http://schemas.openxmlformats.org/drawingml/2006/main">
            <a:srgbClr val="CFE5F2"/>
          </a:solidFill>
          <a:ln xmlns:a="http://schemas.openxmlformats.org/drawingml/2006/main" w="9525">
            <a:solidFill>
              <a:srgbClr val="7A9CB0"/>
            </a:solidFill>
          </a:ln>
        </p:spPr>
      </p:sp>
      <p:sp>
        <p:nvSpPr>
          <p:cNvPr id="9" name="">
            <a:extLst xmlns:a="http://schemas.openxmlformats.org/drawingml/2006/main">
              <a:ext uri="{FF2B5EF4-FFF2-40B4-BE49-F238E27FC236}">
                <a16:creationId xmlns:a16="http://schemas.microsoft.com/office/drawing/2014/main" id="{C3D59CB5-14D2-4F00-8259-D64F203C318D}"/>
              </a:ext>
            </a:extLst>
          </p:cNvPr>
          <p:cNvSpPr>
            <a:spLocks xmlns:a="http://schemas.openxmlformats.org/drawingml/2006/main" noGrp="1"/>
          </p:cNvSpPr>
          <p:nvPr/>
        </p:nvSpPr>
        <p:spPr>
          <a:xfrm xmlns:a="http://schemas.openxmlformats.org/drawingml/2006/main">
            <a:off x="2247900" y="2305050"/>
            <a:ext cx="133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800" b="1">
                <a:solidFill>
                  <a:srgbClr val="103A5C"/>
                </a:solidFill>
                <a:latin typeface="Arial"/>
                <a:ea typeface="Arial"/>
                <a:cs typeface="Arial"/>
              </a:defRPr>
            </a:pPr>
            <a:r>
              <a:rPr sz="1800" b="1">
                <a:solidFill>
                  <a:srgbClr val="103A5C"/>
                </a:solidFill>
                <a:latin typeface="Arial"/>
                <a:ea typeface="Arial"/>
                <a:cs typeface="Arial"/>
              </a:rPr>
              <a:t>Conv1</a:t>
            </a:r>
          </a:p>
        </p:txBody>
      </p:sp>
      <p:sp>
        <p:nvSpPr>
          <p:cNvPr id="10" name="">
            <a:extLst xmlns:a="http://schemas.openxmlformats.org/drawingml/2006/main">
              <a:ext uri="{FF2B5EF4-FFF2-40B4-BE49-F238E27FC236}">
                <a16:creationId xmlns:a16="http://schemas.microsoft.com/office/drawing/2014/main" id="{A0CD84E5-1E3D-4A68-AEFC-9F292C8330AB}"/>
              </a:ext>
            </a:extLst>
          </p:cNvPr>
          <p:cNvSpPr>
            <a:spLocks xmlns:a="http://schemas.openxmlformats.org/drawingml/2006/main" noGrp="1"/>
          </p:cNvSpPr>
          <p:nvPr/>
        </p:nvSpPr>
        <p:spPr>
          <a:xfrm xmlns:a="http://schemas.openxmlformats.org/drawingml/2006/main">
            <a:off x="2247900" y="2762250"/>
            <a:ext cx="133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0">
                <a:solidFill>
                  <a:srgbClr val="103A5C"/>
                </a:solidFill>
                <a:latin typeface="Arial"/>
                <a:ea typeface="Arial"/>
                <a:cs typeface="Arial"/>
              </a:defRPr>
            </a:pPr>
            <a:r>
              <a:rPr sz="1275" b="0">
                <a:solidFill>
                  <a:srgbClr val="103A5C"/>
                </a:solidFill>
                <a:latin typeface="Arial"/>
                <a:ea typeface="Arial"/>
                <a:cs typeface="Arial"/>
              </a:rPr>
              <a:t>16×128</a:t>
            </a:r>
          </a:p>
        </p:txBody>
      </p:sp>
      <p:sp>
        <p:nvSpPr>
          <p:cNvPr id="11" name="">
            <a:extLst xmlns:a="http://schemas.openxmlformats.org/drawingml/2006/main">
              <a:ext uri="{FF2B5EF4-FFF2-40B4-BE49-F238E27FC236}">
                <a16:creationId xmlns:a16="http://schemas.microsoft.com/office/drawing/2014/main" id="{35F5730F-6B47-463F-A42A-84EAC0EBD3F5}"/>
              </a:ext>
            </a:extLst>
          </p:cNvPr>
          <p:cNvSpPr>
            <a:spLocks xmlns:a="http://schemas.openxmlformats.org/drawingml/2006/main" noGrp="1"/>
          </p:cNvSpPr>
          <p:nvPr/>
        </p:nvSpPr>
        <p:spPr>
          <a:xfrm xmlns:a="http://schemas.openxmlformats.org/drawingml/2006/main">
            <a:off x="3743325" y="2571750"/>
            <a:ext cx="285750" cy="323850"/>
          </a:xfrm>
          <a:prstGeom xmlns:a="http://schemas.openxmlformats.org/drawingml/2006/main" prst="rightArrow">
            <a:avLst/>
          </a:prstGeom>
          <a:solidFill xmlns:a="http://schemas.openxmlformats.org/drawingml/2006/main">
            <a:srgbClr val="AAB9C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F282230-B2D1-4A46-AF7A-419115615063}"/>
              </a:ext>
            </a:extLst>
          </p:cNvPr>
          <p:cNvSpPr>
            <a:spLocks xmlns:a="http://schemas.openxmlformats.org/drawingml/2006/main" noGrp="1"/>
          </p:cNvSpPr>
          <p:nvPr/>
        </p:nvSpPr>
        <p:spPr>
          <a:xfrm xmlns:a="http://schemas.openxmlformats.org/drawingml/2006/main">
            <a:off x="4019550" y="2133600"/>
            <a:ext cx="1619250" cy="1295400"/>
          </a:xfrm>
          <a:prstGeom xmlns:a="http://schemas.openxmlformats.org/drawingml/2006/main" prst="roundRect">
            <a:avLst>
              <a:gd name="adj" fmla="val 8824"/>
            </a:avLst>
          </a:prstGeom>
          <a:solidFill xmlns:a="http://schemas.openxmlformats.org/drawingml/2006/main">
            <a:srgbClr val="A9D1E7"/>
          </a:solidFill>
          <a:ln xmlns:a="http://schemas.openxmlformats.org/drawingml/2006/main" w="9525">
            <a:solidFill>
              <a:srgbClr val="7A9CB0"/>
            </a:solidFill>
          </a:ln>
        </p:spPr>
      </p:sp>
      <p:sp>
        <p:nvSpPr>
          <p:cNvPr id="13" name="">
            <a:extLst xmlns:a="http://schemas.openxmlformats.org/drawingml/2006/main">
              <a:ext uri="{FF2B5EF4-FFF2-40B4-BE49-F238E27FC236}">
                <a16:creationId xmlns:a16="http://schemas.microsoft.com/office/drawing/2014/main" id="{9331E71F-49DD-477E-95E3-C9648E06027F}"/>
              </a:ext>
            </a:extLst>
          </p:cNvPr>
          <p:cNvSpPr>
            <a:spLocks xmlns:a="http://schemas.openxmlformats.org/drawingml/2006/main" noGrp="1"/>
          </p:cNvSpPr>
          <p:nvPr/>
        </p:nvSpPr>
        <p:spPr>
          <a:xfrm xmlns:a="http://schemas.openxmlformats.org/drawingml/2006/main">
            <a:off x="4114800" y="2305050"/>
            <a:ext cx="142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800" b="1">
                <a:solidFill>
                  <a:srgbClr val="103A5C"/>
                </a:solidFill>
                <a:latin typeface="Arial"/>
                <a:ea typeface="Arial"/>
                <a:cs typeface="Arial"/>
              </a:defRPr>
            </a:pPr>
            <a:r>
              <a:rPr sz="1800" b="1">
                <a:solidFill>
                  <a:srgbClr val="103A5C"/>
                </a:solidFill>
                <a:latin typeface="Arial"/>
                <a:ea typeface="Arial"/>
                <a:cs typeface="Arial"/>
              </a:rPr>
              <a:t>Conv2</a:t>
            </a:r>
          </a:p>
        </p:txBody>
      </p:sp>
      <p:sp>
        <p:nvSpPr>
          <p:cNvPr id="14" name="">
            <a:extLst xmlns:a="http://schemas.openxmlformats.org/drawingml/2006/main">
              <a:ext uri="{FF2B5EF4-FFF2-40B4-BE49-F238E27FC236}">
                <a16:creationId xmlns:a16="http://schemas.microsoft.com/office/drawing/2014/main" id="{96009E5E-5DC9-4011-AE19-83E6CEA2CB22}"/>
              </a:ext>
            </a:extLst>
          </p:cNvPr>
          <p:cNvSpPr>
            <a:spLocks xmlns:a="http://schemas.openxmlformats.org/drawingml/2006/main" noGrp="1"/>
          </p:cNvSpPr>
          <p:nvPr/>
        </p:nvSpPr>
        <p:spPr>
          <a:xfrm xmlns:a="http://schemas.openxmlformats.org/drawingml/2006/main">
            <a:off x="4114800" y="2762250"/>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0">
                <a:solidFill>
                  <a:srgbClr val="103A5C"/>
                </a:solidFill>
                <a:latin typeface="Arial"/>
                <a:ea typeface="Arial"/>
                <a:cs typeface="Arial"/>
              </a:defRPr>
            </a:pPr>
            <a:r>
              <a:rPr sz="1275" b="0">
                <a:solidFill>
                  <a:srgbClr val="103A5C"/>
                </a:solidFill>
                <a:latin typeface="Arial"/>
                <a:ea typeface="Arial"/>
                <a:cs typeface="Arial"/>
              </a:rPr>
              <a:t>32×64</a:t>
            </a:r>
          </a:p>
        </p:txBody>
      </p:sp>
      <p:sp>
        <p:nvSpPr>
          <p:cNvPr id="15" name="">
            <a:extLst xmlns:a="http://schemas.openxmlformats.org/drawingml/2006/main">
              <a:ext uri="{FF2B5EF4-FFF2-40B4-BE49-F238E27FC236}">
                <a16:creationId xmlns:a16="http://schemas.microsoft.com/office/drawing/2014/main" id="{58B0A997-6E75-41D8-8519-18D7A062F108}"/>
              </a:ext>
            </a:extLst>
          </p:cNvPr>
          <p:cNvSpPr>
            <a:spLocks xmlns:a="http://schemas.openxmlformats.org/drawingml/2006/main" noGrp="1"/>
          </p:cNvSpPr>
          <p:nvPr/>
        </p:nvSpPr>
        <p:spPr>
          <a:xfrm xmlns:a="http://schemas.openxmlformats.org/drawingml/2006/main">
            <a:off x="5705475" y="2571750"/>
            <a:ext cx="285750" cy="323850"/>
          </a:xfrm>
          <a:prstGeom xmlns:a="http://schemas.openxmlformats.org/drawingml/2006/main" prst="rightArrow">
            <a:avLst/>
          </a:prstGeom>
          <a:solidFill xmlns:a="http://schemas.openxmlformats.org/drawingml/2006/main">
            <a:srgbClr val="AAB9C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F72C4D6-DCD9-4D98-A045-3E97DB455D05}"/>
              </a:ext>
            </a:extLst>
          </p:cNvPr>
          <p:cNvSpPr>
            <a:spLocks xmlns:a="http://schemas.openxmlformats.org/drawingml/2006/main" noGrp="1"/>
          </p:cNvSpPr>
          <p:nvPr/>
        </p:nvSpPr>
        <p:spPr>
          <a:xfrm xmlns:a="http://schemas.openxmlformats.org/drawingml/2006/main">
            <a:off x="5981700" y="2133600"/>
            <a:ext cx="1762125" cy="1295400"/>
          </a:xfrm>
          <a:prstGeom xmlns:a="http://schemas.openxmlformats.org/drawingml/2006/main" prst="roundRect">
            <a:avLst>
              <a:gd name="adj" fmla="val 8824"/>
            </a:avLst>
          </a:prstGeom>
          <a:solidFill xmlns:a="http://schemas.openxmlformats.org/drawingml/2006/main">
            <a:srgbClr val="74B1D1"/>
          </a:solidFill>
          <a:ln xmlns:a="http://schemas.openxmlformats.org/drawingml/2006/main" w="9525">
            <a:solidFill>
              <a:srgbClr val="7A9CB0"/>
            </a:solidFill>
          </a:ln>
        </p:spPr>
      </p:sp>
      <p:sp>
        <p:nvSpPr>
          <p:cNvPr id="17" name="">
            <a:extLst xmlns:a="http://schemas.openxmlformats.org/drawingml/2006/main">
              <a:ext uri="{FF2B5EF4-FFF2-40B4-BE49-F238E27FC236}">
                <a16:creationId xmlns:a16="http://schemas.microsoft.com/office/drawing/2014/main" id="{C42024E9-9690-44C4-8954-2F0178752661}"/>
              </a:ext>
            </a:extLst>
          </p:cNvPr>
          <p:cNvSpPr>
            <a:spLocks xmlns:a="http://schemas.openxmlformats.org/drawingml/2006/main" noGrp="1"/>
          </p:cNvSpPr>
          <p:nvPr/>
        </p:nvSpPr>
        <p:spPr>
          <a:xfrm xmlns:a="http://schemas.openxmlformats.org/drawingml/2006/main">
            <a:off x="6076950" y="2305050"/>
            <a:ext cx="1571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800" b="1">
                <a:solidFill>
                  <a:srgbClr val="FFFFFF"/>
                </a:solidFill>
                <a:latin typeface="Arial"/>
                <a:ea typeface="Arial"/>
                <a:cs typeface="Arial"/>
              </a:defRPr>
            </a:pPr>
            <a:r>
              <a:rPr sz="1800" b="1">
                <a:solidFill>
                  <a:srgbClr val="FFFFFF"/>
                </a:solidFill>
                <a:latin typeface="Arial"/>
                <a:ea typeface="Arial"/>
                <a:cs typeface="Arial"/>
              </a:rPr>
              <a:t>Conv3</a:t>
            </a:r>
          </a:p>
        </p:txBody>
      </p:sp>
      <p:sp>
        <p:nvSpPr>
          <p:cNvPr id="18" name="">
            <a:extLst xmlns:a="http://schemas.openxmlformats.org/drawingml/2006/main">
              <a:ext uri="{FF2B5EF4-FFF2-40B4-BE49-F238E27FC236}">
                <a16:creationId xmlns:a16="http://schemas.microsoft.com/office/drawing/2014/main" id="{790758E0-F026-4566-AC06-3CB1C927B27D}"/>
              </a:ext>
            </a:extLst>
          </p:cNvPr>
          <p:cNvSpPr>
            <a:spLocks xmlns:a="http://schemas.openxmlformats.org/drawingml/2006/main" noGrp="1"/>
          </p:cNvSpPr>
          <p:nvPr/>
        </p:nvSpPr>
        <p:spPr>
          <a:xfrm xmlns:a="http://schemas.openxmlformats.org/drawingml/2006/main">
            <a:off x="6076950" y="2762250"/>
            <a:ext cx="1571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0">
                <a:solidFill>
                  <a:srgbClr val="FFFFFF"/>
                </a:solidFill>
                <a:latin typeface="Arial"/>
                <a:ea typeface="Arial"/>
                <a:cs typeface="Arial"/>
              </a:defRPr>
            </a:pPr>
            <a:r>
              <a:rPr sz="1275" b="0">
                <a:solidFill>
                  <a:srgbClr val="FFFFFF"/>
                </a:solidFill>
                <a:latin typeface="Arial"/>
                <a:ea typeface="Arial"/>
                <a:cs typeface="Arial"/>
              </a:rPr>
              <a:t>64×32</a:t>
            </a:r>
          </a:p>
        </p:txBody>
      </p:sp>
      <p:sp>
        <p:nvSpPr>
          <p:cNvPr id="19" name="">
            <a:extLst xmlns:a="http://schemas.openxmlformats.org/drawingml/2006/main">
              <a:ext uri="{FF2B5EF4-FFF2-40B4-BE49-F238E27FC236}">
                <a16:creationId xmlns:a16="http://schemas.microsoft.com/office/drawing/2014/main" id="{0E70FE2F-9B49-4D95-A8CD-8F43649FDC81}"/>
              </a:ext>
            </a:extLst>
          </p:cNvPr>
          <p:cNvSpPr>
            <a:spLocks xmlns:a="http://schemas.openxmlformats.org/drawingml/2006/main" noGrp="1"/>
          </p:cNvSpPr>
          <p:nvPr/>
        </p:nvSpPr>
        <p:spPr>
          <a:xfrm xmlns:a="http://schemas.openxmlformats.org/drawingml/2006/main">
            <a:off x="7810500" y="2571750"/>
            <a:ext cx="285750" cy="323850"/>
          </a:xfrm>
          <a:prstGeom xmlns:a="http://schemas.openxmlformats.org/drawingml/2006/main" prst="rightArrow">
            <a:avLst/>
          </a:prstGeom>
          <a:solidFill xmlns:a="http://schemas.openxmlformats.org/drawingml/2006/main">
            <a:srgbClr val="AAB9C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F987C2E-4A9B-4656-807C-C45255E57D36}"/>
              </a:ext>
            </a:extLst>
          </p:cNvPr>
          <p:cNvSpPr>
            <a:spLocks xmlns:a="http://schemas.openxmlformats.org/drawingml/2006/main" noGrp="1"/>
          </p:cNvSpPr>
          <p:nvPr/>
        </p:nvSpPr>
        <p:spPr>
          <a:xfrm xmlns:a="http://schemas.openxmlformats.org/drawingml/2006/main">
            <a:off x="8086725" y="2133600"/>
            <a:ext cx="1333500" cy="1295400"/>
          </a:xfrm>
          <a:prstGeom xmlns:a="http://schemas.openxmlformats.org/drawingml/2006/main" prst="roundRect">
            <a:avLst>
              <a:gd name="adj" fmla="val 8824"/>
            </a:avLst>
          </a:prstGeom>
          <a:solidFill xmlns:a="http://schemas.openxmlformats.org/drawingml/2006/main">
            <a:srgbClr val="1769AA"/>
          </a:solidFill>
          <a:ln xmlns:a="http://schemas.openxmlformats.org/drawingml/2006/main" w="9525">
            <a:solidFill>
              <a:srgbClr val="7A9CB0"/>
            </a:solidFill>
          </a:ln>
        </p:spPr>
      </p:sp>
      <p:sp>
        <p:nvSpPr>
          <p:cNvPr id="21" name="">
            <a:extLst xmlns:a="http://schemas.openxmlformats.org/drawingml/2006/main">
              <a:ext uri="{FF2B5EF4-FFF2-40B4-BE49-F238E27FC236}">
                <a16:creationId xmlns:a16="http://schemas.microsoft.com/office/drawing/2014/main" id="{A8AE702A-9D02-4C44-B854-6C96AE4A7F85}"/>
              </a:ext>
            </a:extLst>
          </p:cNvPr>
          <p:cNvSpPr>
            <a:spLocks xmlns:a="http://schemas.openxmlformats.org/drawingml/2006/main" noGrp="1"/>
          </p:cNvSpPr>
          <p:nvPr/>
        </p:nvSpPr>
        <p:spPr>
          <a:xfrm xmlns:a="http://schemas.openxmlformats.org/drawingml/2006/main">
            <a:off x="8181975" y="230505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800" b="1">
                <a:solidFill>
                  <a:srgbClr val="FFFFFF"/>
                </a:solidFill>
                <a:latin typeface="Arial"/>
                <a:ea typeface="Arial"/>
                <a:cs typeface="Arial"/>
              </a:defRPr>
            </a:pPr>
            <a:r>
              <a:rPr sz="1800" b="1">
                <a:solidFill>
                  <a:srgbClr val="FFFFFF"/>
                </a:solidFill>
                <a:latin typeface="Arial"/>
                <a:ea typeface="Arial"/>
                <a:cs typeface="Arial"/>
              </a:rPr>
              <a:t>GAP</a:t>
            </a:r>
          </a:p>
        </p:txBody>
      </p:sp>
      <p:sp>
        <p:nvSpPr>
          <p:cNvPr id="22" name="">
            <a:extLst xmlns:a="http://schemas.openxmlformats.org/drawingml/2006/main">
              <a:ext uri="{FF2B5EF4-FFF2-40B4-BE49-F238E27FC236}">
                <a16:creationId xmlns:a16="http://schemas.microsoft.com/office/drawing/2014/main" id="{CD68F6E1-35AE-4AAE-AAA9-F73FA3168CA7}"/>
              </a:ext>
            </a:extLst>
          </p:cNvPr>
          <p:cNvSpPr>
            <a:spLocks xmlns:a="http://schemas.openxmlformats.org/drawingml/2006/main" noGrp="1"/>
          </p:cNvSpPr>
          <p:nvPr/>
        </p:nvSpPr>
        <p:spPr>
          <a:xfrm xmlns:a="http://schemas.openxmlformats.org/drawingml/2006/main">
            <a:off x="8181975" y="27622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0">
                <a:solidFill>
                  <a:srgbClr val="FFFFFF"/>
                </a:solidFill>
                <a:latin typeface="Arial"/>
                <a:ea typeface="Arial"/>
                <a:cs typeface="Arial"/>
              </a:defRPr>
            </a:pPr>
            <a:r>
              <a:rPr sz="1275" b="0">
                <a:solidFill>
                  <a:srgbClr val="FFFFFF"/>
                </a:solidFill>
                <a:latin typeface="Arial"/>
                <a:ea typeface="Arial"/>
                <a:cs typeface="Arial"/>
              </a:rPr>
              <a:t>64×1</a:t>
            </a:r>
          </a:p>
        </p:txBody>
      </p:sp>
      <p:sp>
        <p:nvSpPr>
          <p:cNvPr id="23" name="">
            <a:extLst xmlns:a="http://schemas.openxmlformats.org/drawingml/2006/main">
              <a:ext uri="{FF2B5EF4-FFF2-40B4-BE49-F238E27FC236}">
                <a16:creationId xmlns:a16="http://schemas.microsoft.com/office/drawing/2014/main" id="{9AAF6D2D-21D8-47BC-BD32-7B849CC10EAF}"/>
              </a:ext>
            </a:extLst>
          </p:cNvPr>
          <p:cNvSpPr>
            <a:spLocks xmlns:a="http://schemas.openxmlformats.org/drawingml/2006/main" noGrp="1"/>
          </p:cNvSpPr>
          <p:nvPr/>
        </p:nvSpPr>
        <p:spPr>
          <a:xfrm xmlns:a="http://schemas.openxmlformats.org/drawingml/2006/main">
            <a:off x="9486900" y="2571750"/>
            <a:ext cx="285750" cy="323850"/>
          </a:xfrm>
          <a:prstGeom xmlns:a="http://schemas.openxmlformats.org/drawingml/2006/main" prst="rightArrow">
            <a:avLst/>
          </a:prstGeom>
          <a:solidFill xmlns:a="http://schemas.openxmlformats.org/drawingml/2006/main">
            <a:srgbClr val="AAB9C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84AF84A1-9A13-457E-9A44-5B81235B833F}"/>
              </a:ext>
            </a:extLst>
          </p:cNvPr>
          <p:cNvSpPr>
            <a:spLocks xmlns:a="http://schemas.openxmlformats.org/drawingml/2006/main" noGrp="1"/>
          </p:cNvSpPr>
          <p:nvPr/>
        </p:nvSpPr>
        <p:spPr>
          <a:xfrm xmlns:a="http://schemas.openxmlformats.org/drawingml/2006/main">
            <a:off x="9763125" y="2133600"/>
            <a:ext cx="1619250" cy="1295400"/>
          </a:xfrm>
          <a:prstGeom xmlns:a="http://schemas.openxmlformats.org/drawingml/2006/main" prst="roundRect">
            <a:avLst>
              <a:gd name="adj" fmla="val 8824"/>
            </a:avLst>
          </a:prstGeom>
          <a:solidFill xmlns:a="http://schemas.openxmlformats.org/drawingml/2006/main">
            <a:srgbClr val="103A5C"/>
          </a:solidFill>
          <a:ln xmlns:a="http://schemas.openxmlformats.org/drawingml/2006/main" w="9525">
            <a:solidFill>
              <a:srgbClr val="7A9CB0"/>
            </a:solidFill>
          </a:ln>
        </p:spPr>
      </p:sp>
      <p:sp>
        <p:nvSpPr>
          <p:cNvPr id="25" name="">
            <a:extLst xmlns:a="http://schemas.openxmlformats.org/drawingml/2006/main">
              <a:ext uri="{FF2B5EF4-FFF2-40B4-BE49-F238E27FC236}">
                <a16:creationId xmlns:a16="http://schemas.microsoft.com/office/drawing/2014/main" id="{AC21DD47-7968-4640-9CB1-FDF86EF68FE4}"/>
              </a:ext>
            </a:extLst>
          </p:cNvPr>
          <p:cNvSpPr>
            <a:spLocks xmlns:a="http://schemas.openxmlformats.org/drawingml/2006/main" noGrp="1"/>
          </p:cNvSpPr>
          <p:nvPr/>
        </p:nvSpPr>
        <p:spPr>
          <a:xfrm xmlns:a="http://schemas.openxmlformats.org/drawingml/2006/main">
            <a:off x="9858375" y="2305050"/>
            <a:ext cx="142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800" b="1">
                <a:solidFill>
                  <a:srgbClr val="FFFFFF"/>
                </a:solidFill>
                <a:latin typeface="Arial"/>
                <a:ea typeface="Arial"/>
                <a:cs typeface="Arial"/>
              </a:defRPr>
            </a:pPr>
            <a:r>
              <a:rPr sz="1800" b="1">
                <a:solidFill>
                  <a:srgbClr val="FFFFFF"/>
                </a:solidFill>
                <a:latin typeface="Arial"/>
                <a:ea typeface="Arial"/>
                <a:cs typeface="Arial"/>
              </a:rPr>
              <a:t>MLP</a:t>
            </a:r>
          </a:p>
        </p:txBody>
      </p:sp>
      <p:sp>
        <p:nvSpPr>
          <p:cNvPr id="26" name="">
            <a:extLst xmlns:a="http://schemas.openxmlformats.org/drawingml/2006/main">
              <a:ext uri="{FF2B5EF4-FFF2-40B4-BE49-F238E27FC236}">
                <a16:creationId xmlns:a16="http://schemas.microsoft.com/office/drawing/2014/main" id="{C105B213-BA05-493A-8491-EF59CE63E227}"/>
              </a:ext>
            </a:extLst>
          </p:cNvPr>
          <p:cNvSpPr>
            <a:spLocks xmlns:a="http://schemas.openxmlformats.org/drawingml/2006/main" noGrp="1"/>
          </p:cNvSpPr>
          <p:nvPr/>
        </p:nvSpPr>
        <p:spPr>
          <a:xfrm xmlns:a="http://schemas.openxmlformats.org/drawingml/2006/main">
            <a:off x="9858375" y="2762250"/>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0">
                <a:solidFill>
                  <a:srgbClr val="FFFFFF"/>
                </a:solidFill>
                <a:latin typeface="Arial"/>
                <a:ea typeface="Arial"/>
                <a:cs typeface="Arial"/>
              </a:defRPr>
            </a:pPr>
            <a:r>
              <a:rPr sz="1275" b="0">
                <a:solidFill>
                  <a:srgbClr val="FFFFFF"/>
                </a:solidFill>
                <a:latin typeface="Arial"/>
                <a:ea typeface="Arial"/>
                <a:cs typeface="Arial"/>
              </a:rPr>
              <a:t>64→32→1</a:t>
            </a:r>
          </a:p>
        </p:txBody>
      </p:sp>
      <p:sp>
        <p:nvSpPr>
          <p:cNvPr id="27" name="">
            <a:extLst xmlns:a="http://schemas.openxmlformats.org/drawingml/2006/main">
              <a:ext uri="{FF2B5EF4-FFF2-40B4-BE49-F238E27FC236}">
                <a16:creationId xmlns:a16="http://schemas.microsoft.com/office/drawing/2014/main" id="{C5BF0D9F-943A-4A0F-8033-66D8325C8028}"/>
              </a:ext>
            </a:extLst>
          </p:cNvPr>
          <p:cNvSpPr>
            <a:spLocks xmlns:a="http://schemas.openxmlformats.org/drawingml/2006/main" noGrp="1"/>
          </p:cNvSpPr>
          <p:nvPr/>
        </p:nvSpPr>
        <p:spPr>
          <a:xfrm xmlns:a="http://schemas.openxmlformats.org/drawingml/2006/main">
            <a:off x="1200150" y="4057650"/>
            <a:ext cx="2428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3150" b="1">
                <a:solidFill>
                  <a:srgbClr val="D32F2F"/>
                </a:solidFill>
                <a:latin typeface="Arial"/>
                <a:ea typeface="Arial"/>
                <a:cs typeface="Arial"/>
              </a:defRPr>
            </a:pPr>
            <a:r>
              <a:rPr sz="3150" b="1">
                <a:solidFill>
                  <a:srgbClr val="D32F2F"/>
                </a:solidFill>
                <a:latin typeface="Arial"/>
                <a:ea typeface="Arial"/>
                <a:cs typeface="Arial"/>
              </a:rPr>
              <a:t>11.153</a:t>
            </a:r>
          </a:p>
        </p:txBody>
      </p:sp>
      <p:sp>
        <p:nvSpPr>
          <p:cNvPr id="28" name="">
            <a:extLst xmlns:a="http://schemas.openxmlformats.org/drawingml/2006/main">
              <a:ext uri="{FF2B5EF4-FFF2-40B4-BE49-F238E27FC236}">
                <a16:creationId xmlns:a16="http://schemas.microsoft.com/office/drawing/2014/main" id="{2DDFC25C-B8C0-48B1-BC33-B273915BABFF}"/>
              </a:ext>
            </a:extLst>
          </p:cNvPr>
          <p:cNvSpPr>
            <a:spLocks xmlns:a="http://schemas.openxmlformats.org/drawingml/2006/main" noGrp="1"/>
          </p:cNvSpPr>
          <p:nvPr/>
        </p:nvSpPr>
        <p:spPr>
          <a:xfrm xmlns:a="http://schemas.openxmlformats.org/drawingml/2006/main">
            <a:off x="1200150" y="4667250"/>
            <a:ext cx="2428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0">
                <a:solidFill>
                  <a:srgbClr val="5F6B73"/>
                </a:solidFill>
                <a:latin typeface="Arial"/>
                <a:ea typeface="Arial"/>
                <a:cs typeface="Arial"/>
              </a:defRPr>
            </a:pPr>
            <a:r>
              <a:rPr sz="1275" b="0">
                <a:solidFill>
                  <a:srgbClr val="5F6B73"/>
                </a:solidFill>
                <a:latin typeface="Arial"/>
                <a:ea typeface="Arial"/>
                <a:cs typeface="Arial"/>
              </a:rPr>
              <a:t>tham số học được</a:t>
            </a:r>
          </a:p>
        </p:txBody>
      </p:sp>
      <p:sp>
        <p:nvSpPr>
          <p:cNvPr id="29" name="">
            <a:extLst xmlns:a="http://schemas.openxmlformats.org/drawingml/2006/main">
              <a:ext uri="{FF2B5EF4-FFF2-40B4-BE49-F238E27FC236}">
                <a16:creationId xmlns:a16="http://schemas.microsoft.com/office/drawing/2014/main" id="{A32ECBF4-CB92-40DA-AEAC-DD620243440A}"/>
              </a:ext>
            </a:extLst>
          </p:cNvPr>
          <p:cNvSpPr>
            <a:spLocks xmlns:a="http://schemas.openxmlformats.org/drawingml/2006/main" noGrp="1"/>
          </p:cNvSpPr>
          <p:nvPr/>
        </p:nvSpPr>
        <p:spPr>
          <a:xfrm xmlns:a="http://schemas.openxmlformats.org/drawingml/2006/main">
            <a:off x="4095750" y="4095750"/>
            <a:ext cx="6572250" cy="876300"/>
          </a:xfrm>
          <a:prstGeom xmlns:a="http://schemas.openxmlformats.org/drawingml/2006/main" prst="rect">
            <a:avLst/>
          </a:prstGeom>
          <a:solidFill xmlns:a="http://schemas.openxmlformats.org/drawingml/2006/main">
            <a:srgbClr val="EAF3F8"/>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650" b="1">
                <a:solidFill>
                  <a:srgbClr val="103A5C"/>
                </a:solidFill>
                <a:latin typeface="Arial"/>
                <a:ea typeface="Arial"/>
                <a:cs typeface="Arial"/>
              </a:defRPr>
            </a:pPr>
            <a:r>
              <a:rPr sz="1650" b="1">
                <a:solidFill>
                  <a:srgbClr val="103A5C"/>
                </a:solidFill>
                <a:latin typeface="Arial"/>
                <a:ea typeface="Arial"/>
                <a:cs typeface="Arial"/>
              </a:rPr>
              <a:t>A0: z-score + Huber δ=5 + BatchNorm</a:t>
            </a:r>
          </a:p>
          <a:p xmlns:a="http://schemas.openxmlformats.org/drawingml/2006/main">
            <a:pPr algn="ctr">
              <a:defRPr sz="1650" b="1">
                <a:solidFill>
                  <a:srgbClr val="103A5C"/>
                </a:solidFill>
                <a:latin typeface="Arial"/>
                <a:ea typeface="Arial"/>
                <a:cs typeface="Arial"/>
              </a:defRPr>
            </a:pPr>
            <a:r>
              <a:rPr sz="1650" b="1">
                <a:solidFill>
                  <a:srgbClr val="103A5C"/>
                </a:solidFill>
                <a:latin typeface="Arial"/>
                <a:ea typeface="Arial"/>
                <a:cs typeface="Arial"/>
              </a:rPr>
              <a:t>A1: bỏ z-score  •  A3: MSE thay Huber</a:t>
            </a:r>
          </a:p>
        </p:txBody>
      </p:sp>
      <p:sp>
        <p:nvSpPr>
          <p:cNvPr id="30" name="">
            <a:extLst xmlns:a="http://schemas.openxmlformats.org/drawingml/2006/main">
              <a:ext uri="{FF2B5EF4-FFF2-40B4-BE49-F238E27FC236}">
                <a16:creationId xmlns:a16="http://schemas.microsoft.com/office/drawing/2014/main" id="{8E2D92D9-FB0C-4349-918B-FD4180794BD8}"/>
              </a:ext>
            </a:extLst>
          </p:cNvPr>
          <p:cNvSpPr>
            <a:spLocks xmlns:a="http://schemas.openxmlformats.org/drawingml/2006/main" noGrp="1"/>
          </p:cNvSpPr>
          <p:nvPr/>
        </p:nvSpPr>
        <p:spPr>
          <a:xfrm xmlns:a="http://schemas.openxmlformats.org/drawingml/2006/main">
            <a:off x="2952750" y="5334000"/>
            <a:ext cx="6286500" cy="419100"/>
          </a:xfrm>
          <a:prstGeom xmlns:a="http://schemas.openxmlformats.org/drawingml/2006/main" prst="rect">
            <a:avLst/>
          </a:prstGeom>
          <a:solidFill xmlns:a="http://schemas.openxmlformats.org/drawingml/2006/main">
            <a:srgbClr val="D32F2F"/>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ECG không xuất hiện trong nhánh suy luận</a:t>
            </a:r>
          </a:p>
        </p:txBody>
      </p:sp>
      <p:sp>
        <p:nvSpPr>
          <p:cNvPr id="31" name="">
            <a:extLst xmlns:a="http://schemas.openxmlformats.org/drawingml/2006/main">
              <a:ext uri="{FF2B5EF4-FFF2-40B4-BE49-F238E27FC236}">
                <a16:creationId xmlns:a16="http://schemas.microsoft.com/office/drawing/2014/main" id="{D0FE8EC3-B56C-4B20-BF64-2E3177D6B0DE}"/>
              </a:ext>
            </a:extLst>
          </p:cNvPr>
          <p:cNvSpPr>
            <a:spLocks xmlns:a="http://schemas.openxmlformats.org/drawingml/2006/main" noGrp="1"/>
          </p:cNvSpPr>
          <p:nvPr/>
        </p:nvSpPr>
        <p:spPr>
          <a:xfrm xmlns:a="http://schemas.openxmlformats.org/drawingml/2006/main">
            <a:off x="685800" y="6467475"/>
            <a:ext cx="10820400" cy="9525"/>
          </a:xfrm>
          <a:prstGeom xmlns:a="http://schemas.openxmlformats.org/drawingml/2006/main" prst="line">
            <a:avLst/>
          </a:prstGeom>
          <a:noFill xmlns:a="http://schemas.openxmlformats.org/drawingml/2006/main"/>
          <a:ln xmlns:a="http://schemas.openxmlformats.org/drawingml/2006/main" w="9525">
            <a:solidFill>
              <a:srgbClr val="C9D3DB"/>
            </a:solidFill>
          </a:ln>
        </p:spPr>
      </p:sp>
      <p:sp>
        <p:nvSpPr>
          <p:cNvPr id="32" name="">
            <a:extLst xmlns:a="http://schemas.openxmlformats.org/drawingml/2006/main">
              <a:ext uri="{FF2B5EF4-FFF2-40B4-BE49-F238E27FC236}">
                <a16:creationId xmlns:a16="http://schemas.microsoft.com/office/drawing/2014/main" id="{BD239385-AEE5-4914-B457-2E5F951EEDDA}"/>
              </a:ext>
            </a:extLst>
          </p:cNvPr>
          <p:cNvSpPr>
            <a:spLocks xmlns:a="http://schemas.openxmlformats.org/drawingml/2006/main" noGrp="1"/>
          </p:cNvSpPr>
          <p:nvPr/>
        </p:nvSpPr>
        <p:spPr>
          <a:xfrm xmlns:a="http://schemas.openxmlformats.org/drawingml/2006/main">
            <a:off x="685800" y="6505575"/>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l">
              <a:defRPr sz="825" b="0">
                <a:solidFill>
                  <a:srgbClr val="5F6B73"/>
                </a:solidFill>
                <a:latin typeface="Arial"/>
                <a:ea typeface="Arial"/>
                <a:cs typeface="Arial"/>
              </a:defRPr>
            </a:pPr>
            <a:r>
              <a:rPr sz="825" b="0">
                <a:solidFill>
                  <a:srgbClr val="5F6B73"/>
                </a:solidFill>
                <a:latin typeface="Arial"/>
                <a:ea typeface="Arial"/>
                <a:cs typeface="Arial"/>
              </a:rPr>
              <a:t>Đ18 • Trần Tiến Thịnh • 22110236</a:t>
            </a:r>
          </a:p>
        </p:txBody>
      </p:sp>
      <p:sp>
        <p:nvSpPr>
          <p:cNvPr id="33" name="">
            <a:extLst xmlns:a="http://schemas.openxmlformats.org/drawingml/2006/main">
              <a:ext uri="{FF2B5EF4-FFF2-40B4-BE49-F238E27FC236}">
                <a16:creationId xmlns:a16="http://schemas.microsoft.com/office/drawing/2014/main" id="{98C8044B-440C-465F-A94D-91F1A4124232}"/>
              </a:ext>
            </a:extLst>
          </p:cNvPr>
          <p:cNvSpPr>
            <a:spLocks xmlns:a="http://schemas.openxmlformats.org/drawingml/2006/main" noGrp="1"/>
          </p:cNvSpPr>
          <p:nvPr/>
        </p:nvSpPr>
        <p:spPr>
          <a:xfrm xmlns:a="http://schemas.openxmlformats.org/drawingml/2006/main">
            <a:off x="10763250" y="6505575"/>
            <a:ext cx="742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r">
              <a:defRPr sz="825" b="0">
                <a:solidFill>
                  <a:srgbClr val="5F6B73"/>
                </a:solidFill>
                <a:latin typeface="Arial"/>
                <a:ea typeface="Arial"/>
                <a:cs typeface="Arial"/>
              </a:defRPr>
            </a:pPr>
            <a:r>
              <a:rPr sz="825" b="0">
                <a:solidFill>
                  <a:srgbClr val="5F6B73"/>
                </a:solidFill>
                <a:latin typeface="Arial"/>
                <a:ea typeface="Arial"/>
                <a:cs typeface="Arial"/>
              </a:rPr>
              <a:t>04</a:t>
            </a:r>
          </a:p>
        </p:txBody>
      </p:sp>
    </p:spTree>
    <p:extLst>
      <p:ext uri="{BB962C8B-B14F-4D97-AF65-F5344CB8AC3E}">
        <p14:creationId xmlns:p14="http://schemas.microsoft.com/office/powerpoint/2010/main" val="8856981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15D2189-2A10-4751-BA2C-FB9DD8ED7FEE}"/>
              </a:ext>
            </a:extLst>
          </p:cNvPr>
          <p:cNvSpPr>
            <a:spLocks xmlns:a="http://schemas.openxmlformats.org/drawingml/2006/main" noGrp="1"/>
          </p:cNvSpPr>
          <p:nvPr/>
        </p:nvSpPr>
        <p:spPr>
          <a:xfrm xmlns:a="http://schemas.openxmlformats.org/drawingml/2006/main">
            <a:off x="685800" y="3619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550" b="1">
                <a:solidFill>
                  <a:srgbClr val="103A5C"/>
                </a:solidFill>
                <a:latin typeface="Arial"/>
                <a:ea typeface="Arial"/>
                <a:cs typeface="Arial"/>
              </a:defRPr>
            </a:pPr>
            <a:r>
              <a:rPr sz="2550" b="1">
                <a:solidFill>
                  <a:srgbClr val="103A5C"/>
                </a:solidFill>
                <a:latin typeface="Arial"/>
                <a:ea typeface="Arial"/>
                <a:cs typeface="Arial"/>
              </a:rPr>
              <a:t>Thiết kế thực nghiệm khóa trước test</a:t>
            </a:r>
          </a:p>
        </p:txBody>
      </p:sp>
      <p:sp>
        <p:nvSpPr>
          <p:cNvPr id="2" name="">
            <a:extLst xmlns:a="http://schemas.openxmlformats.org/drawingml/2006/main">
              <a:ext uri="{FF2B5EF4-FFF2-40B4-BE49-F238E27FC236}">
                <a16:creationId xmlns:a16="http://schemas.microsoft.com/office/drawing/2014/main" id="{BF0F14AF-401D-46AB-AC4D-776FEE0F5DEC}"/>
              </a:ext>
            </a:extLst>
          </p:cNvPr>
          <p:cNvSpPr>
            <a:spLocks xmlns:a="http://schemas.openxmlformats.org/drawingml/2006/main" noGrp="1"/>
          </p:cNvSpPr>
          <p:nvPr/>
        </p:nvSpPr>
        <p:spPr>
          <a:xfrm xmlns:a="http://schemas.openxmlformats.org/drawingml/2006/main">
            <a:off x="685800" y="1000125"/>
            <a:ext cx="819150" cy="47625"/>
          </a:xfrm>
          <a:prstGeom xmlns:a="http://schemas.openxmlformats.org/drawingml/2006/main" prst="rect">
            <a:avLst/>
          </a:prstGeom>
          <a:solidFill xmlns:a="http://schemas.openxmlformats.org/drawingml/2006/main">
            <a:srgbClr val="D32F2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1208246-A569-4022-B563-7B78399A9188}"/>
              </a:ext>
            </a:extLst>
          </p:cNvPr>
          <p:cNvSpPr>
            <a:spLocks xmlns:a="http://schemas.openxmlformats.org/drawingml/2006/main" noGrp="1"/>
          </p:cNvSpPr>
          <p:nvPr/>
        </p:nvSpPr>
        <p:spPr>
          <a:xfrm xmlns:a="http://schemas.openxmlformats.org/drawingml/2006/main">
            <a:off x="1666875" y="8667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5F6B73"/>
                </a:solidFill>
                <a:latin typeface="Arial"/>
                <a:ea typeface="Arial"/>
                <a:cs typeface="Arial"/>
              </a:defRPr>
            </a:pPr>
            <a:r>
              <a:rPr sz="1125" b="0">
                <a:solidFill>
                  <a:srgbClr val="5F6B73"/>
                </a:solidFill>
                <a:latin typeface="Arial"/>
                <a:ea typeface="Arial"/>
                <a:cs typeface="Arial"/>
              </a:rPr>
              <a:t>Checkpoint chọn theo validation MAE_macro</a:t>
            </a:r>
          </a:p>
        </p:txBody>
      </p:sp>
      <p:graphicFrame>
        <p:nvGraphicFramePr>
          <p:cNvPr id="13" name=""/>
          <p:cNvGraphicFramePr/>
          <p:nvPr/>
        </p:nvGraphicFramePr>
        <p:xfrm>
          <a:off xmlns:a="http://schemas.openxmlformats.org/drawingml/2006/main" x="857250" y="1428750"/>
          <a:ext xmlns:a="http://schemas.openxmlformats.org/drawingml/2006/main" cx="10477500" cy="3619500"/>
        </p:xfrm>
        <a:graphic xmlns:a="http://schemas.openxmlformats.org/drawingml/2006/main">
          <a:graphicData uri="http://schemas.openxmlformats.org/drawingml/2006/table">
            <a:tbl>
              <a:tblPr/>
              <a:tblGrid>
                <a:gridCol w="3143250"/>
                <a:gridCol w="7334250"/>
              </a:tblGrid>
              <a:tr h="517071">
                <a:tc>
                  <a:txBody>
                    <a:bodyPr/>
                    <a:lstStyle/>
                    <a:p>
                      <a:r>
                        <a:rPr sz="1125" b="1">
                          <a:solidFill>
                            <a:srgbClr val="FFFFFF"/>
                          </a:solidFill>
                          <a:latin typeface="Arial"/>
                          <a:ea typeface="Arial"/>
                          <a:cs typeface="Arial"/>
                        </a:rPr>
                        <a:t>Hạng mục</a:t>
                      </a:r>
                    </a:p>
                  </a:txBody>
                  <a:tcPr marL="95250" marR="95250" marT="66675" marB="66675" anchor="ctr">
                    <a:solidFill>
                      <a:srgbClr val="103A5C"/>
                    </a:solidFill>
                  </a:tcPr>
                </a:tc>
                <a:tc>
                  <a:txBody>
                    <a:bodyPr/>
                    <a:lstStyle/>
                    <a:p>
                      <a:r>
                        <a:rPr sz="1125" b="1">
                          <a:solidFill>
                            <a:srgbClr val="FFFFFF"/>
                          </a:solidFill>
                          <a:latin typeface="Arial"/>
                          <a:ea typeface="Arial"/>
                          <a:cs typeface="Arial"/>
                        </a:rPr>
                        <a:t>Cấu hình</a:t>
                      </a:r>
                    </a:p>
                  </a:txBody>
                  <a:tcPr marL="95250" marR="95250" marT="66675" marB="66675" anchor="ctr">
                    <a:solidFill>
                      <a:srgbClr val="103A5C"/>
                    </a:solidFill>
                  </a:tcPr>
                </a:tc>
              </a:tr>
              <a:tr h="517071">
                <a:tc>
                  <a:txBody>
                    <a:bodyPr/>
                    <a:lstStyle/>
                    <a:p>
                      <a:r>
                        <a:rPr sz="1050">
                          <a:solidFill>
                            <a:srgbClr val="17242E"/>
                          </a:solidFill>
                          <a:latin typeface="Arial"/>
                          <a:ea typeface="Arial"/>
                          <a:cs typeface="Arial"/>
                        </a:rPr>
                        <a:t>Optimizer</a:t>
                      </a:r>
                    </a:p>
                  </a:txBody>
                  <a:tcPr marL="95250" marR="95250" marT="57150" marB="57150" anchor="ctr"/>
                </a:tc>
                <a:tc>
                  <a:txBody>
                    <a:bodyPr/>
                    <a:lstStyle/>
                    <a:p>
                      <a:r>
                        <a:rPr sz="1050">
                          <a:solidFill>
                            <a:srgbClr val="17242E"/>
                          </a:solidFill>
                          <a:latin typeface="Arial"/>
                          <a:ea typeface="Arial"/>
                          <a:cs typeface="Arial"/>
                        </a:rPr>
                        <a:t>AdamW • lr 10⁻³ • weight decay 10⁻⁴</a:t>
                      </a:r>
                    </a:p>
                  </a:txBody>
                  <a:tcPr marL="95250" marR="95250" marT="57150" marB="57150" anchor="ctr"/>
                </a:tc>
              </a:tr>
              <a:tr h="517071">
                <a:tc>
                  <a:txBody>
                    <a:bodyPr/>
                    <a:lstStyle/>
                    <a:p>
                      <a:r>
                        <a:rPr sz="1050">
                          <a:solidFill>
                            <a:srgbClr val="17242E"/>
                          </a:solidFill>
                          <a:latin typeface="Arial"/>
                          <a:ea typeface="Arial"/>
                          <a:cs typeface="Arial"/>
                        </a:rPr>
                        <a:t>Huấn luyện</a:t>
                      </a:r>
                    </a:p>
                  </a:txBody>
                  <a:tcPr marL="95250" marR="95250" marT="57150" marB="57150" anchor="ctr"/>
                </a:tc>
                <a:tc>
                  <a:txBody>
                    <a:bodyPr/>
                    <a:lstStyle/>
                    <a:p>
                      <a:r>
                        <a:rPr sz="1050">
                          <a:solidFill>
                            <a:srgbClr val="17242E"/>
                          </a:solidFill>
                          <a:latin typeface="Arial"/>
                          <a:ea typeface="Arial"/>
                          <a:cs typeface="Arial"/>
                        </a:rPr>
                        <a:t>batch 64 • tối đa 100 epoch • patience 15</a:t>
                      </a:r>
                    </a:p>
                  </a:txBody>
                  <a:tcPr marL="95250" marR="95250" marT="57150" marB="57150" anchor="ctr"/>
                </a:tc>
              </a:tr>
              <a:tr h="517071">
                <a:tc>
                  <a:txBody>
                    <a:bodyPr/>
                    <a:lstStyle/>
                    <a:p>
                      <a:r>
                        <a:rPr sz="1050">
                          <a:solidFill>
                            <a:srgbClr val="17242E"/>
                          </a:solidFill>
                          <a:latin typeface="Arial"/>
                          <a:ea typeface="Arial"/>
                          <a:cs typeface="Arial"/>
                        </a:rPr>
                        <a:t>Seed</a:t>
                      </a:r>
                    </a:p>
                  </a:txBody>
                  <a:tcPr marL="95250" marR="95250" marT="57150" marB="57150" anchor="ctr"/>
                </a:tc>
                <a:tc>
                  <a:txBody>
                    <a:bodyPr/>
                    <a:lstStyle/>
                    <a:p>
                      <a:r>
                        <a:rPr sz="1050">
                          <a:solidFill>
                            <a:srgbClr val="17242E"/>
                          </a:solidFill>
                          <a:latin typeface="Arial"/>
                          <a:ea typeface="Arial"/>
                          <a:cs typeface="Arial"/>
                        </a:rPr>
                        <a:t>42 • 123 • 999</a:t>
                      </a:r>
                    </a:p>
                  </a:txBody>
                  <a:tcPr marL="95250" marR="95250" marT="57150" marB="57150" anchor="ctr"/>
                </a:tc>
              </a:tr>
              <a:tr h="517071">
                <a:tc>
                  <a:txBody>
                    <a:bodyPr/>
                    <a:lstStyle/>
                    <a:p>
                      <a:r>
                        <a:rPr sz="1050">
                          <a:solidFill>
                            <a:srgbClr val="17242E"/>
                          </a:solidFill>
                          <a:latin typeface="Arial"/>
                          <a:ea typeface="Arial"/>
                          <a:cs typeface="Arial"/>
                        </a:rPr>
                        <a:t>Checkpoint</a:t>
                      </a:r>
                    </a:p>
                  </a:txBody>
                  <a:tcPr marL="95250" marR="95250" marT="57150" marB="57150" anchor="ctr"/>
                </a:tc>
                <a:tc>
                  <a:txBody>
                    <a:bodyPr/>
                    <a:lstStyle/>
                    <a:p>
                      <a:r>
                        <a:rPr sz="1050">
                          <a:solidFill>
                            <a:srgbClr val="17242E"/>
                          </a:solidFill>
                          <a:latin typeface="Arial"/>
                          <a:ea typeface="Arial"/>
                          <a:cs typeface="Arial"/>
                        </a:rPr>
                        <a:t>epoch có validation MAE_macro thấp nhất</a:t>
                      </a:r>
                    </a:p>
                  </a:txBody>
                  <a:tcPr marL="95250" marR="95250" marT="57150" marB="57150" anchor="ctr"/>
                </a:tc>
              </a:tr>
              <a:tr h="517071">
                <a:tc>
                  <a:txBody>
                    <a:bodyPr/>
                    <a:lstStyle/>
                    <a:p>
                      <a:r>
                        <a:rPr sz="1050">
                          <a:solidFill>
                            <a:srgbClr val="17242E"/>
                          </a:solidFill>
                          <a:latin typeface="Arial"/>
                          <a:ea typeface="Arial"/>
                          <a:cs typeface="Arial"/>
                        </a:rPr>
                        <a:t>Đánh giá</a:t>
                      </a:r>
                    </a:p>
                  </a:txBody>
                  <a:tcPr marL="95250" marR="95250" marT="57150" marB="57150" anchor="ctr"/>
                </a:tc>
                <a:tc>
                  <a:txBody>
                    <a:bodyPr/>
                    <a:lstStyle/>
                    <a:p>
                      <a:r>
                        <a:rPr sz="1050">
                          <a:solidFill>
                            <a:srgbClr val="17242E"/>
                          </a:solidFill>
                          <a:latin typeface="Arial"/>
                          <a:ea typeface="Arial"/>
                          <a:cs typeface="Arial"/>
                        </a:rPr>
                        <a:t>model.eval() • test không tuning</a:t>
                      </a:r>
                    </a:p>
                  </a:txBody>
                  <a:tcPr marL="95250" marR="95250" marT="57150" marB="57150" anchor="ctr"/>
                </a:tc>
              </a:tr>
              <a:tr h="517071">
                <a:tc>
                  <a:txBody>
                    <a:bodyPr/>
                    <a:lstStyle/>
                    <a:p>
                      <a:r>
                        <a:rPr sz="1050">
                          <a:solidFill>
                            <a:srgbClr val="17242E"/>
                          </a:solidFill>
                          <a:latin typeface="Arial"/>
                          <a:ea typeface="Arial"/>
                          <a:cs typeface="Arial"/>
                        </a:rPr>
                        <a:t>CPU benchmark</a:t>
                      </a:r>
                    </a:p>
                  </a:txBody>
                  <a:tcPr marL="95250" marR="95250" marT="57150" marB="57150" anchor="ctr"/>
                </a:tc>
                <a:tc>
                  <a:txBody>
                    <a:bodyPr/>
                    <a:lstStyle/>
                    <a:p>
                      <a:r>
                        <a:rPr sz="1050">
                          <a:solidFill>
                            <a:srgbClr val="17242E"/>
                          </a:solidFill>
                          <a:latin typeface="Arial"/>
                          <a:ea typeface="Arial"/>
                          <a:cs typeface="Arial"/>
                        </a:rPr>
                        <a:t>batch=1 • 1 thread • 100 warm-up • 1.000 lượt</a:t>
                      </a:r>
                    </a:p>
                  </a:txBody>
                  <a:tcPr marL="95250" marR="95250" marT="57150" marB="57150" anchor="ctr"/>
                </a:tc>
              </a:tr>
            </a:tbl>
          </a:graphicData>
        </a:graphic>
      </p:graphicFrame>
      <p:sp>
        <p:nvSpPr>
          <p:cNvPr id="5" name="">
            <a:extLst xmlns:a="http://schemas.openxmlformats.org/drawingml/2006/main">
              <a:ext uri="{FF2B5EF4-FFF2-40B4-BE49-F238E27FC236}">
                <a16:creationId xmlns:a16="http://schemas.microsoft.com/office/drawing/2014/main" id="{FE573F3E-1053-4B56-9E7A-C27D66D4130C}"/>
              </a:ext>
            </a:extLst>
          </p:cNvPr>
          <p:cNvSpPr>
            <a:spLocks xmlns:a="http://schemas.openxmlformats.org/drawingml/2006/main" noGrp="1"/>
          </p:cNvSpPr>
          <p:nvPr/>
        </p:nvSpPr>
        <p:spPr>
          <a:xfrm xmlns:a="http://schemas.openxmlformats.org/drawingml/2006/main">
            <a:off x="1143000" y="5314950"/>
            <a:ext cx="9906000" cy="457200"/>
          </a:xfrm>
          <a:prstGeom xmlns:a="http://schemas.openxmlformats.org/drawingml/2006/main" prst="rect">
            <a:avLst/>
          </a:prstGeom>
          <a:solidFill xmlns:a="http://schemas.openxmlformats.org/drawingml/2006/main">
            <a:srgbClr val="EAF3F8"/>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800" b="1">
                <a:solidFill>
                  <a:srgbClr val="103A5C"/>
                </a:solidFill>
                <a:latin typeface="Arial"/>
                <a:ea typeface="Arial"/>
                <a:cs typeface="Arial"/>
              </a:defRPr>
            </a:pPr>
            <a:r>
              <a:rPr sz="1800" b="1">
                <a:solidFill>
                  <a:srgbClr val="103A5C"/>
                </a:solidFill>
                <a:latin typeface="Arial"/>
                <a:ea typeface="Arial"/>
                <a:cs typeface="Arial"/>
              </a:rPr>
              <a:t>MAE_macro = trung bình đều MAE của S14, S15, S16, S17</a:t>
            </a:r>
          </a:p>
        </p:txBody>
      </p:sp>
      <p:sp>
        <p:nvSpPr>
          <p:cNvPr id="6" name="">
            <a:extLst xmlns:a="http://schemas.openxmlformats.org/drawingml/2006/main">
              <a:ext uri="{FF2B5EF4-FFF2-40B4-BE49-F238E27FC236}">
                <a16:creationId xmlns:a16="http://schemas.microsoft.com/office/drawing/2014/main" id="{890C21E2-83BA-4AED-B95F-F0ED78AC352D}"/>
              </a:ext>
            </a:extLst>
          </p:cNvPr>
          <p:cNvSpPr>
            <a:spLocks xmlns:a="http://schemas.openxmlformats.org/drawingml/2006/main" noGrp="1"/>
          </p:cNvSpPr>
          <p:nvPr/>
        </p:nvSpPr>
        <p:spPr>
          <a:xfrm xmlns:a="http://schemas.openxmlformats.org/drawingml/2006/main">
            <a:off x="1143000" y="5857875"/>
            <a:ext cx="990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0">
                <a:solidFill>
                  <a:srgbClr val="5F6B73"/>
                </a:solidFill>
                <a:latin typeface="Arial"/>
                <a:ea typeface="Arial"/>
                <a:cs typeface="Arial"/>
              </a:defRPr>
            </a:pPr>
            <a:r>
              <a:rPr sz="1350" b="0">
                <a:solidFill>
                  <a:srgbClr val="5F6B73"/>
                </a:solidFill>
                <a:latin typeface="Arial"/>
                <a:ea typeface="Arial"/>
                <a:cs typeface="Arial"/>
              </a:rPr>
              <a:t>Ba seed mô tả biến thiên huấn luyện — không phải ba tập test độc lập.</a:t>
            </a:r>
          </a:p>
        </p:txBody>
      </p:sp>
      <p:sp>
        <p:nvSpPr>
          <p:cNvPr id="7" name="">
            <a:extLst xmlns:a="http://schemas.openxmlformats.org/drawingml/2006/main">
              <a:ext uri="{FF2B5EF4-FFF2-40B4-BE49-F238E27FC236}">
                <a16:creationId xmlns:a16="http://schemas.microsoft.com/office/drawing/2014/main" id="{9C199986-0998-4DB0-90D7-5852ACD5855C}"/>
              </a:ext>
            </a:extLst>
          </p:cNvPr>
          <p:cNvSpPr>
            <a:spLocks xmlns:a="http://schemas.openxmlformats.org/drawingml/2006/main" noGrp="1"/>
          </p:cNvSpPr>
          <p:nvPr/>
        </p:nvSpPr>
        <p:spPr>
          <a:xfrm xmlns:a="http://schemas.openxmlformats.org/drawingml/2006/main">
            <a:off x="685800" y="6467475"/>
            <a:ext cx="10820400" cy="9525"/>
          </a:xfrm>
          <a:prstGeom xmlns:a="http://schemas.openxmlformats.org/drawingml/2006/main" prst="line">
            <a:avLst/>
          </a:prstGeom>
          <a:noFill xmlns:a="http://schemas.openxmlformats.org/drawingml/2006/main"/>
          <a:ln xmlns:a="http://schemas.openxmlformats.org/drawingml/2006/main" w="9525">
            <a:solidFill>
              <a:srgbClr val="C9D3DB"/>
            </a:solidFill>
          </a:ln>
        </p:spPr>
      </p:sp>
      <p:sp>
        <p:nvSpPr>
          <p:cNvPr id="8" name="">
            <a:extLst xmlns:a="http://schemas.openxmlformats.org/drawingml/2006/main">
              <a:ext uri="{FF2B5EF4-FFF2-40B4-BE49-F238E27FC236}">
                <a16:creationId xmlns:a16="http://schemas.microsoft.com/office/drawing/2014/main" id="{E625F907-D602-42DF-9604-3A760EB89153}"/>
              </a:ext>
            </a:extLst>
          </p:cNvPr>
          <p:cNvSpPr>
            <a:spLocks xmlns:a="http://schemas.openxmlformats.org/drawingml/2006/main" noGrp="1"/>
          </p:cNvSpPr>
          <p:nvPr/>
        </p:nvSpPr>
        <p:spPr>
          <a:xfrm xmlns:a="http://schemas.openxmlformats.org/drawingml/2006/main">
            <a:off x="685800" y="6505575"/>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l">
              <a:defRPr sz="825" b="0">
                <a:solidFill>
                  <a:srgbClr val="5F6B73"/>
                </a:solidFill>
                <a:latin typeface="Arial"/>
                <a:ea typeface="Arial"/>
                <a:cs typeface="Arial"/>
              </a:defRPr>
            </a:pPr>
            <a:r>
              <a:rPr sz="825" b="0">
                <a:solidFill>
                  <a:srgbClr val="5F6B73"/>
                </a:solidFill>
                <a:latin typeface="Arial"/>
                <a:ea typeface="Arial"/>
                <a:cs typeface="Arial"/>
              </a:rPr>
              <a:t>Đ18 • Trần Tiến Thịnh • 22110236</a:t>
            </a:r>
          </a:p>
        </p:txBody>
      </p:sp>
      <p:sp>
        <p:nvSpPr>
          <p:cNvPr id="9" name="">
            <a:extLst xmlns:a="http://schemas.openxmlformats.org/drawingml/2006/main">
              <a:ext uri="{FF2B5EF4-FFF2-40B4-BE49-F238E27FC236}">
                <a16:creationId xmlns:a16="http://schemas.microsoft.com/office/drawing/2014/main" id="{57770D63-67A3-45C1-A772-BB4341034A42}"/>
              </a:ext>
            </a:extLst>
          </p:cNvPr>
          <p:cNvSpPr>
            <a:spLocks xmlns:a="http://schemas.openxmlformats.org/drawingml/2006/main" noGrp="1"/>
          </p:cNvSpPr>
          <p:nvPr/>
        </p:nvSpPr>
        <p:spPr>
          <a:xfrm xmlns:a="http://schemas.openxmlformats.org/drawingml/2006/main">
            <a:off x="10763250" y="6505575"/>
            <a:ext cx="742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r">
              <a:defRPr sz="825" b="0">
                <a:solidFill>
                  <a:srgbClr val="5F6B73"/>
                </a:solidFill>
                <a:latin typeface="Arial"/>
                <a:ea typeface="Arial"/>
                <a:cs typeface="Arial"/>
              </a:defRPr>
            </a:pPr>
            <a:r>
              <a:rPr sz="825" b="0">
                <a:solidFill>
                  <a:srgbClr val="5F6B73"/>
                </a:solidFill>
                <a:latin typeface="Arial"/>
                <a:ea typeface="Arial"/>
                <a:cs typeface="Arial"/>
              </a:rPr>
              <a:t>05</a:t>
            </a:r>
          </a:p>
        </p:txBody>
      </p:sp>
    </p:spTree>
    <p:extLst>
      <p:ext uri="{BB962C8B-B14F-4D97-AF65-F5344CB8AC3E}">
        <p14:creationId xmlns:p14="http://schemas.microsoft.com/office/powerpoint/2010/main" val="4960621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7963097-F069-43E7-B289-0E8A791F8523}"/>
              </a:ext>
            </a:extLst>
          </p:cNvPr>
          <p:cNvSpPr>
            <a:spLocks xmlns:a="http://schemas.openxmlformats.org/drawingml/2006/main" noGrp="1"/>
          </p:cNvSpPr>
          <p:nvPr/>
        </p:nvSpPr>
        <p:spPr>
          <a:xfrm xmlns:a="http://schemas.openxmlformats.org/drawingml/2006/main">
            <a:off x="685800" y="3619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550" b="1">
                <a:solidFill>
                  <a:srgbClr val="103A5C"/>
                </a:solidFill>
                <a:latin typeface="Arial"/>
                <a:ea typeface="Arial"/>
                <a:cs typeface="Arial"/>
              </a:defRPr>
            </a:pPr>
            <a:r>
              <a:rPr sz="2550" b="1">
                <a:solidFill>
                  <a:srgbClr val="103A5C"/>
                </a:solidFill>
                <a:latin typeface="Arial"/>
                <a:ea typeface="Arial"/>
                <a:cs typeface="Arial"/>
              </a:rPr>
              <a:t>Kết quả tổng thể trên cùng manifest v2</a:t>
            </a:r>
          </a:p>
        </p:txBody>
      </p:sp>
      <p:sp>
        <p:nvSpPr>
          <p:cNvPr id="2" name="">
            <a:extLst xmlns:a="http://schemas.openxmlformats.org/drawingml/2006/main">
              <a:ext uri="{FF2B5EF4-FFF2-40B4-BE49-F238E27FC236}">
                <a16:creationId xmlns:a16="http://schemas.microsoft.com/office/drawing/2014/main" id="{A1590EF7-5A82-4DCE-BEC6-27E51CAE5CE4}"/>
              </a:ext>
            </a:extLst>
          </p:cNvPr>
          <p:cNvSpPr>
            <a:spLocks xmlns:a="http://schemas.openxmlformats.org/drawingml/2006/main" noGrp="1"/>
          </p:cNvSpPr>
          <p:nvPr/>
        </p:nvSpPr>
        <p:spPr>
          <a:xfrm xmlns:a="http://schemas.openxmlformats.org/drawingml/2006/main">
            <a:off x="685800" y="1000125"/>
            <a:ext cx="819150" cy="47625"/>
          </a:xfrm>
          <a:prstGeom xmlns:a="http://schemas.openxmlformats.org/drawingml/2006/main" prst="rect">
            <a:avLst/>
          </a:prstGeom>
          <a:solidFill xmlns:a="http://schemas.openxmlformats.org/drawingml/2006/main">
            <a:srgbClr val="D32F2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3F7F02A-0313-4A46-A656-2AB43DAFEA33}"/>
              </a:ext>
            </a:extLst>
          </p:cNvPr>
          <p:cNvSpPr>
            <a:spLocks xmlns:a="http://schemas.openxmlformats.org/drawingml/2006/main" noGrp="1"/>
          </p:cNvSpPr>
          <p:nvPr/>
        </p:nvSpPr>
        <p:spPr>
          <a:xfrm xmlns:a="http://schemas.openxmlformats.org/drawingml/2006/main">
            <a:off x="1666875" y="8667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5F6B73"/>
                </a:solidFill>
                <a:latin typeface="Arial"/>
                <a:ea typeface="Arial"/>
                <a:cs typeface="Arial"/>
              </a:defRPr>
            </a:pPr>
            <a:r>
              <a:rPr sz="1125" b="0">
                <a:solidFill>
                  <a:srgbClr val="5F6B73"/>
                </a:solidFill>
                <a:latin typeface="Arial"/>
                <a:ea typeface="Arial"/>
                <a:cs typeface="Arial"/>
              </a:rPr>
              <a:t>MAE_macro test — thấp hơn là tốt hơn</a:t>
            </a:r>
          </a:p>
        </p:txBody>
      </p:sp>
      <p:graphicFrame>
        <p:nvGraphicFramePr>
          <p:cNvPr id="18" name="Chart"/>
          <p:cNvGraphicFramePr/>
          <p:nvPr/>
        </p:nvGraphicFramePr>
        <p:xfrm>
          <a:off xmlns:a="http://schemas.openxmlformats.org/drawingml/2006/main" x="666750" y="1381125"/>
          <a:ext xmlns:a="http://schemas.openxmlformats.org/drawingml/2006/main" cx="7143750" cy="4286250"/>
        </p:xfrm>
        <a:graphic xmlns:a="http://schemas.openxmlformats.org/drawingml/2006/main">
          <a:graphicData uri="http://schemas.openxmlformats.org/drawingml/2006/chart">
            <c:chart xmlns:r="http://schemas.openxmlformats.org/officeDocument/2006/relationships" xmlns:c="http://schemas.openxmlformats.org/drawingml/2006/chart" r:id="Rfc406e668d9e41ef"/>
          </a:graphicData>
        </a:graphic>
      </p:graphicFrame>
      <p:sp>
        <p:nvSpPr>
          <p:cNvPr id="5" name="">
            <a:extLst xmlns:a="http://schemas.openxmlformats.org/drawingml/2006/main">
              <a:ext uri="{FF2B5EF4-FFF2-40B4-BE49-F238E27FC236}">
                <a16:creationId xmlns:a16="http://schemas.microsoft.com/office/drawing/2014/main" id="{E4E04766-4350-4C8D-80C5-B4D1DADE91FB}"/>
              </a:ext>
            </a:extLst>
          </p:cNvPr>
          <p:cNvSpPr>
            <a:spLocks xmlns:a="http://schemas.openxmlformats.org/drawingml/2006/main" noGrp="1"/>
          </p:cNvSpPr>
          <p:nvPr/>
        </p:nvSpPr>
        <p:spPr>
          <a:xfrm xmlns:a="http://schemas.openxmlformats.org/drawingml/2006/main">
            <a:off x="8286750" y="1524000"/>
            <a:ext cx="2571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1">
                <a:solidFill>
                  <a:srgbClr val="1769AA"/>
                </a:solidFill>
                <a:latin typeface="Arial"/>
                <a:ea typeface="Arial"/>
                <a:cs typeface="Arial"/>
              </a:defRPr>
            </a:pPr>
            <a:r>
              <a:rPr sz="1575" b="1">
                <a:solidFill>
                  <a:srgbClr val="1769AA"/>
                </a:solidFill>
                <a:latin typeface="Arial"/>
                <a:ea typeface="Arial"/>
                <a:cs typeface="Arial"/>
              </a:rPr>
              <a:t>A0</a:t>
            </a:r>
          </a:p>
        </p:txBody>
      </p:sp>
      <p:sp>
        <p:nvSpPr>
          <p:cNvPr id="6" name="">
            <a:extLst xmlns:a="http://schemas.openxmlformats.org/drawingml/2006/main">
              <a:ext uri="{FF2B5EF4-FFF2-40B4-BE49-F238E27FC236}">
                <a16:creationId xmlns:a16="http://schemas.microsoft.com/office/drawing/2014/main" id="{ABCA0B93-A59B-4229-B597-DE4541BE5480}"/>
              </a:ext>
            </a:extLst>
          </p:cNvPr>
          <p:cNvSpPr>
            <a:spLocks xmlns:a="http://schemas.openxmlformats.org/drawingml/2006/main" noGrp="1"/>
          </p:cNvSpPr>
          <p:nvPr/>
        </p:nvSpPr>
        <p:spPr>
          <a:xfrm xmlns:a="http://schemas.openxmlformats.org/drawingml/2006/main">
            <a:off x="8286750" y="1905000"/>
            <a:ext cx="29051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3A5C"/>
                </a:solidFill>
                <a:latin typeface="Arial"/>
                <a:ea typeface="Arial"/>
                <a:cs typeface="Arial"/>
              </a:defRPr>
            </a:pPr>
            <a:r>
              <a:rPr sz="2325" b="1">
                <a:solidFill>
                  <a:srgbClr val="103A5C"/>
                </a:solidFill>
                <a:latin typeface="Arial"/>
                <a:ea typeface="Arial"/>
                <a:cs typeface="Arial"/>
              </a:rPr>
              <a:t>8,867 ± 0,253 BPM</a:t>
            </a:r>
          </a:p>
        </p:txBody>
      </p:sp>
      <p:sp>
        <p:nvSpPr>
          <p:cNvPr id="7" name="">
            <a:extLst xmlns:a="http://schemas.openxmlformats.org/drawingml/2006/main">
              <a:ext uri="{FF2B5EF4-FFF2-40B4-BE49-F238E27FC236}">
                <a16:creationId xmlns:a16="http://schemas.microsoft.com/office/drawing/2014/main" id="{504480D1-90BD-4DD8-B05D-663AFB444562}"/>
              </a:ext>
            </a:extLst>
          </p:cNvPr>
          <p:cNvSpPr>
            <a:spLocks xmlns:a="http://schemas.openxmlformats.org/drawingml/2006/main" noGrp="1"/>
          </p:cNvSpPr>
          <p:nvPr/>
        </p:nvSpPr>
        <p:spPr>
          <a:xfrm xmlns:a="http://schemas.openxmlformats.org/drawingml/2006/main">
            <a:off x="8286750" y="2457450"/>
            <a:ext cx="2905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59A14F"/>
                </a:solidFill>
                <a:latin typeface="Arial"/>
                <a:ea typeface="Arial"/>
                <a:cs typeface="Arial"/>
              </a:defRPr>
            </a:pPr>
            <a:r>
              <a:rPr sz="1650" b="1">
                <a:solidFill>
                  <a:srgbClr val="59A14F"/>
                </a:solidFill>
                <a:latin typeface="Arial"/>
                <a:ea typeface="Arial"/>
                <a:cs typeface="Arial"/>
              </a:rPr>
              <a:t>↓ 35,0% so với FFT</a:t>
            </a:r>
          </a:p>
        </p:txBody>
      </p:sp>
      <p:sp>
        <p:nvSpPr>
          <p:cNvPr id="8" name="">
            <a:extLst xmlns:a="http://schemas.openxmlformats.org/drawingml/2006/main">
              <a:ext uri="{FF2B5EF4-FFF2-40B4-BE49-F238E27FC236}">
                <a16:creationId xmlns:a16="http://schemas.microsoft.com/office/drawing/2014/main" id="{9E045FA4-4093-4D09-81A1-81C00B4E3A72}"/>
              </a:ext>
            </a:extLst>
          </p:cNvPr>
          <p:cNvSpPr>
            <a:spLocks xmlns:a="http://schemas.openxmlformats.org/drawingml/2006/main" noGrp="1"/>
          </p:cNvSpPr>
          <p:nvPr/>
        </p:nvSpPr>
        <p:spPr>
          <a:xfrm xmlns:a="http://schemas.openxmlformats.org/drawingml/2006/main">
            <a:off x="8286750" y="3286125"/>
            <a:ext cx="2905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D32F2F"/>
                </a:solidFill>
                <a:latin typeface="Arial"/>
                <a:ea typeface="Arial"/>
                <a:cs typeface="Arial"/>
              </a:defRPr>
            </a:pPr>
            <a:r>
              <a:rPr sz="1500" b="1">
                <a:solidFill>
                  <a:srgbClr val="D32F2F"/>
                </a:solidFill>
                <a:latin typeface="Arial"/>
                <a:ea typeface="Arial"/>
                <a:cs typeface="Arial"/>
              </a:rPr>
              <a:t>A3 thấp nhất</a:t>
            </a:r>
          </a:p>
        </p:txBody>
      </p:sp>
      <p:sp>
        <p:nvSpPr>
          <p:cNvPr id="9" name="">
            <a:extLst xmlns:a="http://schemas.openxmlformats.org/drawingml/2006/main">
              <a:ext uri="{FF2B5EF4-FFF2-40B4-BE49-F238E27FC236}">
                <a16:creationId xmlns:a16="http://schemas.microsoft.com/office/drawing/2014/main" id="{82DFE768-FB30-446E-A6B3-C487015E1FF7}"/>
              </a:ext>
            </a:extLst>
          </p:cNvPr>
          <p:cNvSpPr>
            <a:spLocks xmlns:a="http://schemas.openxmlformats.org/drawingml/2006/main" noGrp="1"/>
          </p:cNvSpPr>
          <p:nvPr/>
        </p:nvSpPr>
        <p:spPr>
          <a:xfrm xmlns:a="http://schemas.openxmlformats.org/drawingml/2006/main">
            <a:off x="8286750" y="3667125"/>
            <a:ext cx="29051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175" b="1">
                <a:solidFill>
                  <a:srgbClr val="103A5C"/>
                </a:solidFill>
                <a:latin typeface="Arial"/>
                <a:ea typeface="Arial"/>
                <a:cs typeface="Arial"/>
              </a:defRPr>
            </a:pPr>
            <a:r>
              <a:rPr sz="2175" b="1">
                <a:solidFill>
                  <a:srgbClr val="103A5C"/>
                </a:solidFill>
                <a:latin typeface="Arial"/>
                <a:ea typeface="Arial"/>
                <a:cs typeface="Arial"/>
              </a:rPr>
              <a:t>8,280 ± 0,328 BPM</a:t>
            </a:r>
          </a:p>
        </p:txBody>
      </p:sp>
      <p:sp>
        <p:nvSpPr>
          <p:cNvPr id="10" name="">
            <a:extLst xmlns:a="http://schemas.openxmlformats.org/drawingml/2006/main">
              <a:ext uri="{FF2B5EF4-FFF2-40B4-BE49-F238E27FC236}">
                <a16:creationId xmlns:a16="http://schemas.microsoft.com/office/drawing/2014/main" id="{B0FAD67C-B939-4335-8BFB-38957243875B}"/>
              </a:ext>
            </a:extLst>
          </p:cNvPr>
          <p:cNvSpPr>
            <a:spLocks xmlns:a="http://schemas.openxmlformats.org/drawingml/2006/main" noGrp="1"/>
          </p:cNvSpPr>
          <p:nvPr/>
        </p:nvSpPr>
        <p:spPr>
          <a:xfrm xmlns:a="http://schemas.openxmlformats.org/drawingml/2006/main">
            <a:off x="8096250" y="4619625"/>
            <a:ext cx="3286125" cy="590550"/>
          </a:xfrm>
          <a:prstGeom xmlns:a="http://schemas.openxmlformats.org/drawingml/2006/main" prst="rect">
            <a:avLst/>
          </a:prstGeom>
          <a:solidFill xmlns:a="http://schemas.openxmlformats.org/drawingml/2006/main">
            <a:srgbClr val="D32F2F"/>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Mục tiêu ≤7 BPM: chưa đạt</a:t>
            </a:r>
          </a:p>
        </p:txBody>
      </p:sp>
      <p:sp>
        <p:nvSpPr>
          <p:cNvPr id="11" name="">
            <a:extLst xmlns:a="http://schemas.openxmlformats.org/drawingml/2006/main">
              <a:ext uri="{FF2B5EF4-FFF2-40B4-BE49-F238E27FC236}">
                <a16:creationId xmlns:a16="http://schemas.microsoft.com/office/drawing/2014/main" id="{DBF7962B-FC1E-43B9-B71D-A230AA3D8A81}"/>
              </a:ext>
            </a:extLst>
          </p:cNvPr>
          <p:cNvSpPr>
            <a:spLocks xmlns:a="http://schemas.openxmlformats.org/drawingml/2006/main" noGrp="1"/>
          </p:cNvSpPr>
          <p:nvPr/>
        </p:nvSpPr>
        <p:spPr>
          <a:xfrm xmlns:a="http://schemas.openxmlformats.org/drawingml/2006/main">
            <a:off x="8096250" y="5314950"/>
            <a:ext cx="3286125" cy="457200"/>
          </a:xfrm>
          <a:prstGeom xmlns:a="http://schemas.openxmlformats.org/drawingml/2006/main" prst="rect">
            <a:avLst/>
          </a:prstGeom>
          <a:solidFill xmlns:a="http://schemas.openxmlformats.org/drawingml/2006/main">
            <a:srgbClr val="59A14F"/>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Mục tiêu giảm ≥20%: đạt</a:t>
            </a:r>
          </a:p>
        </p:txBody>
      </p:sp>
      <p:sp>
        <p:nvSpPr>
          <p:cNvPr id="12" name="">
            <a:extLst xmlns:a="http://schemas.openxmlformats.org/drawingml/2006/main">
              <a:ext uri="{FF2B5EF4-FFF2-40B4-BE49-F238E27FC236}">
                <a16:creationId xmlns:a16="http://schemas.microsoft.com/office/drawing/2014/main" id="{B7B2B326-68FC-4E57-AE6F-998DBDE0B8E5}"/>
              </a:ext>
            </a:extLst>
          </p:cNvPr>
          <p:cNvSpPr>
            <a:spLocks xmlns:a="http://schemas.openxmlformats.org/drawingml/2006/main" noGrp="1"/>
          </p:cNvSpPr>
          <p:nvPr/>
        </p:nvSpPr>
        <p:spPr>
          <a:xfrm xmlns:a="http://schemas.openxmlformats.org/drawingml/2006/main">
            <a:off x="685800" y="6467475"/>
            <a:ext cx="10820400" cy="9525"/>
          </a:xfrm>
          <a:prstGeom xmlns:a="http://schemas.openxmlformats.org/drawingml/2006/main" prst="line">
            <a:avLst/>
          </a:prstGeom>
          <a:noFill xmlns:a="http://schemas.openxmlformats.org/drawingml/2006/main"/>
          <a:ln xmlns:a="http://schemas.openxmlformats.org/drawingml/2006/main" w="9525">
            <a:solidFill>
              <a:srgbClr val="C9D3DB"/>
            </a:solidFill>
          </a:ln>
        </p:spPr>
      </p:sp>
      <p:sp>
        <p:nvSpPr>
          <p:cNvPr id="13" name="">
            <a:extLst xmlns:a="http://schemas.openxmlformats.org/drawingml/2006/main">
              <a:ext uri="{FF2B5EF4-FFF2-40B4-BE49-F238E27FC236}">
                <a16:creationId xmlns:a16="http://schemas.microsoft.com/office/drawing/2014/main" id="{CCC57AC9-7403-4427-97FB-DF1E9DD1C1F3}"/>
              </a:ext>
            </a:extLst>
          </p:cNvPr>
          <p:cNvSpPr>
            <a:spLocks xmlns:a="http://schemas.openxmlformats.org/drawingml/2006/main" noGrp="1"/>
          </p:cNvSpPr>
          <p:nvPr/>
        </p:nvSpPr>
        <p:spPr>
          <a:xfrm xmlns:a="http://schemas.openxmlformats.org/drawingml/2006/main">
            <a:off x="685800" y="6505575"/>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l">
              <a:defRPr sz="825" b="0">
                <a:solidFill>
                  <a:srgbClr val="5F6B73"/>
                </a:solidFill>
                <a:latin typeface="Arial"/>
                <a:ea typeface="Arial"/>
                <a:cs typeface="Arial"/>
              </a:defRPr>
            </a:pPr>
            <a:r>
              <a:rPr sz="825" b="0">
                <a:solidFill>
                  <a:srgbClr val="5F6B73"/>
                </a:solidFill>
                <a:latin typeface="Arial"/>
                <a:ea typeface="Arial"/>
                <a:cs typeface="Arial"/>
              </a:rPr>
              <a:t>Đ18 • Trần Tiến Thịnh • 22110236</a:t>
            </a:r>
          </a:p>
        </p:txBody>
      </p:sp>
      <p:sp>
        <p:nvSpPr>
          <p:cNvPr id="14" name="">
            <a:extLst xmlns:a="http://schemas.openxmlformats.org/drawingml/2006/main">
              <a:ext uri="{FF2B5EF4-FFF2-40B4-BE49-F238E27FC236}">
                <a16:creationId xmlns:a16="http://schemas.microsoft.com/office/drawing/2014/main" id="{9169A51A-DB65-4A32-9555-5FB46738AA3B}"/>
              </a:ext>
            </a:extLst>
          </p:cNvPr>
          <p:cNvSpPr>
            <a:spLocks xmlns:a="http://schemas.openxmlformats.org/drawingml/2006/main" noGrp="1"/>
          </p:cNvSpPr>
          <p:nvPr/>
        </p:nvSpPr>
        <p:spPr>
          <a:xfrm xmlns:a="http://schemas.openxmlformats.org/drawingml/2006/main">
            <a:off x="10763250" y="6505575"/>
            <a:ext cx="742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r">
              <a:defRPr sz="825" b="0">
                <a:solidFill>
                  <a:srgbClr val="5F6B73"/>
                </a:solidFill>
                <a:latin typeface="Arial"/>
                <a:ea typeface="Arial"/>
                <a:cs typeface="Arial"/>
              </a:defRPr>
            </a:pPr>
            <a:r>
              <a:rPr sz="825" b="0">
                <a:solidFill>
                  <a:srgbClr val="5F6B73"/>
                </a:solidFill>
                <a:latin typeface="Arial"/>
                <a:ea typeface="Arial"/>
                <a:cs typeface="Arial"/>
              </a:rPr>
              <a:t>06</a:t>
            </a:r>
          </a:p>
        </p:txBody>
      </p:sp>
    </p:spTree>
    <p:extLst>
      <p:ext uri="{BB962C8B-B14F-4D97-AF65-F5344CB8AC3E}">
        <p14:creationId xmlns:p14="http://schemas.microsoft.com/office/powerpoint/2010/main" val="88528802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6D8B22E-DA7B-4F1F-A6CA-A5B4F5DB34F8}"/>
              </a:ext>
            </a:extLst>
          </p:cNvPr>
          <p:cNvSpPr>
            <a:spLocks xmlns:a="http://schemas.openxmlformats.org/drawingml/2006/main" noGrp="1"/>
          </p:cNvSpPr>
          <p:nvPr/>
        </p:nvSpPr>
        <p:spPr>
          <a:xfrm xmlns:a="http://schemas.openxmlformats.org/drawingml/2006/main">
            <a:off x="685800" y="3619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550" b="1">
                <a:solidFill>
                  <a:srgbClr val="103A5C"/>
                </a:solidFill>
                <a:latin typeface="Arial"/>
                <a:ea typeface="Arial"/>
                <a:cs typeface="Arial"/>
              </a:defRPr>
            </a:pPr>
            <a:r>
              <a:rPr sz="2550" b="1">
                <a:solidFill>
                  <a:srgbClr val="103A5C"/>
                </a:solidFill>
                <a:latin typeface="Arial"/>
                <a:ea typeface="Arial"/>
                <a:cs typeface="Arial"/>
              </a:rPr>
              <a:t>Sai số không đồng đều</a:t>
            </a:r>
          </a:p>
        </p:txBody>
      </p:sp>
      <p:sp>
        <p:nvSpPr>
          <p:cNvPr id="2" name="">
            <a:extLst xmlns:a="http://schemas.openxmlformats.org/drawingml/2006/main">
              <a:ext uri="{FF2B5EF4-FFF2-40B4-BE49-F238E27FC236}">
                <a16:creationId xmlns:a16="http://schemas.microsoft.com/office/drawing/2014/main" id="{2F43EFD4-5A3D-41DE-A7D4-7DAD0615ADCC}"/>
              </a:ext>
            </a:extLst>
          </p:cNvPr>
          <p:cNvSpPr>
            <a:spLocks xmlns:a="http://schemas.openxmlformats.org/drawingml/2006/main" noGrp="1"/>
          </p:cNvSpPr>
          <p:nvPr/>
        </p:nvSpPr>
        <p:spPr>
          <a:xfrm xmlns:a="http://schemas.openxmlformats.org/drawingml/2006/main">
            <a:off x="685800" y="1000125"/>
            <a:ext cx="819150" cy="47625"/>
          </a:xfrm>
          <a:prstGeom xmlns:a="http://schemas.openxmlformats.org/drawingml/2006/main" prst="rect">
            <a:avLst/>
          </a:prstGeom>
          <a:solidFill xmlns:a="http://schemas.openxmlformats.org/drawingml/2006/main">
            <a:srgbClr val="D32F2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1DC6982-03C3-4E24-9BF3-CF5828700BA0}"/>
              </a:ext>
            </a:extLst>
          </p:cNvPr>
          <p:cNvSpPr>
            <a:spLocks xmlns:a="http://schemas.openxmlformats.org/drawingml/2006/main" noGrp="1"/>
          </p:cNvSpPr>
          <p:nvPr/>
        </p:nvSpPr>
        <p:spPr>
          <a:xfrm xmlns:a="http://schemas.openxmlformats.org/drawingml/2006/main">
            <a:off x="1666875" y="8667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5F6B73"/>
                </a:solidFill>
                <a:latin typeface="Arial"/>
                <a:ea typeface="Arial"/>
                <a:cs typeface="Arial"/>
              </a:defRPr>
            </a:pPr>
            <a:r>
              <a:rPr sz="1125" b="0">
                <a:solidFill>
                  <a:srgbClr val="5F6B73"/>
                </a:solidFill>
                <a:latin typeface="Arial"/>
                <a:ea typeface="Arial"/>
                <a:cs typeface="Arial"/>
              </a:rPr>
              <a:t>Stress và khác biệt giữa người là hai điểm nghẽn chính</a:t>
            </a:r>
          </a:p>
        </p:txBody>
      </p:sp>
      <p:graphicFrame>
        <p:nvGraphicFramePr>
          <p:cNvPr id="16" name="Chart"/>
          <p:cNvGraphicFramePr/>
          <p:nvPr/>
        </p:nvGraphicFramePr>
        <p:xfrm>
          <a:off xmlns:a="http://schemas.openxmlformats.org/drawingml/2006/main" x="552450" y="1428750"/>
          <a:ext xmlns:a="http://schemas.openxmlformats.org/drawingml/2006/main" cx="5381625" cy="3714750"/>
        </p:xfrm>
        <a:graphic xmlns:a="http://schemas.openxmlformats.org/drawingml/2006/main">
          <a:graphicData uri="http://schemas.openxmlformats.org/drawingml/2006/chart">
            <c:chart xmlns:r="http://schemas.openxmlformats.org/officeDocument/2006/relationships" xmlns:c="http://schemas.openxmlformats.org/drawingml/2006/chart" r:id="R82d3b2b7c74d45f7"/>
          </a:graphicData>
        </a:graphic>
      </p:graphicFrame>
      <p:sp>
        <p:nvSpPr>
          <p:cNvPr id="5" name="">
            <a:extLst xmlns:a="http://schemas.openxmlformats.org/drawingml/2006/main">
              <a:ext uri="{FF2B5EF4-FFF2-40B4-BE49-F238E27FC236}">
                <a16:creationId xmlns:a16="http://schemas.microsoft.com/office/drawing/2014/main" id="{89DABD61-F179-4BA4-88E7-FF4FD0902577}"/>
              </a:ext>
            </a:extLst>
          </p:cNvPr>
          <p:cNvSpPr>
            <a:spLocks xmlns:a="http://schemas.openxmlformats.org/drawingml/2006/main" noGrp="1"/>
          </p:cNvSpPr>
          <p:nvPr/>
        </p:nvSpPr>
        <p:spPr>
          <a:xfrm xmlns:a="http://schemas.openxmlformats.org/drawingml/2006/main">
            <a:off x="1714500" y="1257300"/>
            <a:ext cx="304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103A5C"/>
                </a:solidFill>
                <a:latin typeface="Arial"/>
                <a:ea typeface="Arial"/>
                <a:cs typeface="Arial"/>
              </a:defRPr>
            </a:pPr>
            <a:r>
              <a:rPr sz="1350" b="1">
                <a:solidFill>
                  <a:srgbClr val="103A5C"/>
                </a:solidFill>
                <a:latin typeface="Arial"/>
                <a:ea typeface="Arial"/>
                <a:cs typeface="Arial"/>
              </a:rPr>
              <a:t>A0 theo người</a:t>
            </a:r>
          </a:p>
        </p:txBody>
      </p:sp>
      <p:graphicFrame>
        <p:nvGraphicFramePr>
          <p:cNvPr id="18" name="Chart"/>
          <p:cNvGraphicFramePr/>
          <p:nvPr/>
        </p:nvGraphicFramePr>
        <p:xfrm>
          <a:off xmlns:a="http://schemas.openxmlformats.org/drawingml/2006/main" x="6286500" y="1428750"/>
          <a:ext xmlns:a="http://schemas.openxmlformats.org/drawingml/2006/main" cx="5381625" cy="3714750"/>
        </p:xfrm>
        <a:graphic xmlns:a="http://schemas.openxmlformats.org/drawingml/2006/main">
          <a:graphicData uri="http://schemas.openxmlformats.org/drawingml/2006/chart">
            <c:chart xmlns:r="http://schemas.openxmlformats.org/officeDocument/2006/relationships" xmlns:c="http://schemas.openxmlformats.org/drawingml/2006/chart" r:id="Rcd3e071e14074b20"/>
          </a:graphicData>
        </a:graphic>
      </p:graphicFrame>
      <p:sp>
        <p:nvSpPr>
          <p:cNvPr id="7" name="">
            <a:extLst xmlns:a="http://schemas.openxmlformats.org/drawingml/2006/main">
              <a:ext uri="{FF2B5EF4-FFF2-40B4-BE49-F238E27FC236}">
                <a16:creationId xmlns:a16="http://schemas.microsoft.com/office/drawing/2014/main" id="{C286C0A3-AEAF-4165-A32A-5D7769ECFCFE}"/>
              </a:ext>
            </a:extLst>
          </p:cNvPr>
          <p:cNvSpPr>
            <a:spLocks xmlns:a="http://schemas.openxmlformats.org/drawingml/2006/main" noGrp="1"/>
          </p:cNvSpPr>
          <p:nvPr/>
        </p:nvSpPr>
        <p:spPr>
          <a:xfrm xmlns:a="http://schemas.openxmlformats.org/drawingml/2006/main">
            <a:off x="7429500" y="1257300"/>
            <a:ext cx="304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103A5C"/>
                </a:solidFill>
                <a:latin typeface="Arial"/>
                <a:ea typeface="Arial"/>
                <a:cs typeface="Arial"/>
              </a:defRPr>
            </a:pPr>
            <a:r>
              <a:rPr sz="1350" b="1">
                <a:solidFill>
                  <a:srgbClr val="103A5C"/>
                </a:solidFill>
                <a:latin typeface="Arial"/>
                <a:ea typeface="Arial"/>
                <a:cs typeface="Arial"/>
              </a:rPr>
              <a:t>A0 theo điều kiện</a:t>
            </a:r>
          </a:p>
        </p:txBody>
      </p:sp>
      <p:sp>
        <p:nvSpPr>
          <p:cNvPr id="8" name="">
            <a:extLst xmlns:a="http://schemas.openxmlformats.org/drawingml/2006/main">
              <a:ext uri="{FF2B5EF4-FFF2-40B4-BE49-F238E27FC236}">
                <a16:creationId xmlns:a16="http://schemas.microsoft.com/office/drawing/2014/main" id="{A42DAB60-7D8E-42DB-87A2-CC0B1C380A89}"/>
              </a:ext>
            </a:extLst>
          </p:cNvPr>
          <p:cNvSpPr>
            <a:spLocks xmlns:a="http://schemas.openxmlformats.org/drawingml/2006/main" noGrp="1"/>
          </p:cNvSpPr>
          <p:nvPr/>
        </p:nvSpPr>
        <p:spPr>
          <a:xfrm xmlns:a="http://schemas.openxmlformats.org/drawingml/2006/main">
            <a:off x="1047750" y="5381625"/>
            <a:ext cx="10096500" cy="457200"/>
          </a:xfrm>
          <a:prstGeom xmlns:a="http://schemas.openxmlformats.org/drawingml/2006/main" prst="rect">
            <a:avLst/>
          </a:prstGeom>
          <a:solidFill xmlns:a="http://schemas.openxmlformats.org/drawingml/2006/main">
            <a:srgbClr val="103A5C"/>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875" b="1">
                <a:solidFill>
                  <a:srgbClr val="FFFFFF"/>
                </a:solidFill>
                <a:latin typeface="Arial"/>
                <a:ea typeface="Arial"/>
                <a:cs typeface="Arial"/>
              </a:defRPr>
            </a:pPr>
            <a:r>
              <a:rPr sz="1875" b="1">
                <a:solidFill>
                  <a:srgbClr val="FFFFFF"/>
                </a:solidFill>
                <a:latin typeface="Arial"/>
                <a:ea typeface="Arial"/>
                <a:cs typeface="Arial"/>
              </a:rPr>
              <a:t>S16 cao nhất • Stress ≈ 4,8× Baseline</a:t>
            </a:r>
          </a:p>
        </p:txBody>
      </p:sp>
      <p:sp>
        <p:nvSpPr>
          <p:cNvPr id="9" name="">
            <a:extLst xmlns:a="http://schemas.openxmlformats.org/drawingml/2006/main">
              <a:ext uri="{FF2B5EF4-FFF2-40B4-BE49-F238E27FC236}">
                <a16:creationId xmlns:a16="http://schemas.microsoft.com/office/drawing/2014/main" id="{B9C1A258-8B29-4F30-A453-ED5A36E3C027}"/>
              </a:ext>
            </a:extLst>
          </p:cNvPr>
          <p:cNvSpPr>
            <a:spLocks xmlns:a="http://schemas.openxmlformats.org/drawingml/2006/main" noGrp="1"/>
          </p:cNvSpPr>
          <p:nvPr/>
        </p:nvSpPr>
        <p:spPr>
          <a:xfrm xmlns:a="http://schemas.openxmlformats.org/drawingml/2006/main">
            <a:off x="1047750" y="5905500"/>
            <a:ext cx="1009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0">
                <a:solidFill>
                  <a:srgbClr val="5F6B73"/>
                </a:solidFill>
                <a:latin typeface="Arial"/>
                <a:ea typeface="Arial"/>
                <a:cs typeface="Arial"/>
              </a:defRPr>
            </a:pPr>
            <a:r>
              <a:rPr sz="1275" b="0">
                <a:solidFill>
                  <a:srgbClr val="5F6B73"/>
                </a:solidFill>
                <a:latin typeface="Arial"/>
                <a:ea typeface="Arial"/>
                <a:cs typeface="Arial"/>
              </a:rPr>
              <a:t>Mô tả trên split hiện tại; không suy diễn Stress gây ra sai số.</a:t>
            </a:r>
          </a:p>
        </p:txBody>
      </p:sp>
      <p:sp>
        <p:nvSpPr>
          <p:cNvPr id="10" name="">
            <a:extLst xmlns:a="http://schemas.openxmlformats.org/drawingml/2006/main">
              <a:ext uri="{FF2B5EF4-FFF2-40B4-BE49-F238E27FC236}">
                <a16:creationId xmlns:a16="http://schemas.microsoft.com/office/drawing/2014/main" id="{9AC68AD7-4C46-44DB-9013-5DD3CD58EC66}"/>
              </a:ext>
            </a:extLst>
          </p:cNvPr>
          <p:cNvSpPr>
            <a:spLocks xmlns:a="http://schemas.openxmlformats.org/drawingml/2006/main" noGrp="1"/>
          </p:cNvSpPr>
          <p:nvPr/>
        </p:nvSpPr>
        <p:spPr>
          <a:xfrm xmlns:a="http://schemas.openxmlformats.org/drawingml/2006/main">
            <a:off x="685800" y="6467475"/>
            <a:ext cx="10820400" cy="9525"/>
          </a:xfrm>
          <a:prstGeom xmlns:a="http://schemas.openxmlformats.org/drawingml/2006/main" prst="line">
            <a:avLst/>
          </a:prstGeom>
          <a:noFill xmlns:a="http://schemas.openxmlformats.org/drawingml/2006/main"/>
          <a:ln xmlns:a="http://schemas.openxmlformats.org/drawingml/2006/main" w="9525">
            <a:solidFill>
              <a:srgbClr val="C9D3DB"/>
            </a:solidFill>
          </a:ln>
        </p:spPr>
      </p:sp>
      <p:sp>
        <p:nvSpPr>
          <p:cNvPr id="11" name="">
            <a:extLst xmlns:a="http://schemas.openxmlformats.org/drawingml/2006/main">
              <a:ext uri="{FF2B5EF4-FFF2-40B4-BE49-F238E27FC236}">
                <a16:creationId xmlns:a16="http://schemas.microsoft.com/office/drawing/2014/main" id="{8963AF5F-7474-498E-A7D2-F985E7740E26}"/>
              </a:ext>
            </a:extLst>
          </p:cNvPr>
          <p:cNvSpPr>
            <a:spLocks xmlns:a="http://schemas.openxmlformats.org/drawingml/2006/main" noGrp="1"/>
          </p:cNvSpPr>
          <p:nvPr/>
        </p:nvSpPr>
        <p:spPr>
          <a:xfrm xmlns:a="http://schemas.openxmlformats.org/drawingml/2006/main">
            <a:off x="685800" y="6505575"/>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l">
              <a:defRPr sz="825" b="0">
                <a:solidFill>
                  <a:srgbClr val="5F6B73"/>
                </a:solidFill>
                <a:latin typeface="Arial"/>
                <a:ea typeface="Arial"/>
                <a:cs typeface="Arial"/>
              </a:defRPr>
            </a:pPr>
            <a:r>
              <a:rPr sz="825" b="0">
                <a:solidFill>
                  <a:srgbClr val="5F6B73"/>
                </a:solidFill>
                <a:latin typeface="Arial"/>
                <a:ea typeface="Arial"/>
                <a:cs typeface="Arial"/>
              </a:rPr>
              <a:t>Đ18 • Trần Tiến Thịnh • 22110236</a:t>
            </a:r>
          </a:p>
        </p:txBody>
      </p:sp>
      <p:sp>
        <p:nvSpPr>
          <p:cNvPr id="12" name="">
            <a:extLst xmlns:a="http://schemas.openxmlformats.org/drawingml/2006/main">
              <a:ext uri="{FF2B5EF4-FFF2-40B4-BE49-F238E27FC236}">
                <a16:creationId xmlns:a16="http://schemas.microsoft.com/office/drawing/2014/main" id="{2A93B065-0C62-4285-B0A6-73417B57BD66}"/>
              </a:ext>
            </a:extLst>
          </p:cNvPr>
          <p:cNvSpPr>
            <a:spLocks xmlns:a="http://schemas.openxmlformats.org/drawingml/2006/main" noGrp="1"/>
          </p:cNvSpPr>
          <p:nvPr/>
        </p:nvSpPr>
        <p:spPr>
          <a:xfrm xmlns:a="http://schemas.openxmlformats.org/drawingml/2006/main">
            <a:off x="10763250" y="6505575"/>
            <a:ext cx="742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r">
              <a:defRPr sz="825" b="0">
                <a:solidFill>
                  <a:srgbClr val="5F6B73"/>
                </a:solidFill>
                <a:latin typeface="Arial"/>
                <a:ea typeface="Arial"/>
                <a:cs typeface="Arial"/>
              </a:defRPr>
            </a:pPr>
            <a:r>
              <a:rPr sz="825" b="0">
                <a:solidFill>
                  <a:srgbClr val="5F6B73"/>
                </a:solidFill>
                <a:latin typeface="Arial"/>
                <a:ea typeface="Arial"/>
                <a:cs typeface="Arial"/>
              </a:rPr>
              <a:t>07</a:t>
            </a:r>
          </a:p>
        </p:txBody>
      </p:sp>
    </p:spTree>
    <p:extLst>
      <p:ext uri="{BB962C8B-B14F-4D97-AF65-F5344CB8AC3E}">
        <p14:creationId xmlns:p14="http://schemas.microsoft.com/office/powerpoint/2010/main" val="72286746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3F974FD-6970-41E4-9A43-80C9A027ECC8}"/>
              </a:ext>
            </a:extLst>
          </p:cNvPr>
          <p:cNvSpPr>
            <a:spLocks xmlns:a="http://schemas.openxmlformats.org/drawingml/2006/main" noGrp="1"/>
          </p:cNvSpPr>
          <p:nvPr/>
        </p:nvSpPr>
        <p:spPr>
          <a:xfrm xmlns:a="http://schemas.openxmlformats.org/drawingml/2006/main">
            <a:off x="685800" y="3619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550" b="1">
                <a:solidFill>
                  <a:srgbClr val="103A5C"/>
                </a:solidFill>
                <a:latin typeface="Arial"/>
                <a:ea typeface="Arial"/>
                <a:cs typeface="Arial"/>
              </a:defRPr>
            </a:pPr>
            <a:r>
              <a:rPr sz="2550" b="1">
                <a:solidFill>
                  <a:srgbClr val="103A5C"/>
                </a:solidFill>
                <a:latin typeface="Arial"/>
                <a:ea typeface="Arial"/>
                <a:cs typeface="Arial"/>
              </a:rPr>
              <a:t>Bằng chứng lỗi: mô hình co về vùng HR trung bình</a:t>
            </a:r>
          </a:p>
        </p:txBody>
      </p:sp>
      <p:sp>
        <p:nvSpPr>
          <p:cNvPr id="2" name="">
            <a:extLst xmlns:a="http://schemas.openxmlformats.org/drawingml/2006/main">
              <a:ext uri="{FF2B5EF4-FFF2-40B4-BE49-F238E27FC236}">
                <a16:creationId xmlns:a16="http://schemas.microsoft.com/office/drawing/2014/main" id="{AB54498B-9725-48E8-A68E-7B61D01466AD}"/>
              </a:ext>
            </a:extLst>
          </p:cNvPr>
          <p:cNvSpPr>
            <a:spLocks xmlns:a="http://schemas.openxmlformats.org/drawingml/2006/main" noGrp="1"/>
          </p:cNvSpPr>
          <p:nvPr/>
        </p:nvSpPr>
        <p:spPr>
          <a:xfrm xmlns:a="http://schemas.openxmlformats.org/drawingml/2006/main">
            <a:off x="685800" y="1000125"/>
            <a:ext cx="819150" cy="47625"/>
          </a:xfrm>
          <a:prstGeom xmlns:a="http://schemas.openxmlformats.org/drawingml/2006/main" prst="rect">
            <a:avLst/>
          </a:prstGeom>
          <a:solidFill xmlns:a="http://schemas.openxmlformats.org/drawingml/2006/main">
            <a:srgbClr val="D32F2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3D838C9-91C1-4500-AC0C-2DF6A9A11879}"/>
              </a:ext>
            </a:extLst>
          </p:cNvPr>
          <p:cNvSpPr>
            <a:spLocks xmlns:a="http://schemas.openxmlformats.org/drawingml/2006/main" noGrp="1"/>
          </p:cNvSpPr>
          <p:nvPr/>
        </p:nvSpPr>
        <p:spPr>
          <a:xfrm xmlns:a="http://schemas.openxmlformats.org/drawingml/2006/main">
            <a:off x="1666875" y="8667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5F6B73"/>
                </a:solidFill>
                <a:latin typeface="Arial"/>
                <a:ea typeface="Arial"/>
                <a:cs typeface="Arial"/>
              </a:defRPr>
            </a:pPr>
            <a:r>
              <a:rPr sz="1125" b="0">
                <a:solidFill>
                  <a:srgbClr val="5F6B73"/>
                </a:solidFill>
                <a:latin typeface="Arial"/>
                <a:ea typeface="Arial"/>
                <a:cs typeface="Arial"/>
              </a:rPr>
              <a:t>Ca lỗi được chọn trên validation, không chọn từ test</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cd83df72046242f7"/>
          <a:stretch xmlns:a="http://schemas.openxmlformats.org/drawingml/2006/main"/>
        </p:blipFill>
        <p:spPr>
          <a:xfrm xmlns:a="http://schemas.openxmlformats.org/drawingml/2006/main">
            <a:off x="1018479" y="1381125"/>
            <a:ext cx="3735192" cy="3619500"/>
          </a:xfrm>
          <a:prstGeom xmlns:a="http://schemas.openxmlformats.org/drawingml/2006/main" prst="rect">
            <a:avLst/>
          </a:prstGeom>
        </p:spPr>
      </p:pic>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b0e3df3197bd4ab2"/>
          <a:stretch xmlns:a="http://schemas.openxmlformats.org/drawingml/2006/main"/>
        </p:blipFill>
        <p:spPr>
          <a:xfrm xmlns:a="http://schemas.openxmlformats.org/drawingml/2006/main">
            <a:off x="6167102" y="1352550"/>
            <a:ext cx="4715545" cy="37623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7CA1604-D7FF-4B9D-B3B6-0444C73D6974}"/>
              </a:ext>
            </a:extLst>
          </p:cNvPr>
          <p:cNvSpPr>
            <a:spLocks xmlns:a="http://schemas.openxmlformats.org/drawingml/2006/main" noGrp="1"/>
          </p:cNvSpPr>
          <p:nvPr/>
        </p:nvSpPr>
        <p:spPr>
          <a:xfrm xmlns:a="http://schemas.openxmlformats.org/drawingml/2006/main">
            <a:off x="857250" y="52197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D32F2F"/>
                </a:solidFill>
                <a:latin typeface="Arial"/>
                <a:ea typeface="Arial"/>
                <a:cs typeface="Arial"/>
              </a:defRPr>
            </a:pPr>
            <a:r>
              <a:rPr sz="1350" b="1">
                <a:solidFill>
                  <a:srgbClr val="D32F2F"/>
                </a:solidFill>
                <a:latin typeface="Arial"/>
                <a:ea typeface="Arial"/>
                <a:cs typeface="Arial"/>
              </a:rPr>
              <a:t>S11 • Stress</a:t>
            </a:r>
          </a:p>
        </p:txBody>
      </p:sp>
      <p:sp>
        <p:nvSpPr>
          <p:cNvPr id="7" name="">
            <a:extLst xmlns:a="http://schemas.openxmlformats.org/drawingml/2006/main">
              <a:ext uri="{FF2B5EF4-FFF2-40B4-BE49-F238E27FC236}">
                <a16:creationId xmlns:a16="http://schemas.microsoft.com/office/drawing/2014/main" id="{6926719E-DEB2-4574-906F-6A2ECF1D6A78}"/>
              </a:ext>
            </a:extLst>
          </p:cNvPr>
          <p:cNvSpPr>
            <a:spLocks xmlns:a="http://schemas.openxmlformats.org/drawingml/2006/main" noGrp="1"/>
          </p:cNvSpPr>
          <p:nvPr/>
        </p:nvSpPr>
        <p:spPr>
          <a:xfrm xmlns:a="http://schemas.openxmlformats.org/drawingml/2006/main">
            <a:off x="857250" y="5543550"/>
            <a:ext cx="3714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725" b="1">
                <a:solidFill>
                  <a:srgbClr val="103A5C"/>
                </a:solidFill>
                <a:latin typeface="Arial"/>
                <a:ea typeface="Arial"/>
                <a:cs typeface="Arial"/>
              </a:defRPr>
            </a:pPr>
            <a:r>
              <a:rPr sz="1725" b="1">
                <a:solidFill>
                  <a:srgbClr val="103A5C"/>
                </a:solidFill>
                <a:latin typeface="Arial"/>
                <a:ea typeface="Arial"/>
                <a:cs typeface="Arial"/>
              </a:rPr>
              <a:t>HR_ref 132,6 → CNN 65,2 BPM</a:t>
            </a:r>
          </a:p>
          <a:p xmlns:a="http://schemas.openxmlformats.org/drawingml/2006/main">
            <a:pPr algn="l">
              <a:defRPr sz="1725" b="1">
                <a:solidFill>
                  <a:srgbClr val="103A5C"/>
                </a:solidFill>
                <a:latin typeface="Arial"/>
                <a:ea typeface="Arial"/>
                <a:cs typeface="Arial"/>
              </a:defRPr>
            </a:pPr>
            <a:r>
              <a:rPr sz="1725" b="1">
                <a:solidFill>
                  <a:srgbClr val="103A5C"/>
                </a:solidFill>
                <a:latin typeface="Arial"/>
                <a:ea typeface="Arial"/>
                <a:cs typeface="Arial"/>
              </a:rPr>
              <a:t>|error| = 67,5 BPM</a:t>
            </a:r>
          </a:p>
        </p:txBody>
      </p:sp>
      <p:sp>
        <p:nvSpPr>
          <p:cNvPr id="8" name="">
            <a:extLst xmlns:a="http://schemas.openxmlformats.org/drawingml/2006/main">
              <a:ext uri="{FF2B5EF4-FFF2-40B4-BE49-F238E27FC236}">
                <a16:creationId xmlns:a16="http://schemas.microsoft.com/office/drawing/2014/main" id="{751EE362-8C63-4E9B-A729-B99F716B4E5E}"/>
              </a:ext>
            </a:extLst>
          </p:cNvPr>
          <p:cNvSpPr>
            <a:spLocks xmlns:a="http://schemas.openxmlformats.org/drawingml/2006/main" noGrp="1"/>
          </p:cNvSpPr>
          <p:nvPr/>
        </p:nvSpPr>
        <p:spPr>
          <a:xfrm xmlns:a="http://schemas.openxmlformats.org/drawingml/2006/main">
            <a:off x="6477000" y="5314950"/>
            <a:ext cx="4095750" cy="704850"/>
          </a:xfrm>
          <a:prstGeom xmlns:a="http://schemas.openxmlformats.org/drawingml/2006/main" prst="rect">
            <a:avLst/>
          </a:prstGeom>
          <a:solidFill xmlns:a="http://schemas.openxmlformats.org/drawingml/2006/main">
            <a:srgbClr val="EAF3F8"/>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650" b="1">
                <a:solidFill>
                  <a:srgbClr val="17242E"/>
                </a:solidFill>
                <a:latin typeface="Arial"/>
                <a:ea typeface="Arial"/>
                <a:cs typeface="Arial"/>
              </a:defRPr>
            </a:pPr>
            <a:r>
              <a:rPr sz="1650" b="1">
                <a:solidFill>
                  <a:srgbClr val="17242E"/>
                </a:solidFill>
                <a:latin typeface="Arial"/>
                <a:ea typeface="Arial"/>
                <a:cs typeface="Arial"/>
              </a:rPr>
              <a:t>Bias A0: −4,04 ± 0,86 BPM</a:t>
            </a:r>
          </a:p>
          <a:p xmlns:a="http://schemas.openxmlformats.org/drawingml/2006/main">
            <a:pPr algn="ctr">
              <a:defRPr sz="1650" b="1">
                <a:solidFill>
                  <a:srgbClr val="17242E"/>
                </a:solidFill>
                <a:latin typeface="Arial"/>
                <a:ea typeface="Arial"/>
                <a:cs typeface="Arial"/>
              </a:defRPr>
            </a:pPr>
            <a:r>
              <a:rPr sz="1650" b="1">
                <a:solidFill>
                  <a:srgbClr val="17242E"/>
                </a:solidFill>
                <a:latin typeface="Arial"/>
                <a:ea typeface="Arial"/>
                <a:cs typeface="Arial"/>
              </a:rPr>
              <a:t>Pearson r: 0,835 ± 0,009</a:t>
            </a:r>
          </a:p>
        </p:txBody>
      </p:sp>
      <p:sp>
        <p:nvSpPr>
          <p:cNvPr id="9" name="">
            <a:extLst xmlns:a="http://schemas.openxmlformats.org/drawingml/2006/main">
              <a:ext uri="{FF2B5EF4-FFF2-40B4-BE49-F238E27FC236}">
                <a16:creationId xmlns:a16="http://schemas.microsoft.com/office/drawing/2014/main" id="{4F5078C7-7136-4EF5-BB23-65A36A2B0FB8}"/>
              </a:ext>
            </a:extLst>
          </p:cNvPr>
          <p:cNvSpPr>
            <a:spLocks xmlns:a="http://schemas.openxmlformats.org/drawingml/2006/main" noGrp="1"/>
          </p:cNvSpPr>
          <p:nvPr/>
        </p:nvSpPr>
        <p:spPr>
          <a:xfrm xmlns:a="http://schemas.openxmlformats.org/drawingml/2006/main">
            <a:off x="685800" y="6467475"/>
            <a:ext cx="10820400" cy="9525"/>
          </a:xfrm>
          <a:prstGeom xmlns:a="http://schemas.openxmlformats.org/drawingml/2006/main" prst="line">
            <a:avLst/>
          </a:prstGeom>
          <a:noFill xmlns:a="http://schemas.openxmlformats.org/drawingml/2006/main"/>
          <a:ln xmlns:a="http://schemas.openxmlformats.org/drawingml/2006/main" w="9525">
            <a:solidFill>
              <a:srgbClr val="C9D3DB"/>
            </a:solidFill>
          </a:ln>
        </p:spPr>
      </p:sp>
      <p:sp>
        <p:nvSpPr>
          <p:cNvPr id="10" name="">
            <a:extLst xmlns:a="http://schemas.openxmlformats.org/drawingml/2006/main">
              <a:ext uri="{FF2B5EF4-FFF2-40B4-BE49-F238E27FC236}">
                <a16:creationId xmlns:a16="http://schemas.microsoft.com/office/drawing/2014/main" id="{F8B729B2-85A2-416F-B1F9-17B021E98B50}"/>
              </a:ext>
            </a:extLst>
          </p:cNvPr>
          <p:cNvSpPr>
            <a:spLocks xmlns:a="http://schemas.openxmlformats.org/drawingml/2006/main" noGrp="1"/>
          </p:cNvSpPr>
          <p:nvPr/>
        </p:nvSpPr>
        <p:spPr>
          <a:xfrm xmlns:a="http://schemas.openxmlformats.org/drawingml/2006/main">
            <a:off x="685800" y="6505575"/>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l">
              <a:defRPr sz="825" b="0">
                <a:solidFill>
                  <a:srgbClr val="5F6B73"/>
                </a:solidFill>
                <a:latin typeface="Arial"/>
                <a:ea typeface="Arial"/>
                <a:cs typeface="Arial"/>
              </a:defRPr>
            </a:pPr>
            <a:r>
              <a:rPr sz="825" b="0">
                <a:solidFill>
                  <a:srgbClr val="5F6B73"/>
                </a:solidFill>
                <a:latin typeface="Arial"/>
                <a:ea typeface="Arial"/>
                <a:cs typeface="Arial"/>
              </a:rPr>
              <a:t>Đ18 • Trần Tiến Thịnh • 22110236</a:t>
            </a:r>
          </a:p>
        </p:txBody>
      </p:sp>
      <p:sp>
        <p:nvSpPr>
          <p:cNvPr id="11" name="">
            <a:extLst xmlns:a="http://schemas.openxmlformats.org/drawingml/2006/main">
              <a:ext uri="{FF2B5EF4-FFF2-40B4-BE49-F238E27FC236}">
                <a16:creationId xmlns:a16="http://schemas.microsoft.com/office/drawing/2014/main" id="{59E2626E-8EA9-4C43-A5EC-527D07A24987}"/>
              </a:ext>
            </a:extLst>
          </p:cNvPr>
          <p:cNvSpPr>
            <a:spLocks xmlns:a="http://schemas.openxmlformats.org/drawingml/2006/main" noGrp="1"/>
          </p:cNvSpPr>
          <p:nvPr/>
        </p:nvSpPr>
        <p:spPr>
          <a:xfrm xmlns:a="http://schemas.openxmlformats.org/drawingml/2006/main">
            <a:off x="10763250" y="6505575"/>
            <a:ext cx="742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r">
              <a:defRPr sz="825" b="0">
                <a:solidFill>
                  <a:srgbClr val="5F6B73"/>
                </a:solidFill>
                <a:latin typeface="Arial"/>
                <a:ea typeface="Arial"/>
                <a:cs typeface="Arial"/>
              </a:defRPr>
            </a:pPr>
            <a:r>
              <a:rPr sz="825" b="0">
                <a:solidFill>
                  <a:srgbClr val="5F6B73"/>
                </a:solidFill>
                <a:latin typeface="Arial"/>
                <a:ea typeface="Arial"/>
                <a:cs typeface="Arial"/>
              </a:rPr>
              <a:t>08</a:t>
            </a:r>
          </a:p>
        </p:txBody>
      </p:sp>
    </p:spTree>
    <p:extLst>
      <p:ext uri="{BB962C8B-B14F-4D97-AF65-F5344CB8AC3E}">
        <p14:creationId xmlns:p14="http://schemas.microsoft.com/office/powerpoint/2010/main" val="190772066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9A2FC44-AFD2-4B8E-95F0-DC36BC75A88F}"/>
              </a:ext>
            </a:extLst>
          </p:cNvPr>
          <p:cNvSpPr>
            <a:spLocks xmlns:a="http://schemas.openxmlformats.org/drawingml/2006/main" noGrp="1"/>
          </p:cNvSpPr>
          <p:nvPr/>
        </p:nvSpPr>
        <p:spPr>
          <a:xfrm xmlns:a="http://schemas.openxmlformats.org/drawingml/2006/main">
            <a:off x="685800" y="3619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550" b="1">
                <a:solidFill>
                  <a:srgbClr val="103A5C"/>
                </a:solidFill>
                <a:latin typeface="Arial"/>
                <a:ea typeface="Arial"/>
                <a:cs typeface="Arial"/>
              </a:defRPr>
            </a:pPr>
            <a:r>
              <a:rPr sz="2550" b="1">
                <a:solidFill>
                  <a:srgbClr val="103A5C"/>
                </a:solidFill>
                <a:latin typeface="Arial"/>
                <a:ea typeface="Arial"/>
                <a:cs typeface="Arial"/>
              </a:rPr>
              <a:t>Ablation: thay đúng một yếu tố</a:t>
            </a:r>
          </a:p>
        </p:txBody>
      </p:sp>
      <p:sp>
        <p:nvSpPr>
          <p:cNvPr id="2" name="">
            <a:extLst xmlns:a="http://schemas.openxmlformats.org/drawingml/2006/main">
              <a:ext uri="{FF2B5EF4-FFF2-40B4-BE49-F238E27FC236}">
                <a16:creationId xmlns:a16="http://schemas.microsoft.com/office/drawing/2014/main" id="{12286ED5-D6F1-4BEA-8D3B-D2DD3B7B070D}"/>
              </a:ext>
            </a:extLst>
          </p:cNvPr>
          <p:cNvSpPr>
            <a:spLocks xmlns:a="http://schemas.openxmlformats.org/drawingml/2006/main" noGrp="1"/>
          </p:cNvSpPr>
          <p:nvPr/>
        </p:nvSpPr>
        <p:spPr>
          <a:xfrm xmlns:a="http://schemas.openxmlformats.org/drawingml/2006/main">
            <a:off x="685800" y="1000125"/>
            <a:ext cx="819150" cy="47625"/>
          </a:xfrm>
          <a:prstGeom xmlns:a="http://schemas.openxmlformats.org/drawingml/2006/main" prst="rect">
            <a:avLst/>
          </a:prstGeom>
          <a:solidFill xmlns:a="http://schemas.openxmlformats.org/drawingml/2006/main">
            <a:srgbClr val="D32F2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53B8C72-1ECE-480C-8929-85925F525BF6}"/>
              </a:ext>
            </a:extLst>
          </p:cNvPr>
          <p:cNvSpPr>
            <a:spLocks xmlns:a="http://schemas.openxmlformats.org/drawingml/2006/main" noGrp="1"/>
          </p:cNvSpPr>
          <p:nvPr/>
        </p:nvSpPr>
        <p:spPr>
          <a:xfrm xmlns:a="http://schemas.openxmlformats.org/drawingml/2006/main">
            <a:off x="1666875" y="8667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5F6B73"/>
                </a:solidFill>
                <a:latin typeface="Arial"/>
                <a:ea typeface="Arial"/>
                <a:cs typeface="Arial"/>
              </a:defRPr>
            </a:pPr>
            <a:r>
              <a:rPr sz="1125" b="0">
                <a:solidFill>
                  <a:srgbClr val="5F6B73"/>
                </a:solidFill>
                <a:latin typeface="Arial"/>
                <a:ea typeface="Arial"/>
                <a:cs typeface="Arial"/>
              </a:rPr>
              <a:t>Ba seed cho A0, A1, A3; A2 được ghi rõ chưa chạy</a:t>
            </a:r>
          </a:p>
        </p:txBody>
      </p:sp>
      <p:graphicFrame>
        <p:nvGraphicFramePr>
          <p:cNvPr id="14" name=""/>
          <p:cNvGraphicFramePr/>
          <p:nvPr/>
        </p:nvGraphicFramePr>
        <p:xfrm>
          <a:off xmlns:a="http://schemas.openxmlformats.org/drawingml/2006/main" x="666750" y="1476375"/>
          <a:ext xmlns:a="http://schemas.openxmlformats.org/drawingml/2006/main" cx="10858500" cy="2667000"/>
        </p:xfrm>
        <a:graphic xmlns:a="http://schemas.openxmlformats.org/drawingml/2006/main">
          <a:graphicData uri="http://schemas.openxmlformats.org/drawingml/2006/table">
            <a:tbl>
              <a:tblPr/>
              <a:tblGrid>
                <a:gridCol w="1619250"/>
                <a:gridCol w="3905250"/>
                <a:gridCol w="2857500"/>
                <a:gridCol w="2476500"/>
              </a:tblGrid>
              <a:tr h="533400">
                <a:tc>
                  <a:txBody>
                    <a:bodyPr/>
                    <a:lstStyle/>
                    <a:p>
                      <a:r>
                        <a:rPr sz="1125" b="1">
                          <a:solidFill>
                            <a:srgbClr val="FFFFFF"/>
                          </a:solidFill>
                          <a:latin typeface="Arial"/>
                          <a:ea typeface="Arial"/>
                          <a:cs typeface="Arial"/>
                        </a:rPr>
                        <a:t>Biến thể</a:t>
                      </a:r>
                    </a:p>
                  </a:txBody>
                  <a:tcPr marL="95250" marR="95250" marT="66675" marB="66675" anchor="ctr">
                    <a:solidFill>
                      <a:srgbClr val="103A5C"/>
                    </a:solidFill>
                  </a:tcPr>
                </a:tc>
                <a:tc>
                  <a:txBody>
                    <a:bodyPr/>
                    <a:lstStyle/>
                    <a:p>
                      <a:r>
                        <a:rPr sz="1125" b="1">
                          <a:solidFill>
                            <a:srgbClr val="FFFFFF"/>
                          </a:solidFill>
                          <a:latin typeface="Arial"/>
                          <a:ea typeface="Arial"/>
                          <a:cs typeface="Arial"/>
                        </a:rPr>
                        <a:t>Thay đổi</a:t>
                      </a:r>
                    </a:p>
                  </a:txBody>
                  <a:tcPr marL="95250" marR="95250" marT="66675" marB="66675" anchor="ctr">
                    <a:solidFill>
                      <a:srgbClr val="103A5C"/>
                    </a:solidFill>
                  </a:tcPr>
                </a:tc>
                <a:tc>
                  <a:txBody>
                    <a:bodyPr/>
                    <a:lstStyle/>
                    <a:p>
                      <a:r>
                        <a:rPr sz="1125" b="1">
                          <a:solidFill>
                            <a:srgbClr val="FFFFFF"/>
                          </a:solidFill>
                          <a:latin typeface="Arial"/>
                          <a:ea typeface="Arial"/>
                          <a:cs typeface="Arial"/>
                        </a:rPr>
                        <a:t>MAE_macro</a:t>
                      </a:r>
                    </a:p>
                  </a:txBody>
                  <a:tcPr marL="95250" marR="95250" marT="66675" marB="66675" anchor="ctr">
                    <a:solidFill>
                      <a:srgbClr val="103A5C"/>
                    </a:solidFill>
                  </a:tcPr>
                </a:tc>
                <a:tc>
                  <a:txBody>
                    <a:bodyPr/>
                    <a:lstStyle/>
                    <a:p>
                      <a:r>
                        <a:rPr sz="1125" b="1">
                          <a:solidFill>
                            <a:srgbClr val="FFFFFF"/>
                          </a:solidFill>
                          <a:latin typeface="Arial"/>
                          <a:ea typeface="Arial"/>
                          <a:cs typeface="Arial"/>
                        </a:rPr>
                        <a:t>So với E1</a:t>
                      </a:r>
                    </a:p>
                  </a:txBody>
                  <a:tcPr marL="95250" marR="95250" marT="66675" marB="66675" anchor="ctr">
                    <a:solidFill>
                      <a:srgbClr val="103A5C"/>
                    </a:solidFill>
                  </a:tcPr>
                </a:tc>
              </a:tr>
              <a:tr h="533400">
                <a:tc>
                  <a:txBody>
                    <a:bodyPr/>
                    <a:lstStyle/>
                    <a:p>
                      <a:r>
                        <a:rPr sz="1050">
                          <a:solidFill>
                            <a:srgbClr val="17242E"/>
                          </a:solidFill>
                          <a:latin typeface="Arial"/>
                          <a:ea typeface="Arial"/>
                          <a:cs typeface="Arial"/>
                        </a:rPr>
                        <a:t>A0</a:t>
                      </a:r>
                    </a:p>
                  </a:txBody>
                  <a:tcPr marL="95250" marR="95250" marT="57150" marB="57150" anchor="ctr"/>
                </a:tc>
                <a:tc>
                  <a:txBody>
                    <a:bodyPr/>
                    <a:lstStyle/>
                    <a:p>
                      <a:r>
                        <a:rPr sz="1050">
                          <a:solidFill>
                            <a:srgbClr val="17242E"/>
                          </a:solidFill>
                          <a:latin typeface="Arial"/>
                          <a:ea typeface="Arial"/>
                          <a:cs typeface="Arial"/>
                        </a:rPr>
                        <a:t>z-score + Huber + BN</a:t>
                      </a:r>
                    </a:p>
                  </a:txBody>
                  <a:tcPr marL="95250" marR="95250" marT="57150" marB="57150" anchor="ctr"/>
                </a:tc>
                <a:tc>
                  <a:txBody>
                    <a:bodyPr/>
                    <a:lstStyle/>
                    <a:p>
                      <a:r>
                        <a:rPr sz="1050">
                          <a:solidFill>
                            <a:srgbClr val="17242E"/>
                          </a:solidFill>
                          <a:latin typeface="Arial"/>
                          <a:ea typeface="Arial"/>
                          <a:cs typeface="Arial"/>
                        </a:rPr>
                        <a:t>8,867 ± 0,253</a:t>
                      </a:r>
                    </a:p>
                  </a:txBody>
                  <a:tcPr marL="95250" marR="95250" marT="57150" marB="57150" anchor="ctr"/>
                </a:tc>
                <a:tc>
                  <a:txBody>
                    <a:bodyPr/>
                    <a:lstStyle/>
                    <a:p>
                      <a:r>
                        <a:rPr sz="1050">
                          <a:solidFill>
                            <a:srgbClr val="17242E"/>
                          </a:solidFill>
                          <a:latin typeface="Arial"/>
                          <a:ea typeface="Arial"/>
                          <a:cs typeface="Arial"/>
                        </a:rPr>
                        <a:t>−35,0%</a:t>
                      </a:r>
                    </a:p>
                  </a:txBody>
                  <a:tcPr marL="95250" marR="95250" marT="57150" marB="57150" anchor="ctr"/>
                </a:tc>
              </a:tr>
              <a:tr h="533400">
                <a:tc>
                  <a:txBody>
                    <a:bodyPr/>
                    <a:lstStyle/>
                    <a:p>
                      <a:r>
                        <a:rPr sz="1050">
                          <a:solidFill>
                            <a:srgbClr val="17242E"/>
                          </a:solidFill>
                          <a:latin typeface="Arial"/>
                          <a:ea typeface="Arial"/>
                          <a:cs typeface="Arial"/>
                        </a:rPr>
                        <a:t>A1</a:t>
                      </a:r>
                    </a:p>
                  </a:txBody>
                  <a:tcPr marL="95250" marR="95250" marT="57150" marB="57150" anchor="ctr"/>
                </a:tc>
                <a:tc>
                  <a:txBody>
                    <a:bodyPr/>
                    <a:lstStyle/>
                    <a:p>
                      <a:r>
                        <a:rPr sz="1050">
                          <a:solidFill>
                            <a:srgbClr val="17242E"/>
                          </a:solidFill>
                          <a:latin typeface="Arial"/>
                          <a:ea typeface="Arial"/>
                          <a:cs typeface="Arial"/>
                        </a:rPr>
                        <a:t>Bỏ z-score</a:t>
                      </a:r>
                    </a:p>
                  </a:txBody>
                  <a:tcPr marL="95250" marR="95250" marT="57150" marB="57150" anchor="ctr"/>
                </a:tc>
                <a:tc>
                  <a:txBody>
                    <a:bodyPr/>
                    <a:lstStyle/>
                    <a:p>
                      <a:r>
                        <a:rPr sz="1050">
                          <a:solidFill>
                            <a:srgbClr val="17242E"/>
                          </a:solidFill>
                          <a:latin typeface="Arial"/>
                          <a:ea typeface="Arial"/>
                          <a:cs typeface="Arial"/>
                        </a:rPr>
                        <a:t>9,139 ± 0,095</a:t>
                      </a:r>
                    </a:p>
                  </a:txBody>
                  <a:tcPr marL="95250" marR="95250" marT="57150" marB="57150" anchor="ctr"/>
                </a:tc>
                <a:tc>
                  <a:txBody>
                    <a:bodyPr/>
                    <a:lstStyle/>
                    <a:p>
                      <a:r>
                        <a:rPr sz="1050">
                          <a:solidFill>
                            <a:srgbClr val="17242E"/>
                          </a:solidFill>
                          <a:latin typeface="Arial"/>
                          <a:ea typeface="Arial"/>
                          <a:cs typeface="Arial"/>
                        </a:rPr>
                        <a:t>−33,0%</a:t>
                      </a:r>
                    </a:p>
                  </a:txBody>
                  <a:tcPr marL="95250" marR="95250" marT="57150" marB="57150" anchor="ctr"/>
                </a:tc>
              </a:tr>
              <a:tr h="533400">
                <a:tc>
                  <a:txBody>
                    <a:bodyPr/>
                    <a:lstStyle/>
                    <a:p>
                      <a:r>
                        <a:rPr sz="1050">
                          <a:solidFill>
                            <a:srgbClr val="17242E"/>
                          </a:solidFill>
                          <a:latin typeface="Arial"/>
                          <a:ea typeface="Arial"/>
                          <a:cs typeface="Arial"/>
                        </a:rPr>
                        <a:t>A2</a:t>
                      </a:r>
                    </a:p>
                  </a:txBody>
                  <a:tcPr marL="95250" marR="95250" marT="57150" marB="57150" anchor="ctr"/>
                </a:tc>
                <a:tc>
                  <a:txBody>
                    <a:bodyPr/>
                    <a:lstStyle/>
                    <a:p>
                      <a:r>
                        <a:rPr sz="1050">
                          <a:solidFill>
                            <a:srgbClr val="17242E"/>
                          </a:solidFill>
                          <a:latin typeface="Arial"/>
                          <a:ea typeface="Arial"/>
                          <a:cs typeface="Arial"/>
                        </a:rPr>
                        <a:t>Bỏ BatchNorm</a:t>
                      </a:r>
                    </a:p>
                  </a:txBody>
                  <a:tcPr marL="95250" marR="95250" marT="57150" marB="57150" anchor="ctr"/>
                </a:tc>
                <a:tc>
                  <a:txBody>
                    <a:bodyPr/>
                    <a:lstStyle/>
                    <a:p>
                      <a:r>
                        <a:rPr sz="1050">
                          <a:solidFill>
                            <a:srgbClr val="17242E"/>
                          </a:solidFill>
                          <a:latin typeface="Arial"/>
                          <a:ea typeface="Arial"/>
                          <a:cs typeface="Arial"/>
                        </a:rPr>
                        <a:t>Chưa chạy</a:t>
                      </a:r>
                    </a:p>
                  </a:txBody>
                  <a:tcPr marL="95250" marR="95250" marT="57150" marB="57150" anchor="ctr"/>
                </a:tc>
                <a:tc>
                  <a:txBody>
                    <a:bodyPr/>
                    <a:lstStyle/>
                    <a:p>
                      <a:r>
                        <a:rPr sz="1050">
                          <a:solidFill>
                            <a:srgbClr val="17242E"/>
                          </a:solidFill>
                          <a:latin typeface="Arial"/>
                          <a:ea typeface="Arial"/>
                          <a:cs typeface="Arial"/>
                        </a:rPr>
                        <a:t>—</a:t>
                      </a:r>
                    </a:p>
                  </a:txBody>
                  <a:tcPr marL="95250" marR="95250" marT="57150" marB="57150" anchor="ctr"/>
                </a:tc>
              </a:tr>
              <a:tr h="533400">
                <a:tc>
                  <a:txBody>
                    <a:bodyPr/>
                    <a:lstStyle/>
                    <a:p>
                      <a:r>
                        <a:rPr sz="1050">
                          <a:solidFill>
                            <a:srgbClr val="17242E"/>
                          </a:solidFill>
                          <a:latin typeface="Arial"/>
                          <a:ea typeface="Arial"/>
                          <a:cs typeface="Arial"/>
                        </a:rPr>
                        <a:t>A3</a:t>
                      </a:r>
                    </a:p>
                  </a:txBody>
                  <a:tcPr marL="95250" marR="95250" marT="57150" marB="57150" anchor="ctr">
                    <a:solidFill>
                      <a:srgbClr val="E5F3E3"/>
                    </a:solidFill>
                  </a:tcPr>
                </a:tc>
                <a:tc>
                  <a:txBody>
                    <a:bodyPr/>
                    <a:lstStyle/>
                    <a:p>
                      <a:r>
                        <a:rPr sz="1050">
                          <a:solidFill>
                            <a:srgbClr val="17242E"/>
                          </a:solidFill>
                          <a:latin typeface="Arial"/>
                          <a:ea typeface="Arial"/>
                          <a:cs typeface="Arial"/>
                        </a:rPr>
                        <a:t>MSE thay Huber</a:t>
                      </a:r>
                    </a:p>
                  </a:txBody>
                  <a:tcPr marL="95250" marR="95250" marT="57150" marB="57150" anchor="ctr">
                    <a:solidFill>
                      <a:srgbClr val="E5F3E3"/>
                    </a:solidFill>
                  </a:tcPr>
                </a:tc>
                <a:tc>
                  <a:txBody>
                    <a:bodyPr/>
                    <a:lstStyle/>
                    <a:p>
                      <a:r>
                        <a:rPr sz="1050">
                          <a:solidFill>
                            <a:srgbClr val="17242E"/>
                          </a:solidFill>
                          <a:latin typeface="Arial"/>
                          <a:ea typeface="Arial"/>
                          <a:cs typeface="Arial"/>
                        </a:rPr>
                        <a:t>8,280 ± 0,328</a:t>
                      </a:r>
                    </a:p>
                  </a:txBody>
                  <a:tcPr marL="95250" marR="95250" marT="57150" marB="57150" anchor="ctr">
                    <a:solidFill>
                      <a:srgbClr val="E5F3E3"/>
                    </a:solidFill>
                  </a:tcPr>
                </a:tc>
                <a:tc>
                  <a:txBody>
                    <a:bodyPr/>
                    <a:lstStyle/>
                    <a:p>
                      <a:r>
                        <a:rPr sz="1050">
                          <a:solidFill>
                            <a:srgbClr val="17242E"/>
                          </a:solidFill>
                          <a:latin typeface="Arial"/>
                          <a:ea typeface="Arial"/>
                          <a:cs typeface="Arial"/>
                        </a:rPr>
                        <a:t>−39,3%</a:t>
                      </a:r>
                    </a:p>
                  </a:txBody>
                  <a:tcPr marL="95250" marR="95250" marT="57150" marB="57150" anchor="ctr">
                    <a:solidFill>
                      <a:srgbClr val="E5F3E3"/>
                    </a:solidFill>
                  </a:tcPr>
                </a:tc>
              </a:tr>
            </a:tbl>
          </a:graphicData>
        </a:graphic>
      </p:graphicFrame>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53ecb3ae60794d23"/>
          <a:stretch xmlns:a="http://schemas.openxmlformats.org/drawingml/2006/main"/>
        </p:blipFill>
        <p:spPr>
          <a:xfrm xmlns:a="http://schemas.openxmlformats.org/drawingml/2006/main">
            <a:off x="1622356" y="4333875"/>
            <a:ext cx="4565788" cy="1714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5694468-81FA-4481-B6D4-7B28652DFA97}"/>
              </a:ext>
            </a:extLst>
          </p:cNvPr>
          <p:cNvSpPr>
            <a:spLocks xmlns:a="http://schemas.openxmlformats.org/drawingml/2006/main" noGrp="1"/>
          </p:cNvSpPr>
          <p:nvPr/>
        </p:nvSpPr>
        <p:spPr>
          <a:xfrm xmlns:a="http://schemas.openxmlformats.org/drawingml/2006/main">
            <a:off x="7334250" y="4476750"/>
            <a:ext cx="3190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D32F2F"/>
                </a:solidFill>
                <a:latin typeface="Arial"/>
                <a:ea typeface="Arial"/>
                <a:cs typeface="Arial"/>
              </a:defRPr>
            </a:pPr>
            <a:r>
              <a:rPr sz="1500" b="1">
                <a:solidFill>
                  <a:srgbClr val="D32F2F"/>
                </a:solidFill>
                <a:latin typeface="Arial"/>
                <a:ea typeface="Arial"/>
                <a:cs typeface="Arial"/>
              </a:rPr>
              <a:t>Kết luận</a:t>
            </a:r>
          </a:p>
        </p:txBody>
      </p:sp>
      <p:sp>
        <p:nvSpPr>
          <p:cNvPr id="7" name="">
            <a:extLst xmlns:a="http://schemas.openxmlformats.org/drawingml/2006/main">
              <a:ext uri="{FF2B5EF4-FFF2-40B4-BE49-F238E27FC236}">
                <a16:creationId xmlns:a16="http://schemas.microsoft.com/office/drawing/2014/main" id="{2DD1A097-F45B-4E9E-86F4-3100D536FB0F}"/>
              </a:ext>
            </a:extLst>
          </p:cNvPr>
          <p:cNvSpPr>
            <a:spLocks xmlns:a="http://schemas.openxmlformats.org/drawingml/2006/main" noGrp="1"/>
          </p:cNvSpPr>
          <p:nvPr/>
        </p:nvSpPr>
        <p:spPr>
          <a:xfrm xmlns:a="http://schemas.openxmlformats.org/drawingml/2006/main">
            <a:off x="7096125" y="4857750"/>
            <a:ext cx="3714750" cy="1123950"/>
          </a:xfrm>
          <a:prstGeom xmlns:a="http://schemas.openxmlformats.org/drawingml/2006/main" prst="rect">
            <a:avLst/>
          </a:prstGeom>
          <a:solidFill xmlns:a="http://schemas.openxmlformats.org/drawingml/2006/main">
            <a:srgbClr val="EAF3F8"/>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75" b="1">
                <a:solidFill>
                  <a:srgbClr val="103A5C"/>
                </a:solidFill>
                <a:latin typeface="Arial"/>
                <a:ea typeface="Arial"/>
                <a:cs typeface="Arial"/>
              </a:defRPr>
            </a:pPr>
            <a:r>
              <a:rPr sz="1575" b="1">
                <a:solidFill>
                  <a:srgbClr val="103A5C"/>
                </a:solidFill>
                <a:latin typeface="Arial"/>
                <a:ea typeface="Arial"/>
                <a:cs typeface="Arial"/>
              </a:rPr>
              <a:t>Z-score giúp A0 tốt hơn A1.</a:t>
            </a:r>
          </a:p>
          <a:p xmlns:a="http://schemas.openxmlformats.org/drawingml/2006/main">
            <a:pPr algn="ctr">
              <a:defRPr sz="1575" b="1">
                <a:solidFill>
                  <a:srgbClr val="103A5C"/>
                </a:solidFill>
                <a:latin typeface="Arial"/>
                <a:ea typeface="Arial"/>
                <a:cs typeface="Arial"/>
              </a:defRPr>
            </a:pPr>
            <a:r>
              <a:rPr sz="1575" b="1">
                <a:solidFill>
                  <a:srgbClr val="103A5C"/>
                </a:solidFill>
                <a:latin typeface="Arial"/>
                <a:ea typeface="Arial"/>
                <a:cs typeface="Arial"/>
              </a:rPr>
              <a:t>MSE tốt hơn Huber trên split này.</a:t>
            </a:r>
          </a:p>
          <a:p xmlns:a="http://schemas.openxmlformats.org/drawingml/2006/main">
            <a:pPr algn="ctr">
              <a:defRPr sz="1575" b="1">
                <a:solidFill>
                  <a:srgbClr val="103A5C"/>
                </a:solidFill>
                <a:latin typeface="Arial"/>
                <a:ea typeface="Arial"/>
                <a:cs typeface="Arial"/>
              </a:defRPr>
            </a:pPr>
            <a:r>
              <a:rPr sz="1575" b="1">
                <a:solidFill>
                  <a:srgbClr val="103A5C"/>
                </a:solidFill>
                <a:latin typeface="Arial"/>
                <a:ea typeface="Arial"/>
                <a:cs typeface="Arial"/>
              </a:rPr>
              <a:t>Chưa đủ để khái quát ngoài WESAD.</a:t>
            </a:r>
          </a:p>
        </p:txBody>
      </p:sp>
      <p:sp>
        <p:nvSpPr>
          <p:cNvPr id="8" name="">
            <a:extLst xmlns:a="http://schemas.openxmlformats.org/drawingml/2006/main">
              <a:ext uri="{FF2B5EF4-FFF2-40B4-BE49-F238E27FC236}">
                <a16:creationId xmlns:a16="http://schemas.microsoft.com/office/drawing/2014/main" id="{1FD59376-4074-47A1-AD25-3615AC5AC31D}"/>
              </a:ext>
            </a:extLst>
          </p:cNvPr>
          <p:cNvSpPr>
            <a:spLocks xmlns:a="http://schemas.openxmlformats.org/drawingml/2006/main" noGrp="1"/>
          </p:cNvSpPr>
          <p:nvPr/>
        </p:nvSpPr>
        <p:spPr>
          <a:xfrm xmlns:a="http://schemas.openxmlformats.org/drawingml/2006/main">
            <a:off x="685800" y="6467475"/>
            <a:ext cx="10820400" cy="9525"/>
          </a:xfrm>
          <a:prstGeom xmlns:a="http://schemas.openxmlformats.org/drawingml/2006/main" prst="line">
            <a:avLst/>
          </a:prstGeom>
          <a:noFill xmlns:a="http://schemas.openxmlformats.org/drawingml/2006/main"/>
          <a:ln xmlns:a="http://schemas.openxmlformats.org/drawingml/2006/main" w="9525">
            <a:solidFill>
              <a:srgbClr val="C9D3DB"/>
            </a:solidFill>
          </a:ln>
        </p:spPr>
      </p:sp>
      <p:sp>
        <p:nvSpPr>
          <p:cNvPr id="9" name="">
            <a:extLst xmlns:a="http://schemas.openxmlformats.org/drawingml/2006/main">
              <a:ext uri="{FF2B5EF4-FFF2-40B4-BE49-F238E27FC236}">
                <a16:creationId xmlns:a16="http://schemas.microsoft.com/office/drawing/2014/main" id="{4728B174-5E75-4529-8C2C-5D92B75C04F4}"/>
              </a:ext>
            </a:extLst>
          </p:cNvPr>
          <p:cNvSpPr>
            <a:spLocks xmlns:a="http://schemas.openxmlformats.org/drawingml/2006/main" noGrp="1"/>
          </p:cNvSpPr>
          <p:nvPr/>
        </p:nvSpPr>
        <p:spPr>
          <a:xfrm xmlns:a="http://schemas.openxmlformats.org/drawingml/2006/main">
            <a:off x="685800" y="6505575"/>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l">
              <a:defRPr sz="825" b="0">
                <a:solidFill>
                  <a:srgbClr val="5F6B73"/>
                </a:solidFill>
                <a:latin typeface="Arial"/>
                <a:ea typeface="Arial"/>
                <a:cs typeface="Arial"/>
              </a:defRPr>
            </a:pPr>
            <a:r>
              <a:rPr sz="825" b="0">
                <a:solidFill>
                  <a:srgbClr val="5F6B73"/>
                </a:solidFill>
                <a:latin typeface="Arial"/>
                <a:ea typeface="Arial"/>
                <a:cs typeface="Arial"/>
              </a:rPr>
              <a:t>Đ18 • Trần Tiến Thịnh • 22110236</a:t>
            </a:r>
          </a:p>
        </p:txBody>
      </p:sp>
      <p:sp>
        <p:nvSpPr>
          <p:cNvPr id="10" name="">
            <a:extLst xmlns:a="http://schemas.openxmlformats.org/drawingml/2006/main">
              <a:ext uri="{FF2B5EF4-FFF2-40B4-BE49-F238E27FC236}">
                <a16:creationId xmlns:a16="http://schemas.microsoft.com/office/drawing/2014/main" id="{EBDC7197-CF4E-4A0C-9752-CE85F3814E17}"/>
              </a:ext>
            </a:extLst>
          </p:cNvPr>
          <p:cNvSpPr>
            <a:spLocks xmlns:a="http://schemas.openxmlformats.org/drawingml/2006/main" noGrp="1"/>
          </p:cNvSpPr>
          <p:nvPr/>
        </p:nvSpPr>
        <p:spPr>
          <a:xfrm xmlns:a="http://schemas.openxmlformats.org/drawingml/2006/main">
            <a:off x="10763250" y="6505575"/>
            <a:ext cx="742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r">
              <a:defRPr sz="825" b="0">
                <a:solidFill>
                  <a:srgbClr val="5F6B73"/>
                </a:solidFill>
                <a:latin typeface="Arial"/>
                <a:ea typeface="Arial"/>
                <a:cs typeface="Arial"/>
              </a:defRPr>
            </a:pPr>
            <a:r>
              <a:rPr sz="825" b="0">
                <a:solidFill>
                  <a:srgbClr val="5F6B73"/>
                </a:solidFill>
                <a:latin typeface="Arial"/>
                <a:ea typeface="Arial"/>
                <a:cs typeface="Arial"/>
              </a:rPr>
              <a:t>09</a:t>
            </a:r>
          </a:p>
        </p:txBody>
      </p:sp>
    </p:spTree>
    <p:extLst>
      <p:ext uri="{BB962C8B-B14F-4D97-AF65-F5344CB8AC3E}">
        <p14:creationId xmlns:p14="http://schemas.microsoft.com/office/powerpoint/2010/main" val="44765811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C8E9A01-2C3A-43BB-BB9C-2EBBA3DB919A}"/>
              </a:ext>
            </a:extLst>
          </p:cNvPr>
          <p:cNvSpPr>
            <a:spLocks xmlns:a="http://schemas.openxmlformats.org/drawingml/2006/main" noGrp="1"/>
          </p:cNvSpPr>
          <p:nvPr/>
        </p:nvSpPr>
        <p:spPr>
          <a:xfrm xmlns:a="http://schemas.openxmlformats.org/drawingml/2006/main">
            <a:off x="685800" y="3619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550" b="1">
                <a:solidFill>
                  <a:srgbClr val="103A5C"/>
                </a:solidFill>
                <a:latin typeface="Arial"/>
                <a:ea typeface="Arial"/>
                <a:cs typeface="Arial"/>
              </a:defRPr>
            </a:pPr>
            <a:r>
              <a:rPr sz="2550" b="1">
                <a:solidFill>
                  <a:srgbClr val="103A5C"/>
                </a:solidFill>
                <a:latin typeface="Arial"/>
                <a:ea typeface="Arial"/>
                <a:cs typeface="Arial"/>
              </a:rPr>
              <a:t>Độ trễ CPU nhỏ — nhưng pipeline hiện tại vẫn offline</a:t>
            </a:r>
          </a:p>
        </p:txBody>
      </p:sp>
      <p:sp>
        <p:nvSpPr>
          <p:cNvPr id="2" name="">
            <a:extLst xmlns:a="http://schemas.openxmlformats.org/drawingml/2006/main">
              <a:ext uri="{FF2B5EF4-FFF2-40B4-BE49-F238E27FC236}">
                <a16:creationId xmlns:a16="http://schemas.microsoft.com/office/drawing/2014/main" id="{9308F803-67D1-463F-AC7A-79AA1BFA6FA3}"/>
              </a:ext>
            </a:extLst>
          </p:cNvPr>
          <p:cNvSpPr>
            <a:spLocks xmlns:a="http://schemas.openxmlformats.org/drawingml/2006/main" noGrp="1"/>
          </p:cNvSpPr>
          <p:nvPr/>
        </p:nvSpPr>
        <p:spPr>
          <a:xfrm xmlns:a="http://schemas.openxmlformats.org/drawingml/2006/main">
            <a:off x="685800" y="1000125"/>
            <a:ext cx="819150" cy="47625"/>
          </a:xfrm>
          <a:prstGeom xmlns:a="http://schemas.openxmlformats.org/drawingml/2006/main" prst="rect">
            <a:avLst/>
          </a:prstGeom>
          <a:solidFill xmlns:a="http://schemas.openxmlformats.org/drawingml/2006/main">
            <a:srgbClr val="D32F2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AC8EE1F-0C95-407B-96EF-DA14EFB8A38D}"/>
              </a:ext>
            </a:extLst>
          </p:cNvPr>
          <p:cNvSpPr>
            <a:spLocks xmlns:a="http://schemas.openxmlformats.org/drawingml/2006/main" noGrp="1"/>
          </p:cNvSpPr>
          <p:nvPr/>
        </p:nvSpPr>
        <p:spPr>
          <a:xfrm xmlns:a="http://schemas.openxmlformats.org/drawingml/2006/main">
            <a:off x="1666875" y="8667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5F6B73"/>
                </a:solidFill>
                <a:latin typeface="Arial"/>
                <a:ea typeface="Arial"/>
                <a:cs typeface="Arial"/>
              </a:defRPr>
            </a:pPr>
            <a:r>
              <a:rPr sz="1125" b="0">
                <a:solidFill>
                  <a:srgbClr val="5F6B73"/>
                </a:solidFill>
                <a:latin typeface="Arial"/>
                <a:ea typeface="Arial"/>
                <a:cs typeface="Arial"/>
              </a:rPr>
              <a:t>Intel CPU • PyTorch 2.14 CPU • 1 thread • batch=1</a:t>
            </a:r>
          </a:p>
        </p:txBody>
      </p:sp>
      <p:graphicFrame>
        <p:nvGraphicFramePr>
          <p:cNvPr id="18" name="Chart"/>
          <p:cNvGraphicFramePr/>
          <p:nvPr/>
        </p:nvGraphicFramePr>
        <p:xfrm>
          <a:off xmlns:a="http://schemas.openxmlformats.org/drawingml/2006/main" x="666750" y="1571625"/>
          <a:ext xmlns:a="http://schemas.openxmlformats.org/drawingml/2006/main" cx="5810250" cy="3619500"/>
        </p:xfrm>
        <a:graphic xmlns:a="http://schemas.openxmlformats.org/drawingml/2006/main">
          <a:graphicData uri="http://schemas.openxmlformats.org/drawingml/2006/chart">
            <c:chart xmlns:r="http://schemas.openxmlformats.org/officeDocument/2006/relationships" xmlns:c="http://schemas.openxmlformats.org/drawingml/2006/chart" r:id="R5b0797a6d59541cc"/>
          </a:graphicData>
        </a:graphic>
      </p:graphicFrame>
      <p:sp>
        <p:nvSpPr>
          <p:cNvPr id="5" name="">
            <a:extLst xmlns:a="http://schemas.openxmlformats.org/drawingml/2006/main">
              <a:ext uri="{FF2B5EF4-FFF2-40B4-BE49-F238E27FC236}">
                <a16:creationId xmlns:a16="http://schemas.microsoft.com/office/drawing/2014/main" id="{CCD38610-279D-4D6E-B9E8-D8D3F019A65C}"/>
              </a:ext>
            </a:extLst>
          </p:cNvPr>
          <p:cNvSpPr>
            <a:spLocks xmlns:a="http://schemas.openxmlformats.org/drawingml/2006/main" noGrp="1"/>
          </p:cNvSpPr>
          <p:nvPr/>
        </p:nvSpPr>
        <p:spPr>
          <a:xfrm xmlns:a="http://schemas.openxmlformats.org/drawingml/2006/main">
            <a:off x="1095375" y="521970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0">
                <a:solidFill>
                  <a:srgbClr val="5F6B73"/>
                </a:solidFill>
                <a:latin typeface="Arial"/>
                <a:ea typeface="Arial"/>
                <a:cs typeface="Arial"/>
              </a:defRPr>
            </a:pPr>
            <a:r>
              <a:rPr sz="1125" b="0">
                <a:solidFill>
                  <a:srgbClr val="5F6B73"/>
                </a:solidFill>
                <a:latin typeface="Arial"/>
                <a:ea typeface="Arial"/>
                <a:cs typeface="Arial"/>
              </a:rPr>
              <a:t>Đơn vị biểu đồ: µs (1.000 µs = 1 ms)</a:t>
            </a:r>
          </a:p>
        </p:txBody>
      </p:sp>
      <p:sp>
        <p:nvSpPr>
          <p:cNvPr id="6" name="">
            <a:extLst xmlns:a="http://schemas.openxmlformats.org/drawingml/2006/main">
              <a:ext uri="{FF2B5EF4-FFF2-40B4-BE49-F238E27FC236}">
                <a16:creationId xmlns:a16="http://schemas.microsoft.com/office/drawing/2014/main" id="{040187BF-3C56-42A7-8F8A-5B19ED65F582}"/>
              </a:ext>
            </a:extLst>
          </p:cNvPr>
          <p:cNvSpPr>
            <a:spLocks xmlns:a="http://schemas.openxmlformats.org/drawingml/2006/main" noGrp="1"/>
          </p:cNvSpPr>
          <p:nvPr/>
        </p:nvSpPr>
        <p:spPr>
          <a:xfrm xmlns:a="http://schemas.openxmlformats.org/drawingml/2006/main">
            <a:off x="7239000" y="1571625"/>
            <a:ext cx="342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3600" b="1">
                <a:solidFill>
                  <a:srgbClr val="D32F2F"/>
                </a:solidFill>
                <a:latin typeface="Arial"/>
                <a:ea typeface="Arial"/>
                <a:cs typeface="Arial"/>
              </a:defRPr>
            </a:pPr>
            <a:r>
              <a:rPr sz="3600" b="1">
                <a:solidFill>
                  <a:srgbClr val="D32F2F"/>
                </a:solidFill>
                <a:latin typeface="Arial"/>
                <a:ea typeface="Arial"/>
                <a:cs typeface="Arial"/>
              </a:rPr>
              <a:t>11.153</a:t>
            </a:r>
          </a:p>
        </p:txBody>
      </p:sp>
      <p:sp>
        <p:nvSpPr>
          <p:cNvPr id="7" name="">
            <a:extLst xmlns:a="http://schemas.openxmlformats.org/drawingml/2006/main">
              <a:ext uri="{FF2B5EF4-FFF2-40B4-BE49-F238E27FC236}">
                <a16:creationId xmlns:a16="http://schemas.microsoft.com/office/drawing/2014/main" id="{165A9CBA-0470-4F43-8D56-A2925D329CBE}"/>
              </a:ext>
            </a:extLst>
          </p:cNvPr>
          <p:cNvSpPr>
            <a:spLocks xmlns:a="http://schemas.openxmlformats.org/drawingml/2006/main" noGrp="1"/>
          </p:cNvSpPr>
          <p:nvPr/>
        </p:nvSpPr>
        <p:spPr>
          <a:xfrm xmlns:a="http://schemas.openxmlformats.org/drawingml/2006/main">
            <a:off x="7239000" y="2266950"/>
            <a:ext cx="342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444"/>
          </a:bodyPr>
          <a:lstStyle xmlns:a="http://schemas.openxmlformats.org/drawingml/2006/main"/>
          <a:p xmlns:a="http://schemas.openxmlformats.org/drawingml/2006/main">
            <a:pPr algn="ctr">
              <a:defRPr sz="1350" b="0">
                <a:solidFill>
                  <a:srgbClr val="5F6B73"/>
                </a:solidFill>
                <a:latin typeface="Arial"/>
                <a:ea typeface="Arial"/>
                <a:cs typeface="Arial"/>
              </a:defRPr>
            </a:pPr>
            <a:r>
              <a:rPr sz="1350" b="0">
                <a:solidFill>
                  <a:srgbClr val="5F6B73"/>
                </a:solidFill>
                <a:latin typeface="Arial"/>
                <a:ea typeface="Arial"/>
                <a:cs typeface="Arial"/>
              </a:rPr>
              <a:t>tham số</a:t>
            </a:r>
          </a:p>
        </p:txBody>
      </p:sp>
      <p:sp>
        <p:nvSpPr>
          <p:cNvPr id="8" name="">
            <a:extLst xmlns:a="http://schemas.openxmlformats.org/drawingml/2006/main">
              <a:ext uri="{FF2B5EF4-FFF2-40B4-BE49-F238E27FC236}">
                <a16:creationId xmlns:a16="http://schemas.microsoft.com/office/drawing/2014/main" id="{CD82C3AD-EBEA-4B8F-8174-C55E17345493}"/>
              </a:ext>
            </a:extLst>
          </p:cNvPr>
          <p:cNvSpPr>
            <a:spLocks xmlns:a="http://schemas.openxmlformats.org/drawingml/2006/main" noGrp="1"/>
          </p:cNvSpPr>
          <p:nvPr/>
        </p:nvSpPr>
        <p:spPr>
          <a:xfrm xmlns:a="http://schemas.openxmlformats.org/drawingml/2006/main">
            <a:off x="7239000" y="2857500"/>
            <a:ext cx="342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2550" b="1">
                <a:solidFill>
                  <a:srgbClr val="103A5C"/>
                </a:solidFill>
                <a:latin typeface="Arial"/>
                <a:ea typeface="Arial"/>
                <a:cs typeface="Arial"/>
              </a:defRPr>
            </a:pPr>
            <a:r>
              <a:rPr sz="2550" b="1">
                <a:solidFill>
                  <a:srgbClr val="103A5C"/>
                </a:solidFill>
                <a:latin typeface="Arial"/>
                <a:ea typeface="Arial"/>
                <a:cs typeface="Arial"/>
              </a:rPr>
              <a:t>53.089 byte</a:t>
            </a:r>
          </a:p>
        </p:txBody>
      </p:sp>
      <p:sp>
        <p:nvSpPr>
          <p:cNvPr id="9" name="">
            <a:extLst xmlns:a="http://schemas.openxmlformats.org/drawingml/2006/main">
              <a:ext uri="{FF2B5EF4-FFF2-40B4-BE49-F238E27FC236}">
                <a16:creationId xmlns:a16="http://schemas.microsoft.com/office/drawing/2014/main" id="{4BECB49E-497B-431E-A4C3-D05AD205011C}"/>
              </a:ext>
            </a:extLst>
          </p:cNvPr>
          <p:cNvSpPr>
            <a:spLocks xmlns:a="http://schemas.openxmlformats.org/drawingml/2006/main" noGrp="1"/>
          </p:cNvSpPr>
          <p:nvPr/>
        </p:nvSpPr>
        <p:spPr>
          <a:xfrm xmlns:a="http://schemas.openxmlformats.org/drawingml/2006/main">
            <a:off x="7239000" y="3429000"/>
            <a:ext cx="342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444"/>
          </a:bodyPr>
          <a:lstStyle xmlns:a="http://schemas.openxmlformats.org/drawingml/2006/main"/>
          <a:p xmlns:a="http://schemas.openxmlformats.org/drawingml/2006/main">
            <a:pPr algn="ctr">
              <a:defRPr sz="1350" b="0">
                <a:solidFill>
                  <a:srgbClr val="5F6B73"/>
                </a:solidFill>
                <a:latin typeface="Arial"/>
                <a:ea typeface="Arial"/>
                <a:cs typeface="Arial"/>
              </a:defRPr>
            </a:pPr>
            <a:r>
              <a:rPr sz="1350" b="0">
                <a:solidFill>
                  <a:srgbClr val="5F6B73"/>
                </a:solidFill>
                <a:latin typeface="Arial"/>
                <a:ea typeface="Arial"/>
                <a:cs typeface="Arial"/>
              </a:rPr>
              <a:t>checkpoint</a:t>
            </a:r>
          </a:p>
        </p:txBody>
      </p:sp>
      <p:sp>
        <p:nvSpPr>
          <p:cNvPr id="10" name="">
            <a:extLst xmlns:a="http://schemas.openxmlformats.org/drawingml/2006/main">
              <a:ext uri="{FF2B5EF4-FFF2-40B4-BE49-F238E27FC236}">
                <a16:creationId xmlns:a16="http://schemas.microsoft.com/office/drawing/2014/main" id="{91300709-1D62-4D34-89C6-3983EFCAA376}"/>
              </a:ext>
            </a:extLst>
          </p:cNvPr>
          <p:cNvSpPr>
            <a:spLocks xmlns:a="http://schemas.openxmlformats.org/drawingml/2006/main" noGrp="1"/>
          </p:cNvSpPr>
          <p:nvPr/>
        </p:nvSpPr>
        <p:spPr>
          <a:xfrm xmlns:a="http://schemas.openxmlformats.org/drawingml/2006/main">
            <a:off x="6953250" y="4143375"/>
            <a:ext cx="4000500" cy="514350"/>
          </a:xfrm>
          <a:prstGeom xmlns:a="http://schemas.openxmlformats.org/drawingml/2006/main" prst="rect">
            <a:avLst/>
          </a:prstGeom>
          <a:solidFill xmlns:a="http://schemas.openxmlformats.org/drawingml/2006/main">
            <a:srgbClr val="103A5C"/>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725" b="1">
                <a:solidFill>
                  <a:srgbClr val="FFFFFF"/>
                </a:solidFill>
                <a:latin typeface="Arial"/>
                <a:ea typeface="Arial"/>
                <a:cs typeface="Arial"/>
              </a:defRPr>
            </a:pPr>
            <a:r>
              <a:rPr sz="1725" b="1">
                <a:solidFill>
                  <a:srgbClr val="FFFFFF"/>
                </a:solidFill>
                <a:latin typeface="Arial"/>
                <a:ea typeface="Arial"/>
                <a:cs typeface="Arial"/>
              </a:rPr>
              <a:t>8 s quan sát  •  cập nhật mỗi 2 s</a:t>
            </a:r>
          </a:p>
        </p:txBody>
      </p:sp>
      <p:sp>
        <p:nvSpPr>
          <p:cNvPr id="11" name="">
            <a:extLst xmlns:a="http://schemas.openxmlformats.org/drawingml/2006/main">
              <a:ext uri="{FF2B5EF4-FFF2-40B4-BE49-F238E27FC236}">
                <a16:creationId xmlns:a16="http://schemas.microsoft.com/office/drawing/2014/main" id="{0CCA8EF1-84D2-42BE-AAD0-973475C21D2E}"/>
              </a:ext>
            </a:extLst>
          </p:cNvPr>
          <p:cNvSpPr>
            <a:spLocks xmlns:a="http://schemas.openxmlformats.org/drawingml/2006/main" noGrp="1"/>
          </p:cNvSpPr>
          <p:nvPr/>
        </p:nvSpPr>
        <p:spPr>
          <a:xfrm xmlns:a="http://schemas.openxmlformats.org/drawingml/2006/main">
            <a:off x="904875" y="5486400"/>
            <a:ext cx="10191750" cy="552450"/>
          </a:xfrm>
          <a:prstGeom xmlns:a="http://schemas.openxmlformats.org/drawingml/2006/main" prst="rect">
            <a:avLst/>
          </a:prstGeom>
          <a:solidFill xmlns:a="http://schemas.openxmlformats.org/drawingml/2006/main">
            <a:srgbClr val="FFF1F1"/>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D32F2F"/>
                </a:solidFill>
                <a:latin typeface="Arial"/>
                <a:ea typeface="Arial"/>
                <a:cs typeface="Arial"/>
              </a:defRPr>
            </a:pPr>
            <a:r>
              <a:rPr sz="1350" b="1">
                <a:solidFill>
                  <a:srgbClr val="D32F2F"/>
                </a:solidFill>
                <a:latin typeface="Arial"/>
                <a:ea typeface="Arial"/>
                <a:cs typeface="Arial"/>
              </a:rPr>
              <a:t>*E2E là ước lượng cộng dồn từ tiền xử lý offline amortized — không phải latency streaming nhân quả.</a:t>
            </a:r>
          </a:p>
        </p:txBody>
      </p:sp>
      <p:sp>
        <p:nvSpPr>
          <p:cNvPr id="12" name="">
            <a:extLst xmlns:a="http://schemas.openxmlformats.org/drawingml/2006/main">
              <a:ext uri="{FF2B5EF4-FFF2-40B4-BE49-F238E27FC236}">
                <a16:creationId xmlns:a16="http://schemas.microsoft.com/office/drawing/2014/main" id="{DA3489DF-0880-4130-8532-0F168392F2BB}"/>
              </a:ext>
            </a:extLst>
          </p:cNvPr>
          <p:cNvSpPr>
            <a:spLocks xmlns:a="http://schemas.openxmlformats.org/drawingml/2006/main" noGrp="1"/>
          </p:cNvSpPr>
          <p:nvPr/>
        </p:nvSpPr>
        <p:spPr>
          <a:xfrm xmlns:a="http://schemas.openxmlformats.org/drawingml/2006/main">
            <a:off x="685800" y="6467475"/>
            <a:ext cx="10820400" cy="9525"/>
          </a:xfrm>
          <a:prstGeom xmlns:a="http://schemas.openxmlformats.org/drawingml/2006/main" prst="line">
            <a:avLst/>
          </a:prstGeom>
          <a:noFill xmlns:a="http://schemas.openxmlformats.org/drawingml/2006/main"/>
          <a:ln xmlns:a="http://schemas.openxmlformats.org/drawingml/2006/main" w="9525">
            <a:solidFill>
              <a:srgbClr val="C9D3DB"/>
            </a:solidFill>
          </a:ln>
        </p:spPr>
      </p:sp>
      <p:sp>
        <p:nvSpPr>
          <p:cNvPr id="13" name="">
            <a:extLst xmlns:a="http://schemas.openxmlformats.org/drawingml/2006/main">
              <a:ext uri="{FF2B5EF4-FFF2-40B4-BE49-F238E27FC236}">
                <a16:creationId xmlns:a16="http://schemas.microsoft.com/office/drawing/2014/main" id="{A31420B3-4F94-49FD-96E4-725C8512DC0C}"/>
              </a:ext>
            </a:extLst>
          </p:cNvPr>
          <p:cNvSpPr>
            <a:spLocks xmlns:a="http://schemas.openxmlformats.org/drawingml/2006/main" noGrp="1"/>
          </p:cNvSpPr>
          <p:nvPr/>
        </p:nvSpPr>
        <p:spPr>
          <a:xfrm xmlns:a="http://schemas.openxmlformats.org/drawingml/2006/main">
            <a:off x="685800" y="6505575"/>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l">
              <a:defRPr sz="825" b="0">
                <a:solidFill>
                  <a:srgbClr val="5F6B73"/>
                </a:solidFill>
                <a:latin typeface="Arial"/>
                <a:ea typeface="Arial"/>
                <a:cs typeface="Arial"/>
              </a:defRPr>
            </a:pPr>
            <a:r>
              <a:rPr sz="825" b="0">
                <a:solidFill>
                  <a:srgbClr val="5F6B73"/>
                </a:solidFill>
                <a:latin typeface="Arial"/>
                <a:ea typeface="Arial"/>
                <a:cs typeface="Arial"/>
              </a:rPr>
              <a:t>Đ18 • Trần Tiến Thịnh • 22110236</a:t>
            </a:r>
          </a:p>
        </p:txBody>
      </p:sp>
      <p:sp>
        <p:nvSpPr>
          <p:cNvPr id="14" name="">
            <a:extLst xmlns:a="http://schemas.openxmlformats.org/drawingml/2006/main">
              <a:ext uri="{FF2B5EF4-FFF2-40B4-BE49-F238E27FC236}">
                <a16:creationId xmlns:a16="http://schemas.microsoft.com/office/drawing/2014/main" id="{ED456E93-5C30-45E3-9267-A700CF05774A}"/>
              </a:ext>
            </a:extLst>
          </p:cNvPr>
          <p:cNvSpPr>
            <a:spLocks xmlns:a="http://schemas.openxmlformats.org/drawingml/2006/main" noGrp="1"/>
          </p:cNvSpPr>
          <p:nvPr/>
        </p:nvSpPr>
        <p:spPr>
          <a:xfrm xmlns:a="http://schemas.openxmlformats.org/drawingml/2006/main">
            <a:off x="10763250" y="6505575"/>
            <a:ext cx="742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r">
              <a:defRPr sz="825" b="0">
                <a:solidFill>
                  <a:srgbClr val="5F6B73"/>
                </a:solidFill>
                <a:latin typeface="Arial"/>
                <a:ea typeface="Arial"/>
                <a:cs typeface="Arial"/>
              </a:defRPr>
            </a:pPr>
            <a:r>
              <a:rPr sz="825" b="0">
                <a:solidFill>
                  <a:srgbClr val="5F6B73"/>
                </a:solidFill>
                <a:latin typeface="Arial"/>
                <a:ea typeface="Arial"/>
                <a:cs typeface="Arial"/>
              </a:rPr>
              <a:t>10</a:t>
            </a:r>
          </a:p>
        </p:txBody>
      </p:sp>
    </p:spTree>
    <p:extLst>
      <p:ext uri="{BB962C8B-B14F-4D97-AF65-F5344CB8AC3E}">
        <p14:creationId xmlns:p14="http://schemas.microsoft.com/office/powerpoint/2010/main" val="1289451598"/>
      </p:ext>
    </p:extLst>
  </p:cSld>
</p:sld>
</file>

<file path=ppt/slides/slide11.xml><?xml version="1.0" encoding="utf-8"?>
<p:sld xmlns:p="http://schemas.openxmlformats.org/presentationml/2006/main">
  <p:cSld>
    <p:bg>
      <p:bgPr>
        <a:solidFill xmlns:a="http://schemas.openxmlformats.org/drawingml/2006/main">
          <a:srgbClr val="103A5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3A616E6-2E44-4A22-A1C9-A265DEC262AE}"/>
              </a:ext>
            </a:extLst>
          </p:cNvPr>
          <p:cNvSpPr>
            <a:spLocks xmlns:a="http://schemas.openxmlformats.org/drawingml/2006/main" noGrp="1"/>
          </p:cNvSpPr>
          <p:nvPr/>
        </p:nvSpPr>
        <p:spPr>
          <a:xfrm xmlns:a="http://schemas.openxmlformats.org/drawingml/2006/main">
            <a:off x="723900" y="514350"/>
            <a:ext cx="4572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700" b="1">
                <a:solidFill>
                  <a:srgbClr val="FFFFFF"/>
                </a:solidFill>
                <a:latin typeface="Arial"/>
                <a:ea typeface="Arial"/>
                <a:cs typeface="Arial"/>
              </a:defRPr>
            </a:pPr>
            <a:r>
              <a:rPr sz="2700" b="1">
                <a:solidFill>
                  <a:srgbClr val="FFFFFF"/>
                </a:solidFill>
                <a:latin typeface="Arial"/>
                <a:ea typeface="Arial"/>
                <a:cs typeface="Arial"/>
              </a:rPr>
              <a:t>KẾT LUẬN</a:t>
            </a:r>
          </a:p>
        </p:txBody>
      </p:sp>
      <p:sp>
        <p:nvSpPr>
          <p:cNvPr id="2" name="">
            <a:extLst xmlns:a="http://schemas.openxmlformats.org/drawingml/2006/main">
              <a:ext uri="{FF2B5EF4-FFF2-40B4-BE49-F238E27FC236}">
                <a16:creationId xmlns:a16="http://schemas.microsoft.com/office/drawing/2014/main" id="{3AD30DB7-0163-4AD8-B708-BC786E445516}"/>
              </a:ext>
            </a:extLst>
          </p:cNvPr>
          <p:cNvSpPr>
            <a:spLocks xmlns:a="http://schemas.openxmlformats.org/drawingml/2006/main" noGrp="1"/>
          </p:cNvSpPr>
          <p:nvPr/>
        </p:nvSpPr>
        <p:spPr>
          <a:xfrm xmlns:a="http://schemas.openxmlformats.org/drawingml/2006/main">
            <a:off x="723900" y="1171575"/>
            <a:ext cx="876300" cy="47625"/>
          </a:xfrm>
          <a:prstGeom xmlns:a="http://schemas.openxmlformats.org/drawingml/2006/main" prst="rect">
            <a:avLst/>
          </a:prstGeom>
          <a:solidFill xmlns:a="http://schemas.openxmlformats.org/drawingml/2006/main">
            <a:srgbClr val="D32F2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ED09575-67C0-463F-AC65-B81E5A60BF05}"/>
              </a:ext>
            </a:extLst>
          </p:cNvPr>
          <p:cNvSpPr>
            <a:spLocks xmlns:a="http://schemas.openxmlformats.org/drawingml/2006/main" noGrp="1"/>
          </p:cNvSpPr>
          <p:nvPr/>
        </p:nvSpPr>
        <p:spPr>
          <a:xfrm xmlns:a="http://schemas.openxmlformats.org/drawingml/2006/main">
            <a:off x="819150" y="1571625"/>
            <a:ext cx="685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725" b="1">
                <a:solidFill>
                  <a:srgbClr val="FFCE56"/>
                </a:solidFill>
                <a:latin typeface="Arial"/>
                <a:ea typeface="Arial"/>
                <a:cs typeface="Arial"/>
              </a:defRPr>
            </a:pPr>
            <a:r>
              <a:rPr sz="1725" b="1">
                <a:solidFill>
                  <a:srgbClr val="FFCE56"/>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7CFBCAC7-37D6-4D31-81DD-8492747DF21C}"/>
              </a:ext>
            </a:extLst>
          </p:cNvPr>
          <p:cNvSpPr>
            <a:spLocks xmlns:a="http://schemas.openxmlformats.org/drawingml/2006/main" noGrp="1"/>
          </p:cNvSpPr>
          <p:nvPr/>
        </p:nvSpPr>
        <p:spPr>
          <a:xfrm xmlns:a="http://schemas.openxmlformats.org/drawingml/2006/main">
            <a:off x="1714500" y="1571625"/>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424"/>
          </a:bodyPr>
          <a:lstStyle xmlns:a="http://schemas.openxmlformats.org/drawingml/2006/main"/>
          <a:p xmlns:a="http://schemas.openxmlformats.org/drawingml/2006/main">
            <a:pPr algn="l">
              <a:defRPr sz="1650" b="1">
                <a:solidFill>
                  <a:srgbClr val="FFFFFF"/>
                </a:solidFill>
                <a:latin typeface="Arial"/>
                <a:ea typeface="Arial"/>
                <a:cs typeface="Arial"/>
              </a:defRPr>
            </a:pPr>
            <a:r>
              <a:rPr sz="1650" b="1">
                <a:solidFill>
                  <a:srgbClr val="FFFFFF"/>
                </a:solidFill>
                <a:latin typeface="Arial"/>
                <a:ea typeface="Arial"/>
                <a:cs typeface="Arial"/>
              </a:rPr>
              <a:t>Đạt mục tiêu tương đối</a:t>
            </a:r>
          </a:p>
        </p:txBody>
      </p:sp>
      <p:sp>
        <p:nvSpPr>
          <p:cNvPr id="5" name="">
            <a:extLst xmlns:a="http://schemas.openxmlformats.org/drawingml/2006/main">
              <a:ext uri="{FF2B5EF4-FFF2-40B4-BE49-F238E27FC236}">
                <a16:creationId xmlns:a16="http://schemas.microsoft.com/office/drawing/2014/main" id="{5287423B-B753-4732-9944-53BE86DA3A86}"/>
              </a:ext>
            </a:extLst>
          </p:cNvPr>
          <p:cNvSpPr>
            <a:spLocks xmlns:a="http://schemas.openxmlformats.org/drawingml/2006/main" noGrp="1"/>
          </p:cNvSpPr>
          <p:nvPr/>
        </p:nvSpPr>
        <p:spPr>
          <a:xfrm xmlns:a="http://schemas.openxmlformats.org/drawingml/2006/main">
            <a:off x="1714500" y="1905000"/>
            <a:ext cx="762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D9EAF4"/>
                </a:solidFill>
                <a:latin typeface="Arial"/>
                <a:ea typeface="Arial"/>
                <a:cs typeface="Arial"/>
              </a:defRPr>
            </a:pPr>
            <a:r>
              <a:rPr sz="1275" b="0">
                <a:solidFill>
                  <a:srgbClr val="D9EAF4"/>
                </a:solidFill>
                <a:latin typeface="Arial"/>
                <a:ea typeface="Arial"/>
                <a:cs typeface="Arial"/>
              </a:rPr>
              <a:t>A0 giảm 35,0% MAE_macro so với FFT.</a:t>
            </a:r>
          </a:p>
        </p:txBody>
      </p:sp>
      <p:sp>
        <p:nvSpPr>
          <p:cNvPr id="6" name="">
            <a:extLst xmlns:a="http://schemas.openxmlformats.org/drawingml/2006/main">
              <a:ext uri="{FF2B5EF4-FFF2-40B4-BE49-F238E27FC236}">
                <a16:creationId xmlns:a16="http://schemas.microsoft.com/office/drawing/2014/main" id="{B2B8DC7C-76EB-4C9C-98F6-F5DC136409F2}"/>
              </a:ext>
            </a:extLst>
          </p:cNvPr>
          <p:cNvSpPr>
            <a:spLocks xmlns:a="http://schemas.openxmlformats.org/drawingml/2006/main" noGrp="1"/>
          </p:cNvSpPr>
          <p:nvPr/>
        </p:nvSpPr>
        <p:spPr>
          <a:xfrm xmlns:a="http://schemas.openxmlformats.org/drawingml/2006/main">
            <a:off x="819150" y="2505075"/>
            <a:ext cx="685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725" b="1">
                <a:solidFill>
                  <a:srgbClr val="FFCE56"/>
                </a:solidFill>
                <a:latin typeface="Arial"/>
                <a:ea typeface="Arial"/>
                <a:cs typeface="Arial"/>
              </a:defRPr>
            </a:pPr>
            <a:r>
              <a:rPr sz="1725" b="1">
                <a:solidFill>
                  <a:srgbClr val="FFCE56"/>
                </a:solidFill>
                <a:latin typeface="Arial"/>
                <a:ea typeface="Arial"/>
                <a:cs typeface="Arial"/>
              </a:rPr>
              <a:t>02</a:t>
            </a:r>
          </a:p>
        </p:txBody>
      </p:sp>
      <p:sp>
        <p:nvSpPr>
          <p:cNvPr id="7" name="">
            <a:extLst xmlns:a="http://schemas.openxmlformats.org/drawingml/2006/main">
              <a:ext uri="{FF2B5EF4-FFF2-40B4-BE49-F238E27FC236}">
                <a16:creationId xmlns:a16="http://schemas.microsoft.com/office/drawing/2014/main" id="{CD622439-1FC4-4D3B-974C-470C5CC0F1A0}"/>
              </a:ext>
            </a:extLst>
          </p:cNvPr>
          <p:cNvSpPr>
            <a:spLocks xmlns:a="http://schemas.openxmlformats.org/drawingml/2006/main" noGrp="1"/>
          </p:cNvSpPr>
          <p:nvPr/>
        </p:nvSpPr>
        <p:spPr>
          <a:xfrm xmlns:a="http://schemas.openxmlformats.org/drawingml/2006/main">
            <a:off x="1714500" y="2505075"/>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424"/>
          </a:bodyPr>
          <a:lstStyle xmlns:a="http://schemas.openxmlformats.org/drawingml/2006/main"/>
          <a:p xmlns:a="http://schemas.openxmlformats.org/drawingml/2006/main">
            <a:pPr algn="l">
              <a:defRPr sz="1650" b="1">
                <a:solidFill>
                  <a:srgbClr val="FFFFFF"/>
                </a:solidFill>
                <a:latin typeface="Arial"/>
                <a:ea typeface="Arial"/>
                <a:cs typeface="Arial"/>
              </a:defRPr>
            </a:pPr>
            <a:r>
              <a:rPr sz="1650" b="1">
                <a:solidFill>
                  <a:srgbClr val="FFFFFF"/>
                </a:solidFill>
                <a:latin typeface="Arial"/>
                <a:ea typeface="Arial"/>
                <a:cs typeface="Arial"/>
              </a:rPr>
              <a:t>Chưa đạt 7 BPM</a:t>
            </a:r>
          </a:p>
        </p:txBody>
      </p:sp>
      <p:sp>
        <p:nvSpPr>
          <p:cNvPr id="8" name="">
            <a:extLst xmlns:a="http://schemas.openxmlformats.org/drawingml/2006/main">
              <a:ext uri="{FF2B5EF4-FFF2-40B4-BE49-F238E27FC236}">
                <a16:creationId xmlns:a16="http://schemas.microsoft.com/office/drawing/2014/main" id="{7DB5FFA1-2201-4342-9200-38DFE02A0A1A}"/>
              </a:ext>
            </a:extLst>
          </p:cNvPr>
          <p:cNvSpPr>
            <a:spLocks xmlns:a="http://schemas.openxmlformats.org/drawingml/2006/main" noGrp="1"/>
          </p:cNvSpPr>
          <p:nvPr/>
        </p:nvSpPr>
        <p:spPr>
          <a:xfrm xmlns:a="http://schemas.openxmlformats.org/drawingml/2006/main">
            <a:off x="1714500" y="2838450"/>
            <a:ext cx="762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D9EAF4"/>
                </a:solidFill>
                <a:latin typeface="Arial"/>
                <a:ea typeface="Arial"/>
                <a:cs typeface="Arial"/>
              </a:defRPr>
            </a:pPr>
            <a:r>
              <a:rPr sz="1275" b="0">
                <a:solidFill>
                  <a:srgbClr val="D9EAF4"/>
                </a:solidFill>
                <a:latin typeface="Arial"/>
                <a:ea typeface="Arial"/>
                <a:cs typeface="Arial"/>
              </a:rPr>
              <a:t>A0 8,867 ± 0,253; A3 8,280 ± 0,328 BPM.</a:t>
            </a:r>
          </a:p>
        </p:txBody>
      </p:sp>
      <p:sp>
        <p:nvSpPr>
          <p:cNvPr id="9" name="">
            <a:extLst xmlns:a="http://schemas.openxmlformats.org/drawingml/2006/main">
              <a:ext uri="{FF2B5EF4-FFF2-40B4-BE49-F238E27FC236}">
                <a16:creationId xmlns:a16="http://schemas.microsoft.com/office/drawing/2014/main" id="{6EDDD811-29E5-471B-8FCD-A507374C77C1}"/>
              </a:ext>
            </a:extLst>
          </p:cNvPr>
          <p:cNvSpPr>
            <a:spLocks xmlns:a="http://schemas.openxmlformats.org/drawingml/2006/main" noGrp="1"/>
          </p:cNvSpPr>
          <p:nvPr/>
        </p:nvSpPr>
        <p:spPr>
          <a:xfrm xmlns:a="http://schemas.openxmlformats.org/drawingml/2006/main">
            <a:off x="819150" y="3438525"/>
            <a:ext cx="685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725" b="1">
                <a:solidFill>
                  <a:srgbClr val="FFCE56"/>
                </a:solidFill>
                <a:latin typeface="Arial"/>
                <a:ea typeface="Arial"/>
                <a:cs typeface="Arial"/>
              </a:defRPr>
            </a:pPr>
            <a:r>
              <a:rPr sz="1725" b="1">
                <a:solidFill>
                  <a:srgbClr val="FFCE56"/>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246A4F54-9220-447A-A746-4FA315A56ADD}"/>
              </a:ext>
            </a:extLst>
          </p:cNvPr>
          <p:cNvSpPr>
            <a:spLocks xmlns:a="http://schemas.openxmlformats.org/drawingml/2006/main" noGrp="1"/>
          </p:cNvSpPr>
          <p:nvPr/>
        </p:nvSpPr>
        <p:spPr>
          <a:xfrm xmlns:a="http://schemas.openxmlformats.org/drawingml/2006/main">
            <a:off x="1714500" y="3438525"/>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424"/>
          </a:bodyPr>
          <a:lstStyle xmlns:a="http://schemas.openxmlformats.org/drawingml/2006/main"/>
          <a:p xmlns:a="http://schemas.openxmlformats.org/drawingml/2006/main">
            <a:pPr algn="l">
              <a:defRPr sz="1650" b="1">
                <a:solidFill>
                  <a:srgbClr val="FFFFFF"/>
                </a:solidFill>
                <a:latin typeface="Arial"/>
                <a:ea typeface="Arial"/>
                <a:cs typeface="Arial"/>
              </a:defRPr>
            </a:pPr>
            <a:r>
              <a:rPr sz="1650" b="1">
                <a:solidFill>
                  <a:srgbClr val="FFFFFF"/>
                </a:solidFill>
                <a:latin typeface="Arial"/>
                <a:ea typeface="Arial"/>
                <a:cs typeface="Arial"/>
              </a:rPr>
              <a:t>Điểm nghẽn rõ ràng</a:t>
            </a:r>
          </a:p>
        </p:txBody>
      </p:sp>
      <p:sp>
        <p:nvSpPr>
          <p:cNvPr id="11" name="">
            <a:extLst xmlns:a="http://schemas.openxmlformats.org/drawingml/2006/main">
              <a:ext uri="{FF2B5EF4-FFF2-40B4-BE49-F238E27FC236}">
                <a16:creationId xmlns:a16="http://schemas.microsoft.com/office/drawing/2014/main" id="{8FB6C606-EE3A-4E18-A988-4260BA875CC0}"/>
              </a:ext>
            </a:extLst>
          </p:cNvPr>
          <p:cNvSpPr>
            <a:spLocks xmlns:a="http://schemas.openxmlformats.org/drawingml/2006/main" noGrp="1"/>
          </p:cNvSpPr>
          <p:nvPr/>
        </p:nvSpPr>
        <p:spPr>
          <a:xfrm xmlns:a="http://schemas.openxmlformats.org/drawingml/2006/main">
            <a:off x="1714500" y="3771900"/>
            <a:ext cx="762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D9EAF4"/>
                </a:solidFill>
                <a:latin typeface="Arial"/>
                <a:ea typeface="Arial"/>
                <a:cs typeface="Arial"/>
              </a:defRPr>
            </a:pPr>
            <a:r>
              <a:rPr sz="1275" b="0">
                <a:solidFill>
                  <a:srgbClr val="D9EAF4"/>
                </a:solidFill>
                <a:latin typeface="Arial"/>
                <a:ea typeface="Arial"/>
                <a:cs typeface="Arial"/>
              </a:rPr>
              <a:t>Stress, S16 và xu hướng đánh giá thấp HR cao.</a:t>
            </a:r>
          </a:p>
        </p:txBody>
      </p:sp>
      <p:sp>
        <p:nvSpPr>
          <p:cNvPr id="12" name="">
            <a:extLst xmlns:a="http://schemas.openxmlformats.org/drawingml/2006/main">
              <a:ext uri="{FF2B5EF4-FFF2-40B4-BE49-F238E27FC236}">
                <a16:creationId xmlns:a16="http://schemas.microsoft.com/office/drawing/2014/main" id="{2076948A-FC4C-4605-9EA7-65CBF9A65C96}"/>
              </a:ext>
            </a:extLst>
          </p:cNvPr>
          <p:cNvSpPr>
            <a:spLocks xmlns:a="http://schemas.openxmlformats.org/drawingml/2006/main" noGrp="1"/>
          </p:cNvSpPr>
          <p:nvPr/>
        </p:nvSpPr>
        <p:spPr>
          <a:xfrm xmlns:a="http://schemas.openxmlformats.org/drawingml/2006/main">
            <a:off x="819150" y="4371975"/>
            <a:ext cx="685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725" b="1">
                <a:solidFill>
                  <a:srgbClr val="FFCE56"/>
                </a:solidFill>
                <a:latin typeface="Arial"/>
                <a:ea typeface="Arial"/>
                <a:cs typeface="Arial"/>
              </a:defRPr>
            </a:pPr>
            <a:r>
              <a:rPr sz="1725" b="1">
                <a:solidFill>
                  <a:srgbClr val="FFCE56"/>
                </a:solidFill>
                <a:latin typeface="Arial"/>
                <a:ea typeface="Arial"/>
                <a:cs typeface="Arial"/>
              </a:rPr>
              <a:t>04</a:t>
            </a:r>
          </a:p>
        </p:txBody>
      </p:sp>
      <p:sp>
        <p:nvSpPr>
          <p:cNvPr id="13" name="">
            <a:extLst xmlns:a="http://schemas.openxmlformats.org/drawingml/2006/main">
              <a:ext uri="{FF2B5EF4-FFF2-40B4-BE49-F238E27FC236}">
                <a16:creationId xmlns:a16="http://schemas.microsoft.com/office/drawing/2014/main" id="{AD1F3EA8-3DAC-4047-B8E7-CA9553F9B402}"/>
              </a:ext>
            </a:extLst>
          </p:cNvPr>
          <p:cNvSpPr>
            <a:spLocks xmlns:a="http://schemas.openxmlformats.org/drawingml/2006/main" noGrp="1"/>
          </p:cNvSpPr>
          <p:nvPr/>
        </p:nvSpPr>
        <p:spPr>
          <a:xfrm xmlns:a="http://schemas.openxmlformats.org/drawingml/2006/main">
            <a:off x="1714500" y="4371975"/>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424"/>
          </a:bodyPr>
          <a:lstStyle xmlns:a="http://schemas.openxmlformats.org/drawingml/2006/main"/>
          <a:p xmlns:a="http://schemas.openxmlformats.org/drawingml/2006/main">
            <a:pPr algn="l">
              <a:defRPr sz="1650" b="1">
                <a:solidFill>
                  <a:srgbClr val="FFFFFF"/>
                </a:solidFill>
                <a:latin typeface="Arial"/>
                <a:ea typeface="Arial"/>
                <a:cs typeface="Arial"/>
              </a:defRPr>
            </a:pPr>
            <a:r>
              <a:rPr sz="1650" b="1">
                <a:solidFill>
                  <a:srgbClr val="FFFFFF"/>
                </a:solidFill>
                <a:latin typeface="Arial"/>
                <a:ea typeface="Arial"/>
                <a:cs typeface="Arial"/>
              </a:rPr>
              <a:t>Bằng chứng tái lập</a:t>
            </a:r>
          </a:p>
        </p:txBody>
      </p:sp>
      <p:sp>
        <p:nvSpPr>
          <p:cNvPr id="14" name="">
            <a:extLst xmlns:a="http://schemas.openxmlformats.org/drawingml/2006/main">
              <a:ext uri="{FF2B5EF4-FFF2-40B4-BE49-F238E27FC236}">
                <a16:creationId xmlns:a16="http://schemas.microsoft.com/office/drawing/2014/main" id="{F71C0219-EA1F-46AD-BC95-D5176C47163F}"/>
              </a:ext>
            </a:extLst>
          </p:cNvPr>
          <p:cNvSpPr>
            <a:spLocks xmlns:a="http://schemas.openxmlformats.org/drawingml/2006/main" noGrp="1"/>
          </p:cNvSpPr>
          <p:nvPr/>
        </p:nvSpPr>
        <p:spPr>
          <a:xfrm xmlns:a="http://schemas.openxmlformats.org/drawingml/2006/main">
            <a:off x="1714500" y="4705350"/>
            <a:ext cx="762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D9EAF4"/>
                </a:solidFill>
                <a:latin typeface="Arial"/>
                <a:ea typeface="Arial"/>
                <a:cs typeface="Arial"/>
              </a:defRPr>
            </a:pPr>
            <a:r>
              <a:rPr sz="1275" b="0">
                <a:solidFill>
                  <a:srgbClr val="D9EAF4"/>
                </a:solidFill>
                <a:latin typeface="Arial"/>
                <a:ea typeface="Arial"/>
                <a:cs typeface="Arial"/>
              </a:rPr>
              <a:t>Hash, checkpoint, log, prediction, notebook và QC đầy đủ.</a:t>
            </a:r>
          </a:p>
        </p:txBody>
      </p:sp>
      <p:sp>
        <p:nvSpPr>
          <p:cNvPr id="15" name="">
            <a:extLst xmlns:a="http://schemas.openxmlformats.org/drawingml/2006/main">
              <a:ext uri="{FF2B5EF4-FFF2-40B4-BE49-F238E27FC236}">
                <a16:creationId xmlns:a16="http://schemas.microsoft.com/office/drawing/2014/main" id="{9CF04199-FEC5-43B9-ABFA-640EDCBC2D40}"/>
              </a:ext>
            </a:extLst>
          </p:cNvPr>
          <p:cNvSpPr>
            <a:spLocks xmlns:a="http://schemas.openxmlformats.org/drawingml/2006/main" noGrp="1"/>
          </p:cNvSpPr>
          <p:nvPr/>
        </p:nvSpPr>
        <p:spPr>
          <a:xfrm xmlns:a="http://schemas.openxmlformats.org/drawingml/2006/main">
            <a:off x="7429500" y="1657350"/>
            <a:ext cx="3762375" cy="3143250"/>
          </a:xfrm>
          <a:prstGeom xmlns:a="http://schemas.openxmlformats.org/drawingml/2006/main" prst="roundRect">
            <a:avLst>
              <a:gd name="adj" fmla="val 4848"/>
            </a:avLst>
          </a:prstGeom>
          <a:solidFill xmlns:a="http://schemas.openxmlformats.org/drawingml/2006/main">
            <a:srgbClr val="164C74"/>
          </a:solidFill>
          <a:ln xmlns:a="http://schemas.openxmlformats.org/drawingml/2006/main" w="9525">
            <a:solidFill>
              <a:srgbClr val="6F99B4"/>
            </a:solidFill>
          </a:ln>
        </p:spPr>
      </p:sp>
      <p:sp>
        <p:nvSpPr>
          <p:cNvPr id="16" name="">
            <a:extLst xmlns:a="http://schemas.openxmlformats.org/drawingml/2006/main">
              <a:ext uri="{FF2B5EF4-FFF2-40B4-BE49-F238E27FC236}">
                <a16:creationId xmlns:a16="http://schemas.microsoft.com/office/drawing/2014/main" id="{DE498ADE-6D5F-4E28-827B-B4EAB79AAC6F}"/>
              </a:ext>
            </a:extLst>
          </p:cNvPr>
          <p:cNvSpPr>
            <a:spLocks xmlns:a="http://schemas.openxmlformats.org/drawingml/2006/main" noGrp="1"/>
          </p:cNvSpPr>
          <p:nvPr/>
        </p:nvSpPr>
        <p:spPr>
          <a:xfrm xmlns:a="http://schemas.openxmlformats.org/drawingml/2006/main">
            <a:off x="7810500" y="1952625"/>
            <a:ext cx="3000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950" b="1">
                <a:solidFill>
                  <a:srgbClr val="FFCE56"/>
                </a:solidFill>
                <a:latin typeface="Arial"/>
                <a:ea typeface="Arial"/>
                <a:cs typeface="Arial"/>
              </a:defRPr>
            </a:pPr>
            <a:r>
              <a:rPr sz="1950" b="1">
                <a:solidFill>
                  <a:srgbClr val="FFCE56"/>
                </a:solidFill>
                <a:latin typeface="Arial"/>
                <a:ea typeface="Arial"/>
                <a:cs typeface="Arial"/>
              </a:rPr>
              <a:t>Bước tiếp theo</a:t>
            </a:r>
          </a:p>
        </p:txBody>
      </p:sp>
      <p:sp>
        <p:nvSpPr>
          <p:cNvPr id="17" name="">
            <a:extLst xmlns:a="http://schemas.openxmlformats.org/drawingml/2006/main">
              <a:ext uri="{FF2B5EF4-FFF2-40B4-BE49-F238E27FC236}">
                <a16:creationId xmlns:a16="http://schemas.microsoft.com/office/drawing/2014/main" id="{01D96BDB-6FD2-4E9A-A842-E27745DDF30C}"/>
              </a:ext>
            </a:extLst>
          </p:cNvPr>
          <p:cNvSpPr>
            <a:spLocks xmlns:a="http://schemas.openxmlformats.org/drawingml/2006/main" noGrp="1"/>
          </p:cNvSpPr>
          <p:nvPr/>
        </p:nvSpPr>
        <p:spPr>
          <a:xfrm xmlns:a="http://schemas.openxmlformats.org/drawingml/2006/main">
            <a:off x="7810500" y="2476500"/>
            <a:ext cx="3000375"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0">
                <a:solidFill>
                  <a:srgbClr val="FFFFFF"/>
                </a:solidFill>
                <a:latin typeface="Arial"/>
                <a:ea typeface="Arial"/>
                <a:cs typeface="Arial"/>
              </a:defRPr>
            </a:pPr>
            <a:r>
              <a:rPr sz="1500" b="0">
                <a:solidFill>
                  <a:srgbClr val="FFFFFF"/>
                </a:solidFill>
                <a:latin typeface="Arial"/>
                <a:ea typeface="Arial"/>
                <a:cs typeface="Arial"/>
              </a:rPr>
              <a:t>• Xác minh nhãn ECG theo mẫu</a:t>
            </a:r>
          </a:p>
          <a:p xmlns:a="http://schemas.openxmlformats.org/drawingml/2006/main">
            <a:pPr algn="l">
              <a:defRPr sz="1500" b="0">
                <a:solidFill>
                  <a:srgbClr val="FFFFFF"/>
                </a:solidFill>
                <a:latin typeface="Arial"/>
                <a:ea typeface="Arial"/>
                <a:cs typeface="Arial"/>
              </a:defRPr>
            </a:pPr>
            <a:r>
              <a:rPr sz="1500" b="0">
                <a:solidFill>
                  <a:srgbClr val="FFFFFF"/>
                </a:solidFill>
                <a:latin typeface="Arial"/>
                <a:ea typeface="Arial"/>
                <a:cs typeface="Arial"/>
              </a:rPr>
              <a:t>• Vùng tiếp nhận dài hơn</a:t>
            </a:r>
          </a:p>
          <a:p xmlns:a="http://schemas.openxmlformats.org/drawingml/2006/main">
            <a:pPr algn="l">
              <a:defRPr sz="1500" b="0">
                <a:solidFill>
                  <a:srgbClr val="FFFFFF"/>
                </a:solidFill>
                <a:latin typeface="Arial"/>
                <a:ea typeface="Arial"/>
                <a:cs typeface="Arial"/>
              </a:defRPr>
            </a:pPr>
            <a:r>
              <a:rPr sz="1500" b="0">
                <a:solidFill>
                  <a:srgbClr val="FFFFFF"/>
                </a:solidFill>
                <a:latin typeface="Arial"/>
                <a:ea typeface="Arial"/>
                <a:cs typeface="Arial"/>
              </a:rPr>
              <a:t>• LOSO + validation nội bộ</a:t>
            </a:r>
          </a:p>
          <a:p xmlns:a="http://schemas.openxmlformats.org/drawingml/2006/main">
            <a:pPr algn="l">
              <a:defRPr sz="1500" b="0">
                <a:solidFill>
                  <a:srgbClr val="FFFFFF"/>
                </a:solidFill>
                <a:latin typeface="Arial"/>
                <a:ea typeface="Arial"/>
                <a:cs typeface="Arial"/>
              </a:defRPr>
            </a:pPr>
            <a:r>
              <a:rPr sz="1500" b="0">
                <a:solidFill>
                  <a:srgbClr val="FFFFFF"/>
                </a:solidFill>
                <a:latin typeface="Arial"/>
                <a:ea typeface="Arial"/>
                <a:cs typeface="Arial"/>
              </a:rPr>
              <a:t>• Tiền xử lý streaming nhân quả</a:t>
            </a:r>
          </a:p>
          <a:p xmlns:a="http://schemas.openxmlformats.org/drawingml/2006/main">
            <a:pPr algn="l">
              <a:defRPr sz="1500" b="0">
                <a:solidFill>
                  <a:srgbClr val="FFFFFF"/>
                </a:solidFill>
                <a:latin typeface="Arial"/>
                <a:ea typeface="Arial"/>
                <a:cs typeface="Arial"/>
              </a:defRPr>
            </a:pPr>
            <a:r>
              <a:rPr sz="1500" b="0">
                <a:solidFill>
                  <a:srgbClr val="FFFFFF"/>
                </a:solidFill>
                <a:latin typeface="Arial"/>
                <a:ea typeface="Arial"/>
                <a:cs typeface="Arial"/>
              </a:rPr>
              <a:t>• Benchmark trên phần cứng đích</a:t>
            </a:r>
          </a:p>
        </p:txBody>
      </p:sp>
      <p:sp>
        <p:nvSpPr>
          <p:cNvPr id="18" name="">
            <a:extLst xmlns:a="http://schemas.openxmlformats.org/drawingml/2006/main">
              <a:ext uri="{FF2B5EF4-FFF2-40B4-BE49-F238E27FC236}">
                <a16:creationId xmlns:a16="http://schemas.microsoft.com/office/drawing/2014/main" id="{7C2810FE-E278-4C34-94FB-4ECB842F9F55}"/>
              </a:ext>
            </a:extLst>
          </p:cNvPr>
          <p:cNvSpPr>
            <a:spLocks xmlns:a="http://schemas.openxmlformats.org/drawingml/2006/main" noGrp="1"/>
          </p:cNvSpPr>
          <p:nvPr/>
        </p:nvSpPr>
        <p:spPr>
          <a:xfrm xmlns:a="http://schemas.openxmlformats.org/drawingml/2006/main">
            <a:off x="1047750" y="5715000"/>
            <a:ext cx="10096500" cy="438150"/>
          </a:xfrm>
          <a:prstGeom xmlns:a="http://schemas.openxmlformats.org/drawingml/2006/main" prst="rect">
            <a:avLst/>
          </a:prstGeom>
          <a:solidFill xmlns:a="http://schemas.openxmlformats.org/drawingml/2006/main">
            <a:srgbClr val="D32F2F"/>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75" b="1">
                <a:solidFill>
                  <a:srgbClr val="FFFFFF"/>
                </a:solidFill>
                <a:latin typeface="Arial"/>
                <a:ea typeface="Arial"/>
                <a:cs typeface="Arial"/>
              </a:defRPr>
            </a:pPr>
            <a:r>
              <a:rPr sz="1575" b="1">
                <a:solidFill>
                  <a:srgbClr val="FFFFFF"/>
                </a:solidFill>
                <a:latin typeface="Arial"/>
                <a:ea typeface="Arial"/>
                <a:cs typeface="Arial"/>
              </a:rPr>
              <a:t>GitHub: chờ URL repository thật trước khi nộp</a:t>
            </a:r>
          </a:p>
        </p:txBody>
      </p:sp>
      <p:sp>
        <p:nvSpPr>
          <p:cNvPr id="19" name="">
            <a:extLst xmlns:a="http://schemas.openxmlformats.org/drawingml/2006/main">
              <a:ext uri="{FF2B5EF4-FFF2-40B4-BE49-F238E27FC236}">
                <a16:creationId xmlns:a16="http://schemas.microsoft.com/office/drawing/2014/main" id="{CF9275D6-C065-44ED-855D-7498A9AB665E}"/>
              </a:ext>
            </a:extLst>
          </p:cNvPr>
          <p:cNvSpPr>
            <a:spLocks xmlns:a="http://schemas.openxmlformats.org/drawingml/2006/main" noGrp="1"/>
          </p:cNvSpPr>
          <p:nvPr/>
        </p:nvSpPr>
        <p:spPr>
          <a:xfrm xmlns:a="http://schemas.openxmlformats.org/drawingml/2006/main">
            <a:off x="4714875" y="62865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0">
                <a:solidFill>
                  <a:srgbClr val="B9D8EA"/>
                </a:solidFill>
                <a:latin typeface="Arial"/>
                <a:ea typeface="Arial"/>
                <a:cs typeface="Arial"/>
              </a:defRPr>
            </a:pPr>
            <a:r>
              <a:rPr sz="1050" b="0">
                <a:solidFill>
                  <a:srgbClr val="B9D8EA"/>
                </a:solidFill>
                <a:latin typeface="Arial"/>
                <a:ea typeface="Arial"/>
                <a:cs typeface="Arial"/>
              </a:rPr>
              <a:t>Không tự nộp LMS</a:t>
            </a:r>
          </a:p>
        </p:txBody>
      </p:sp>
    </p:spTree>
    <p:extLst>
      <p:ext uri="{BB962C8B-B14F-4D97-AF65-F5344CB8AC3E}">
        <p14:creationId xmlns:p14="http://schemas.microsoft.com/office/powerpoint/2010/main" val="74374577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2026-10-04T09:51:38.4460000Z</dcterms:created>
  <dcterms:modified xsi:type="dcterms:W3CDTF">2026-10-04T09:51:38.4460000Z</dcterms:modified>
</coreProperties>
</file>